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handoutMasterIdLst>
    <p:handoutMasterId r:id="rId49"/>
  </p:handoutMasterIdLst>
  <p:sldIdLst>
    <p:sldId id="256" r:id="rId3"/>
    <p:sldId id="257" r:id="rId4"/>
    <p:sldId id="263" r:id="rId5"/>
    <p:sldId id="258" r:id="rId6"/>
    <p:sldId id="264" r:id="rId7"/>
    <p:sldId id="270" r:id="rId8"/>
    <p:sldId id="271" r:id="rId9"/>
    <p:sldId id="272" r:id="rId10"/>
    <p:sldId id="273" r:id="rId11"/>
    <p:sldId id="274" r:id="rId12"/>
    <p:sldId id="275" r:id="rId13"/>
    <p:sldId id="278" r:id="rId14"/>
    <p:sldId id="280" r:id="rId15"/>
    <p:sldId id="276"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268" r:id="rId45"/>
    <p:sldId id="310" r:id="rId46"/>
    <p:sldId id="259" r:id="rId47"/>
    <p:sldId id="269" r:id="rId48"/>
  </p:sldIdLst>
  <p:sldSz cx="17475200" cy="9753600"/>
  <p:notesSz cx="6858000" cy="9144000"/>
  <p:embeddedFontLst>
    <p:embeddedFont>
      <p:font typeface="黑体" panose="02010609060101010101" charset="-122"/>
      <p:regular r:id="rId53"/>
    </p:embeddedFont>
    <p:embeddedFont>
      <p:font typeface="华康行楷体 W5" panose="03000509000000000000" charset="-122"/>
      <p:regular r:id="rId54"/>
    </p:embeddedFont>
    <p:embeddedFont>
      <p:font typeface="华文楷体" panose="02010600040101010101" charset="-122"/>
      <p:regular r:id="rId55"/>
    </p:embeddedFont>
    <p:embeddedFont>
      <p:font typeface="华文琥珀" panose="02010800040101010101" charset="-122"/>
      <p:regular r:id="rId56"/>
    </p:embeddedFont>
    <p:embeddedFont>
      <p:font typeface="Calibri" panose="020F0502020204030204" charset="0"/>
      <p:regular r:id="rId57"/>
      <p:bold r:id="rId58"/>
      <p:italic r:id="rId59"/>
      <p:boldItalic r:id="rId6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font" Target="fonts/font8.fntdata"/><Relationship Id="rId6" Type="http://schemas.openxmlformats.org/officeDocument/2006/relationships/slide" Target="slides/slide4.xml"/><Relationship Id="rId59" Type="http://schemas.openxmlformats.org/officeDocument/2006/relationships/font" Target="fonts/font7.fntdata"/><Relationship Id="rId58" Type="http://schemas.openxmlformats.org/officeDocument/2006/relationships/font" Target="fonts/font6.fntdata"/><Relationship Id="rId57" Type="http://schemas.openxmlformats.org/officeDocument/2006/relationships/font" Target="fonts/font5.fntdata"/><Relationship Id="rId56" Type="http://schemas.openxmlformats.org/officeDocument/2006/relationships/font" Target="fonts/font4.fntdata"/><Relationship Id="rId55" Type="http://schemas.openxmlformats.org/officeDocument/2006/relationships/font" Target="fonts/font3.fntdata"/><Relationship Id="rId54" Type="http://schemas.openxmlformats.org/officeDocument/2006/relationships/font" Target="fonts/font2.fntdata"/><Relationship Id="rId53" Type="http://schemas.openxmlformats.org/officeDocument/2006/relationships/font" Target="fonts/font1.fntdata"/><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handoutMaster" Target="handoutMasters/handoutMaster1.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0.png"/><Relationship Id="rId7" Type="http://schemas.openxmlformats.org/officeDocument/2006/relationships/image" Target="../media/image9.jpeg"/><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2.jpe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9.jpeg"/><Relationship Id="rId7" Type="http://schemas.openxmlformats.org/officeDocument/2006/relationships/image" Target="../media/image18.jpeg"/><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image" Target="../media/image13.jpe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jpeg"/><Relationship Id="rId2" Type="http://schemas.openxmlformats.org/officeDocument/2006/relationships/image" Target="../media/image3.pn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27.png"/><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15.png"/><Relationship Id="rId3" Type="http://schemas.openxmlformats.org/officeDocument/2006/relationships/image" Target="../media/image24.jpeg"/><Relationship Id="rId2" Type="http://schemas.openxmlformats.org/officeDocument/2006/relationships/image" Target="../media/image3.png"/><Relationship Id="rId1" Type="http://schemas.openxmlformats.org/officeDocument/2006/relationships/image" Target="../media/image13.jpe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jpeg"/><Relationship Id="rId3" Type="http://schemas.openxmlformats.org/officeDocument/2006/relationships/image" Target="../media/image28.jpeg"/><Relationship Id="rId2" Type="http://schemas.openxmlformats.org/officeDocument/2006/relationships/image" Target="../media/image3.png"/><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jpeg"/><Relationship Id="rId4" Type="http://schemas.openxmlformats.org/officeDocument/2006/relationships/image" Target="../media/image33.jpeg"/><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38.jpeg"/><Relationship Id="rId4" Type="http://schemas.openxmlformats.org/officeDocument/2006/relationships/image" Target="../media/image37.jpeg"/><Relationship Id="rId3" Type="http://schemas.openxmlformats.org/officeDocument/2006/relationships/image" Target="../media/image36.jpeg"/><Relationship Id="rId2" Type="http://schemas.openxmlformats.org/officeDocument/2006/relationships/image" Target="../media/image3.png"/><Relationship Id="rId1" Type="http://schemas.openxmlformats.org/officeDocument/2006/relationships/image" Target="../media/image13.jpe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jpeg"/><Relationship Id="rId4" Type="http://schemas.openxmlformats.org/officeDocument/2006/relationships/image" Target="../media/image40.jpeg"/><Relationship Id="rId3" Type="http://schemas.openxmlformats.org/officeDocument/2006/relationships/image" Target="../media/image39.jpeg"/><Relationship Id="rId2" Type="http://schemas.openxmlformats.org/officeDocument/2006/relationships/image" Target="../media/image3.png"/><Relationship Id="rId1"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jpeg"/><Relationship Id="rId4" Type="http://schemas.openxmlformats.org/officeDocument/2006/relationships/image" Target="../media/image44.jpeg"/><Relationship Id="rId3" Type="http://schemas.openxmlformats.org/officeDocument/2006/relationships/image" Target="../media/image43.jpeg"/><Relationship Id="rId2" Type="http://schemas.openxmlformats.org/officeDocument/2006/relationships/image" Target="../media/image3.png"/><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jpeg"/><Relationship Id="rId4" Type="http://schemas.openxmlformats.org/officeDocument/2006/relationships/image" Target="../media/image48.jpeg"/><Relationship Id="rId3" Type="http://schemas.openxmlformats.org/officeDocument/2006/relationships/image" Target="../media/image47.jpeg"/><Relationship Id="rId2" Type="http://schemas.openxmlformats.org/officeDocument/2006/relationships/image" Target="../media/image3.png"/><Relationship Id="rId1" Type="http://schemas.openxmlformats.org/officeDocument/2006/relationships/image" Target="../media/image13.jpe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54.jpeg"/><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15.png"/><Relationship Id="rId3" Type="http://schemas.openxmlformats.org/officeDocument/2006/relationships/image" Target="../media/image51.jpeg"/><Relationship Id="rId2" Type="http://schemas.openxmlformats.org/officeDocument/2006/relationships/image" Target="../media/image3.png"/><Relationship Id="rId1" Type="http://schemas.openxmlformats.org/officeDocument/2006/relationships/image" Target="../media/image13.jpe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jpeg"/><Relationship Id="rId3" Type="http://schemas.openxmlformats.org/officeDocument/2006/relationships/image" Target="../media/image55.jpeg"/><Relationship Id="rId2" Type="http://schemas.openxmlformats.org/officeDocument/2006/relationships/image" Target="../media/image3.png"/><Relationship Id="rId1" Type="http://schemas.openxmlformats.org/officeDocument/2006/relationships/image" Target="../media/image13.jpe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 Id="rId3" Type="http://schemas.openxmlformats.org/officeDocument/2006/relationships/image" Target="../media/image58.jpeg"/><Relationship Id="rId2" Type="http://schemas.openxmlformats.org/officeDocument/2006/relationships/image" Target="../media/image3.png"/><Relationship Id="rId1" Type="http://schemas.openxmlformats.org/officeDocument/2006/relationships/image" Target="../media/image13.jpe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jpeg"/><Relationship Id="rId4" Type="http://schemas.openxmlformats.org/officeDocument/2006/relationships/image" Target="../media/image63.jpeg"/><Relationship Id="rId3" Type="http://schemas.openxmlformats.org/officeDocument/2006/relationships/image" Target="../media/image62.jpeg"/><Relationship Id="rId2" Type="http://schemas.openxmlformats.org/officeDocument/2006/relationships/image" Target="../media/image3.png"/><Relationship Id="rId1" Type="http://schemas.openxmlformats.org/officeDocument/2006/relationships/image" Target="../media/image13.jpe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5.png"/><Relationship Id="rId6" Type="http://schemas.openxmlformats.org/officeDocument/2006/relationships/image" Target="../media/image69.png"/><Relationship Id="rId5" Type="http://schemas.openxmlformats.org/officeDocument/2006/relationships/image" Target="../media/image68.jpeg"/><Relationship Id="rId4" Type="http://schemas.openxmlformats.org/officeDocument/2006/relationships/image" Target="../media/image67.jpeg"/><Relationship Id="rId3" Type="http://schemas.openxmlformats.org/officeDocument/2006/relationships/image" Target="../media/image66.jpeg"/><Relationship Id="rId2" Type="http://schemas.openxmlformats.org/officeDocument/2006/relationships/image" Target="../media/image3.png"/><Relationship Id="rId1" Type="http://schemas.openxmlformats.org/officeDocument/2006/relationships/image" Target="../media/image13.jpeg"/></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jpeg"/><Relationship Id="rId4" Type="http://schemas.openxmlformats.org/officeDocument/2006/relationships/image" Target="../media/image71.jpeg"/><Relationship Id="rId3" Type="http://schemas.openxmlformats.org/officeDocument/2006/relationships/image" Target="../media/image70.jpeg"/><Relationship Id="rId2" Type="http://schemas.openxmlformats.org/officeDocument/2006/relationships/image" Target="../media/image3.png"/><Relationship Id="rId1"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1.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2.jpe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6.jpeg"/><Relationship Id="rId4" Type="http://schemas.openxmlformats.org/officeDocument/2006/relationships/image" Target="../media/image75.jpeg"/><Relationship Id="rId3" Type="http://schemas.openxmlformats.org/officeDocument/2006/relationships/image" Target="../media/image74.jpeg"/><Relationship Id="rId2" Type="http://schemas.openxmlformats.org/officeDocument/2006/relationships/image" Target="../media/image3.png"/><Relationship Id="rId1" Type="http://schemas.openxmlformats.org/officeDocument/2006/relationships/image" Target="../media/image13.jpeg"/></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2.png"/><Relationship Id="rId7" Type="http://schemas.openxmlformats.org/officeDocument/2006/relationships/image" Target="../media/image81.jpeg"/><Relationship Id="rId6" Type="http://schemas.openxmlformats.org/officeDocument/2006/relationships/image" Target="../media/image80.jpeg"/><Relationship Id="rId5" Type="http://schemas.openxmlformats.org/officeDocument/2006/relationships/image" Target="../media/image79.jpeg"/><Relationship Id="rId4" Type="http://schemas.openxmlformats.org/officeDocument/2006/relationships/image" Target="../media/image78.jpeg"/><Relationship Id="rId3" Type="http://schemas.openxmlformats.org/officeDocument/2006/relationships/image" Target="../media/image77.jpeg"/><Relationship Id="rId2" Type="http://schemas.openxmlformats.org/officeDocument/2006/relationships/image" Target="../media/image3.png"/><Relationship Id="rId1" Type="http://schemas.openxmlformats.org/officeDocument/2006/relationships/image" Target="../media/image13.jpeg"/></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jpeg"/><Relationship Id="rId4" Type="http://schemas.openxmlformats.org/officeDocument/2006/relationships/image" Target="../media/image84.jpeg"/><Relationship Id="rId3" Type="http://schemas.openxmlformats.org/officeDocument/2006/relationships/image" Target="../media/image83.jpeg"/><Relationship Id="rId2" Type="http://schemas.openxmlformats.org/officeDocument/2006/relationships/image" Target="../media/image3.png"/><Relationship Id="rId1" Type="http://schemas.openxmlformats.org/officeDocument/2006/relationships/image" Target="../media/image13.jpe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5.png"/><Relationship Id="rId7" Type="http://schemas.openxmlformats.org/officeDocument/2006/relationships/image" Target="../media/image91.png"/><Relationship Id="rId6" Type="http://schemas.openxmlformats.org/officeDocument/2006/relationships/image" Target="../media/image90.jpeg"/><Relationship Id="rId5" Type="http://schemas.openxmlformats.org/officeDocument/2006/relationships/image" Target="../media/image89.jpeg"/><Relationship Id="rId4" Type="http://schemas.openxmlformats.org/officeDocument/2006/relationships/image" Target="../media/image88.jpeg"/><Relationship Id="rId3" Type="http://schemas.openxmlformats.org/officeDocument/2006/relationships/image" Target="../media/image87.jpeg"/><Relationship Id="rId2" Type="http://schemas.openxmlformats.org/officeDocument/2006/relationships/image" Target="../media/image3.png"/><Relationship Id="rId1" Type="http://schemas.openxmlformats.org/officeDocument/2006/relationships/image" Target="../media/image13.jpe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4.jpeg"/><Relationship Id="rId4" Type="http://schemas.openxmlformats.org/officeDocument/2006/relationships/image" Target="../media/image93.jpeg"/><Relationship Id="rId3" Type="http://schemas.openxmlformats.org/officeDocument/2006/relationships/image" Target="../media/image92.jpeg"/><Relationship Id="rId2" Type="http://schemas.openxmlformats.org/officeDocument/2006/relationships/image" Target="../media/image3.png"/><Relationship Id="rId1" Type="http://schemas.openxmlformats.org/officeDocument/2006/relationships/image" Target="../media/image13.jpe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jpeg"/><Relationship Id="rId4" Type="http://schemas.openxmlformats.org/officeDocument/2006/relationships/image" Target="../media/image95.png"/><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image" Target="../media/image13.jpeg"/></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5.png"/><Relationship Id="rId6" Type="http://schemas.openxmlformats.org/officeDocument/2006/relationships/image" Target="../media/image101.png"/><Relationship Id="rId5" Type="http://schemas.openxmlformats.org/officeDocument/2006/relationships/image" Target="../media/image100.jpeg"/><Relationship Id="rId4" Type="http://schemas.openxmlformats.org/officeDocument/2006/relationships/image" Target="../media/image99.jpeg"/><Relationship Id="rId3" Type="http://schemas.openxmlformats.org/officeDocument/2006/relationships/image" Target="../media/image98.jpeg"/><Relationship Id="rId2" Type="http://schemas.openxmlformats.org/officeDocument/2006/relationships/image" Target="../media/image3.png"/><Relationship Id="rId1" Type="http://schemas.openxmlformats.org/officeDocument/2006/relationships/image" Target="../media/image13.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1.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2.jpe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4.jpeg"/><Relationship Id="rId4" Type="http://schemas.openxmlformats.org/officeDocument/2006/relationships/image" Target="../media/image103.jpeg"/><Relationship Id="rId3" Type="http://schemas.openxmlformats.org/officeDocument/2006/relationships/image" Target="../media/image102.jpeg"/><Relationship Id="rId2" Type="http://schemas.openxmlformats.org/officeDocument/2006/relationships/image" Target="../media/image3.png"/><Relationship Id="rId1" Type="http://schemas.openxmlformats.org/officeDocument/2006/relationships/image" Target="../media/image13.jpeg"/></Relationships>
</file>

<file path=ppt/slides/_rels/slide3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8.png"/><Relationship Id="rId5" Type="http://schemas.openxmlformats.org/officeDocument/2006/relationships/image" Target="../media/image107.jpeg"/><Relationship Id="rId4" Type="http://schemas.openxmlformats.org/officeDocument/2006/relationships/image" Target="../media/image106.jpeg"/><Relationship Id="rId3" Type="http://schemas.openxmlformats.org/officeDocument/2006/relationships/image" Target="../media/image105.jpeg"/><Relationship Id="rId2" Type="http://schemas.openxmlformats.org/officeDocument/2006/relationships/image" Target="../media/image3.png"/><Relationship Id="rId1" Type="http://schemas.openxmlformats.org/officeDocument/2006/relationships/image" Target="../media/image13.jpe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10.jpeg"/><Relationship Id="rId3" Type="http://schemas.openxmlformats.org/officeDocument/2006/relationships/image" Target="../media/image109.jpeg"/><Relationship Id="rId2" Type="http://schemas.openxmlformats.org/officeDocument/2006/relationships/image" Target="../media/image3.png"/><Relationship Id="rId1" Type="http://schemas.openxmlformats.org/officeDocument/2006/relationships/image" Target="../media/image13.jpeg"/></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14.png"/><Relationship Id="rId5" Type="http://schemas.openxmlformats.org/officeDocument/2006/relationships/image" Target="../media/image113.jpeg"/><Relationship Id="rId4" Type="http://schemas.openxmlformats.org/officeDocument/2006/relationships/image" Target="../media/image112.png"/><Relationship Id="rId3" Type="http://schemas.openxmlformats.org/officeDocument/2006/relationships/image" Target="../media/image111.jpeg"/><Relationship Id="rId2" Type="http://schemas.openxmlformats.org/officeDocument/2006/relationships/image" Target="../media/image3.png"/><Relationship Id="rId1" Type="http://schemas.openxmlformats.org/officeDocument/2006/relationships/image" Target="../media/image13.jpeg"/></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5.png"/><Relationship Id="rId6" Type="http://schemas.openxmlformats.org/officeDocument/2006/relationships/image" Target="../media/image118.png"/><Relationship Id="rId5" Type="http://schemas.openxmlformats.org/officeDocument/2006/relationships/image" Target="../media/image117.jpeg"/><Relationship Id="rId4" Type="http://schemas.openxmlformats.org/officeDocument/2006/relationships/image" Target="../media/image116.jpeg"/><Relationship Id="rId3" Type="http://schemas.openxmlformats.org/officeDocument/2006/relationships/image" Target="../media/image115.jpeg"/><Relationship Id="rId2" Type="http://schemas.openxmlformats.org/officeDocument/2006/relationships/image" Target="../media/image3.png"/><Relationship Id="rId1" Type="http://schemas.openxmlformats.org/officeDocument/2006/relationships/image" Target="../media/image13.jpeg"/></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21.jpeg"/><Relationship Id="rId4" Type="http://schemas.openxmlformats.org/officeDocument/2006/relationships/image" Target="../media/image120.jpeg"/><Relationship Id="rId3" Type="http://schemas.openxmlformats.org/officeDocument/2006/relationships/image" Target="../media/image119.jpeg"/><Relationship Id="rId2" Type="http://schemas.openxmlformats.org/officeDocument/2006/relationships/image" Target="../media/image3.png"/><Relationship Id="rId1" Type="http://schemas.openxmlformats.org/officeDocument/2006/relationships/image" Target="../media/image13.jpeg"/></Relationships>
</file>

<file path=ppt/slides/_rels/slide3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24.jpeg"/><Relationship Id="rId4" Type="http://schemas.openxmlformats.org/officeDocument/2006/relationships/image" Target="../media/image123.jpeg"/><Relationship Id="rId3" Type="http://schemas.openxmlformats.org/officeDocument/2006/relationships/image" Target="../media/image122.jpeg"/><Relationship Id="rId2" Type="http://schemas.openxmlformats.org/officeDocument/2006/relationships/image" Target="../media/image3.png"/><Relationship Id="rId1" Type="http://schemas.openxmlformats.org/officeDocument/2006/relationships/image" Target="../media/image13.jpeg"/></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29.png"/><Relationship Id="rId7" Type="http://schemas.openxmlformats.org/officeDocument/2006/relationships/image" Target="../media/image128.jpeg"/><Relationship Id="rId6" Type="http://schemas.openxmlformats.org/officeDocument/2006/relationships/image" Target="../media/image127.jpeg"/><Relationship Id="rId5" Type="http://schemas.openxmlformats.org/officeDocument/2006/relationships/image" Target="../media/image126.jpeg"/><Relationship Id="rId4" Type="http://schemas.openxmlformats.org/officeDocument/2006/relationships/image" Target="../media/image15.png"/><Relationship Id="rId3" Type="http://schemas.openxmlformats.org/officeDocument/2006/relationships/image" Target="../media/image125.jpeg"/><Relationship Id="rId2" Type="http://schemas.openxmlformats.org/officeDocument/2006/relationships/image" Target="../media/image3.png"/><Relationship Id="rId1" Type="http://schemas.openxmlformats.org/officeDocument/2006/relationships/image" Target="../media/image13.jpeg"/></Relationships>
</file>

<file path=ppt/slides/_rels/slide4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33.png"/><Relationship Id="rId5" Type="http://schemas.openxmlformats.org/officeDocument/2006/relationships/image" Target="../media/image132.jpeg"/><Relationship Id="rId4" Type="http://schemas.openxmlformats.org/officeDocument/2006/relationships/image" Target="../media/image131.jpeg"/><Relationship Id="rId3" Type="http://schemas.openxmlformats.org/officeDocument/2006/relationships/image" Target="../media/image130.jpeg"/><Relationship Id="rId2" Type="http://schemas.openxmlformats.org/officeDocument/2006/relationships/image" Target="../media/image3.png"/><Relationship Id="rId1" Type="http://schemas.openxmlformats.org/officeDocument/2006/relationships/image" Target="../media/image13.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1.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4.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4.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5.jpe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3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0" y="0"/>
            <a:ext cx="17475200" cy="9753600"/>
          </a:xfrm>
          <a:prstGeom prst="rect">
            <a:avLst/>
          </a:prstGeom>
        </p:spPr>
      </p:pic>
      <p:sp>
        <p:nvSpPr>
          <p:cNvPr id="4" name="textbox 4"/>
          <p:cNvSpPr/>
          <p:nvPr/>
        </p:nvSpPr>
        <p:spPr>
          <a:xfrm>
            <a:off x="7721648" y="9189730"/>
            <a:ext cx="9654540" cy="483869"/>
          </a:xfrm>
          <a:prstGeom prst="rect">
            <a:avLst/>
          </a:prstGeom>
          <a:noFill/>
          <a:ln w="0" cap="flat">
            <a:noFill/>
            <a:prstDash val="solid"/>
            <a:miter lim="0"/>
          </a:ln>
        </p:spPr>
        <p:txBody>
          <a:bodyPr vert="horz" wrap="square" lIns="0" tIns="0" rIns="0" bIns="0"/>
          <a:lstStyle/>
          <a:p>
            <a:pPr algn="l" rtl="0" eaLnBrk="0">
              <a:lnSpc>
                <a:spcPct val="83000"/>
              </a:lnSpc>
            </a:pPr>
            <a:endParaRPr sz="1400" dirty="0">
              <a:latin typeface="Arial" panose="020B0604020202020204"/>
              <a:ea typeface="Arial" panose="020B0604020202020204"/>
              <a:cs typeface="Arial" panose="020B0604020202020204"/>
            </a:endParaRPr>
          </a:p>
        </p:txBody>
      </p:sp>
      <p:sp>
        <p:nvSpPr>
          <p:cNvPr id="6" name="textbox 6"/>
          <p:cNvSpPr/>
          <p:nvPr/>
        </p:nvSpPr>
        <p:spPr>
          <a:xfrm>
            <a:off x="8399438" y="1521038"/>
            <a:ext cx="611505" cy="5246370"/>
          </a:xfrm>
          <a:prstGeom prst="rect">
            <a:avLst/>
          </a:prstGeom>
          <a:noFill/>
          <a:ln w="0" cap="flat">
            <a:noFill/>
            <a:prstDash val="solid"/>
            <a:miter lim="0"/>
          </a:ln>
        </p:spPr>
        <p:txBody>
          <a:bodyPr vert="eaVert" wrap="square" lIns="0" tIns="0" rIns="0" bIns="0"/>
          <a:lstStyle/>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88000"/>
              </a:lnSpc>
            </a:pPr>
            <a:endParaRPr sz="4300" dirty="0">
              <a:latin typeface="宋体" panose="02010600030101010101" pitchFamily="2" charset="-122"/>
              <a:ea typeface="宋体" panose="02010600030101010101" pitchFamily="2" charset="-122"/>
              <a:cs typeface="宋体" panose="02010600030101010101" pitchFamily="2" charset="-122"/>
            </a:endParaRPr>
          </a:p>
        </p:txBody>
      </p:sp>
      <p:sp>
        <p:nvSpPr>
          <p:cNvPr id="8" name="textbox 8"/>
          <p:cNvSpPr/>
          <p:nvPr/>
        </p:nvSpPr>
        <p:spPr>
          <a:xfrm>
            <a:off x="5708680" y="6998366"/>
            <a:ext cx="6107429" cy="491490"/>
          </a:xfrm>
          <a:prstGeom prst="rect">
            <a:avLst/>
          </a:prstGeom>
          <a:noFill/>
          <a:ln w="0" cap="flat">
            <a:noFill/>
            <a:prstDash val="solid"/>
            <a:miter lim="0"/>
          </a:ln>
        </p:spPr>
        <p:txBody>
          <a:bodyPr vert="horz" wrap="square" lIns="0" tIns="0" rIns="0" bIns="0"/>
          <a:lstStyle/>
          <a:p>
            <a:pPr algn="l" rtl="0" eaLnBrk="0">
              <a:lnSpc>
                <a:spcPct val="9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200" dirty="0">
              <a:latin typeface="黑体" panose="02010609060101010101" charset="-122"/>
              <a:ea typeface="黑体" panose="02010609060101010101" charset="-122"/>
              <a:cs typeface="黑体" panose="02010609060101010101" charset="-122"/>
            </a:endParaRPr>
          </a:p>
        </p:txBody>
      </p:sp>
      <p:sp>
        <p:nvSpPr>
          <p:cNvPr id="14" name="textbox 14"/>
          <p:cNvSpPr/>
          <p:nvPr/>
        </p:nvSpPr>
        <p:spPr>
          <a:xfrm>
            <a:off x="14138279" y="4618358"/>
            <a:ext cx="1628139" cy="349884"/>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algn="r" rtl="0" eaLnBrk="0">
              <a:lnSpc>
                <a:spcPct val="97000"/>
              </a:lnSpc>
            </a:pPr>
            <a:endParaRPr sz="2200" dirty="0">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981710" y="3629025"/>
            <a:ext cx="15055850" cy="2430145"/>
          </a:xfrm>
          <a:prstGeom prst="rect">
            <a:avLst/>
          </a:prstGeom>
          <a:noFill/>
        </p:spPr>
        <p:txBody>
          <a:bodyPr wrap="square" rtlCol="0">
            <a:spAutoFit/>
          </a:bodyPr>
          <a:p>
            <a:pPr algn="ctr"/>
            <a:r>
              <a:rPr lang="en-US" altLang="zh-CN" sz="8000">
                <a:effectLst>
                  <a:outerShdw blurRad="38100" dist="38100" dir="2700000" algn="tl">
                    <a:srgbClr val="000000">
                      <a:alpha val="43137"/>
                    </a:srgbClr>
                  </a:outerShdw>
                </a:effectLst>
                <a:latin typeface="华康行楷体 W5" panose="03000509000000000000" charset="-122"/>
                <a:ea typeface="华康行楷体 W5" panose="03000509000000000000" charset="-122"/>
                <a:cs typeface="华康行楷体 W5" panose="03000509000000000000" charset="-122"/>
              </a:rPr>
              <a:t>AMINO</a:t>
            </a:r>
            <a:r>
              <a:rPr lang="zh-CN" altLang="en-US" sz="8000">
                <a:effectLst>
                  <a:outerShdw blurRad="38100" dist="38100" dir="2700000" algn="tl">
                    <a:srgbClr val="000000">
                      <a:alpha val="43137"/>
                    </a:srgbClr>
                  </a:outerShdw>
                </a:effectLst>
                <a:latin typeface="华康行楷体 W5" panose="03000509000000000000" charset="-122"/>
                <a:ea typeface="华康行楷体 W5" panose="03000509000000000000" charset="-122"/>
                <a:cs typeface="华康行楷体 W5" panose="03000509000000000000" charset="-122"/>
              </a:rPr>
              <a:t>四期基金分析报告</a:t>
            </a:r>
            <a:endParaRPr lang="zh-CN" altLang="en-US" sz="7200">
              <a:effectLst>
                <a:outerShdw blurRad="38100" dist="38100" dir="2700000" algn="tl">
                  <a:srgbClr val="000000">
                    <a:alpha val="43137"/>
                  </a:srgbClr>
                </a:outerShdw>
              </a:effectLst>
              <a:latin typeface="华康行楷体 W5" panose="03000509000000000000" charset="-122"/>
              <a:ea typeface="华康行楷体 W5" panose="03000509000000000000" charset="-122"/>
              <a:cs typeface="华康行楷体 W5" panose="03000509000000000000" charset="-122"/>
            </a:endParaRPr>
          </a:p>
          <a:p>
            <a:pPr algn="ctr"/>
            <a:r>
              <a:rPr lang="en-US" altLang="zh-CN" sz="7200">
                <a:effectLst>
                  <a:outerShdw blurRad="38100" dist="38100" dir="2700000" algn="tl">
                    <a:srgbClr val="000000">
                      <a:alpha val="43137"/>
                    </a:srgbClr>
                  </a:outerShdw>
                </a:effectLst>
                <a:latin typeface="华康行楷体 W5" panose="03000509000000000000" charset="-122"/>
                <a:ea typeface="华康行楷体 W5" panose="03000509000000000000" charset="-122"/>
                <a:cs typeface="华康行楷体 W5" panose="03000509000000000000" charset="-122"/>
              </a:rPr>
              <a:t>——</a:t>
            </a:r>
            <a:r>
              <a:rPr lang="zh-CN" altLang="en-US" sz="7200">
                <a:effectLst>
                  <a:outerShdw blurRad="38100" dist="38100" dir="2700000" algn="tl">
                    <a:srgbClr val="000000">
                      <a:alpha val="43137"/>
                    </a:srgbClr>
                  </a:outerShdw>
                </a:effectLst>
                <a:latin typeface="华康行楷体 W5" panose="03000509000000000000" charset="-122"/>
                <a:ea typeface="华康行楷体 W5" panose="03000509000000000000" charset="-122"/>
                <a:cs typeface="华康行楷体 W5" panose="03000509000000000000" charset="-122"/>
              </a:rPr>
              <a:t>基于具体公司表现和总体考量</a:t>
            </a:r>
            <a:endParaRPr lang="zh-CN" altLang="en-US" sz="7200">
              <a:effectLst>
                <a:outerShdw blurRad="38100" dist="38100" dir="2700000" algn="tl">
                  <a:srgbClr val="000000">
                    <a:alpha val="43137"/>
                  </a:srgbClr>
                </a:outerShdw>
              </a:effectLst>
              <a:latin typeface="华康行楷体 W5" panose="03000509000000000000" charset="-122"/>
              <a:ea typeface="华康行楷体 W5" panose="03000509000000000000" charset="-122"/>
              <a:cs typeface="华康行楷体 W5" panose="03000509000000000000" charset="-122"/>
            </a:endParaRPr>
          </a:p>
        </p:txBody>
      </p:sp>
      <p:pic>
        <p:nvPicPr>
          <p:cNvPr id="5" name="图片 4" descr="新进logo"/>
          <p:cNvPicPr>
            <a:picLocks noChangeAspect="1"/>
          </p:cNvPicPr>
          <p:nvPr/>
        </p:nvPicPr>
        <p:blipFill>
          <a:blip r:embed="rId3"/>
          <a:stretch>
            <a:fillRect/>
          </a:stretch>
        </p:blipFill>
        <p:spPr>
          <a:xfrm>
            <a:off x="14407515" y="152400"/>
            <a:ext cx="276479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p:cNvPicPr>
            <a:picLocks noChangeAspect="1"/>
          </p:cNvPicPr>
          <p:nvPr/>
        </p:nvPicPr>
        <p:blipFill>
          <a:blip r:embed="rId1"/>
          <a:stretch>
            <a:fillRect/>
          </a:stretch>
        </p:blipFill>
        <p:spPr>
          <a:xfrm rot="21600000">
            <a:off x="0" y="0"/>
            <a:ext cx="17475200" cy="9753600"/>
          </a:xfrm>
          <a:prstGeom prst="rect">
            <a:avLst/>
          </a:prstGeom>
        </p:spPr>
      </p:pic>
      <p:sp>
        <p:nvSpPr>
          <p:cNvPr id="18" name="textbox 18"/>
          <p:cNvSpPr/>
          <p:nvPr/>
        </p:nvSpPr>
        <p:spPr>
          <a:xfrm>
            <a:off x="9150420" y="2525913"/>
            <a:ext cx="7120255" cy="4672329"/>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2225" algn="l" rtl="0" eaLnBrk="0">
              <a:lnSpc>
                <a:spcPct val="95000"/>
              </a:lnSpc>
            </a:pPr>
            <a:endParaRPr sz="3500" dirty="0">
              <a:latin typeface="黑体" panose="02010609060101010101" charset="-122"/>
              <a:ea typeface="黑体" panose="02010609060101010101" charset="-122"/>
              <a:cs typeface="黑体" panose="02010609060101010101" charset="-122"/>
            </a:endParaRPr>
          </a:p>
        </p:txBody>
      </p:sp>
      <p:sp>
        <p:nvSpPr>
          <p:cNvPr id="20" name="textbox 20"/>
          <p:cNvSpPr/>
          <p:nvPr/>
        </p:nvSpPr>
        <p:spPr>
          <a:xfrm>
            <a:off x="16097336" y="9482691"/>
            <a:ext cx="1278889" cy="197485"/>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12700" algn="l" rtl="0" eaLnBrk="0">
              <a:lnSpc>
                <a:spcPct val="81000"/>
              </a:lnSpc>
            </a:pPr>
            <a:endParaRPr sz="1400" dirty="0">
              <a:latin typeface="Arial" panose="020B0604020202020204"/>
              <a:ea typeface="Arial" panose="020B0604020202020204"/>
              <a:cs typeface="Arial" panose="020B0604020202020204"/>
            </a:endParaRPr>
          </a:p>
        </p:txBody>
      </p:sp>
      <p:sp>
        <p:nvSpPr>
          <p:cNvPr id="3" name="文本框 2"/>
          <p:cNvSpPr txBox="1"/>
          <p:nvPr/>
        </p:nvSpPr>
        <p:spPr>
          <a:xfrm>
            <a:off x="323850" y="725170"/>
            <a:ext cx="6743065" cy="8585835"/>
          </a:xfrm>
          <a:prstGeom prst="rect">
            <a:avLst/>
          </a:prstGeom>
          <a:noFill/>
        </p:spPr>
        <p:txBody>
          <a:bodyPr wrap="square" rtlCol="0">
            <a:spAutoFit/>
          </a:bodyPr>
          <a:p>
            <a:r>
              <a:rPr lang="en-US" altLang="zh-CN" sz="7200" b="1">
                <a:solidFill>
                  <a:schemeClr val="tx1">
                    <a:lumMod val="95000"/>
                    <a:lumOff val="5000"/>
                  </a:schemeClr>
                </a:solidFill>
                <a:latin typeface="华康行楷体 W5" panose="03000509000000000000" charset="-122"/>
                <a:ea typeface="华康行楷体 W5" panose="03000509000000000000" charset="-122"/>
                <a:cs typeface="华康行楷体 W5" panose="03000509000000000000" charset="-122"/>
              </a:rPr>
              <a:t>·</a:t>
            </a:r>
            <a:r>
              <a:rPr lang="zh-CN" altLang="en-US" sz="7200" b="1">
                <a:solidFill>
                  <a:schemeClr val="tx1">
                    <a:lumMod val="95000"/>
                    <a:lumOff val="5000"/>
                  </a:schemeClr>
                </a:solidFill>
                <a:latin typeface="华康行楷体 W5" panose="03000509000000000000" charset="-122"/>
                <a:ea typeface="华康行楷体 W5" panose="03000509000000000000" charset="-122"/>
                <a:cs typeface="华康行楷体 W5" panose="03000509000000000000" charset="-122"/>
              </a:rPr>
              <a:t>目录</a:t>
            </a:r>
            <a:endParaRPr lang="zh-CN" altLang="en-US" sz="7200" b="1">
              <a:solidFill>
                <a:schemeClr val="tx1">
                  <a:lumMod val="95000"/>
                  <a:lumOff val="5000"/>
                </a:schemeClr>
              </a:solidFill>
              <a:ea typeface="宋体" panose="02010600030101010101" pitchFamily="2" charset="-122"/>
            </a:endParaRPr>
          </a:p>
          <a:p>
            <a:pPr marL="457200" lvl="1" indent="0">
              <a:buNone/>
            </a:pPr>
            <a:endParaRPr lang="en-US" altLang="zh-CN" sz="4800" b="1">
              <a:solidFill>
                <a:schemeClr val="tx1">
                  <a:lumMod val="95000"/>
                  <a:lumOff val="5000"/>
                </a:schemeClr>
              </a:solidFill>
              <a:ea typeface="宋体" panose="02010600030101010101" pitchFamily="2" charset="-122"/>
            </a:endParaRPr>
          </a:p>
          <a:p>
            <a:pPr marL="457200" lvl="1" indent="0">
              <a:buNone/>
            </a:pPr>
            <a:r>
              <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rPr>
              <a:t>·</a:t>
            </a:r>
            <a:r>
              <a:rPr lang="zh-CN" altLang="en-US"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rPr>
              <a:t>系统智能</a:t>
            </a:r>
            <a:r>
              <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rPr>
              <a:t> (System Intelligence)</a:t>
            </a:r>
            <a:endPar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endParaRPr>
          </a:p>
          <a:p>
            <a:pPr marL="457200" lvl="1" indent="0">
              <a:buNone/>
            </a:pPr>
            <a:r>
              <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rPr>
              <a:t>·</a:t>
            </a:r>
            <a:r>
              <a:rPr lang="zh-CN" altLang="en-US"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rPr>
              <a:t>智能体平台</a:t>
            </a:r>
            <a:r>
              <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rPr>
              <a:t> (Agent Platforms)</a:t>
            </a:r>
            <a:endPar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endParaRPr>
          </a:p>
          <a:p>
            <a:pPr marL="457200" lvl="1" algn="l">
              <a:buClrTx/>
              <a:buSzTx/>
              <a:buFontTx/>
              <a:buNone/>
            </a:pPr>
            <a:r>
              <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rPr>
              <a:t>·合成智能 (Synthetic Intelligence)</a:t>
            </a:r>
            <a:endPar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endParaRPr>
          </a:p>
          <a:p>
            <a:pPr marL="457200" lvl="1" indent="0">
              <a:buNone/>
            </a:pPr>
            <a:r>
              <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rPr>
              <a:t>·数据反馈闭环 (Data Feedback Loops)</a:t>
            </a:r>
            <a:endPar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endParaRPr>
          </a:p>
          <a:p>
            <a:pPr marL="457200" lvl="1" indent="0">
              <a:buNone/>
            </a:pPr>
            <a:endParaRPr lang="en-US" altLang="zh-CN" sz="4800" b="1">
              <a:solidFill>
                <a:schemeClr val="tx1">
                  <a:lumMod val="95000"/>
                  <a:lumOff val="5000"/>
                </a:schemeClr>
              </a:solidFill>
              <a:latin typeface="华文楷体" panose="02010600040101010101" charset="-122"/>
              <a:ea typeface="华文楷体" panose="02010600040101010101" charset="-122"/>
              <a:cs typeface="华文楷体" panose="02010600040101010101" charset="-122"/>
            </a:endParaRPr>
          </a:p>
        </p:txBody>
      </p:sp>
      <p:pic>
        <p:nvPicPr>
          <p:cNvPr id="9" name="图片 8" descr="图片1"/>
          <p:cNvPicPr>
            <a:picLocks noChangeAspect="1"/>
          </p:cNvPicPr>
          <p:nvPr/>
        </p:nvPicPr>
        <p:blipFill>
          <a:blip r:embed="rId2"/>
          <a:stretch>
            <a:fillRect/>
          </a:stretch>
        </p:blipFill>
        <p:spPr>
          <a:xfrm>
            <a:off x="8148955" y="0"/>
            <a:ext cx="1383030" cy="1383030"/>
          </a:xfrm>
          <a:prstGeom prst="rect">
            <a:avLst/>
          </a:prstGeom>
        </p:spPr>
      </p:pic>
      <p:pic>
        <p:nvPicPr>
          <p:cNvPr id="10" name="图片 9" descr="新进logo"/>
          <p:cNvPicPr>
            <a:picLocks noChangeAspect="1"/>
          </p:cNvPicPr>
          <p:nvPr/>
        </p:nvPicPr>
        <p:blipFill>
          <a:blip r:embed="rId3"/>
          <a:stretch>
            <a:fillRect/>
          </a:stretch>
        </p:blipFill>
        <p:spPr>
          <a:xfrm>
            <a:off x="14433550" y="150495"/>
            <a:ext cx="2764800" cy="1005967"/>
          </a:xfrm>
          <a:prstGeom prst="rect">
            <a:avLst/>
          </a:prstGeom>
        </p:spPr>
      </p:pic>
      <p:sp>
        <p:nvSpPr>
          <p:cNvPr id="11" name="文本框 10"/>
          <p:cNvSpPr txBox="1"/>
          <p:nvPr/>
        </p:nvSpPr>
        <p:spPr>
          <a:xfrm>
            <a:off x="9596755" y="330835"/>
            <a:ext cx="3831590" cy="645160"/>
          </a:xfrm>
          <a:prstGeom prst="rect">
            <a:avLst/>
          </a:prstGeom>
          <a:noFill/>
        </p:spPr>
        <p:txBody>
          <a:bodyPr wrap="square" rtlCol="0">
            <a:spAutoFit/>
          </a:bodyPr>
          <a:p>
            <a:r>
              <a:rPr lang="en-US" altLang="zh-CN" sz="3600">
                <a:latin typeface="Times New Roman" panose="02020603050405020304" charset="0"/>
                <a:cs typeface="Times New Roman" panose="02020603050405020304" charset="0"/>
              </a:rPr>
              <a:t>Amino Capital</a:t>
            </a:r>
            <a:endParaRPr lang="en-US" altLang="zh-CN" sz="3600">
              <a:latin typeface="Times New Roman" panose="02020603050405020304" charset="0"/>
              <a:cs typeface="Times New Roman" panose="02020603050405020304" charset="0"/>
            </a:endParaRPr>
          </a:p>
        </p:txBody>
      </p:sp>
      <p:sp>
        <p:nvSpPr>
          <p:cNvPr id="13" name="文本框 12"/>
          <p:cNvSpPr txBox="1"/>
          <p:nvPr/>
        </p:nvSpPr>
        <p:spPr>
          <a:xfrm>
            <a:off x="8201025" y="1383030"/>
            <a:ext cx="8864600" cy="2553335"/>
          </a:xfrm>
          <a:prstGeom prst="rect">
            <a:avLst/>
          </a:prstGeom>
          <a:noFill/>
        </p:spPr>
        <p:txBody>
          <a:bodyPr wrap="square" rtlCol="0">
            <a:spAutoFit/>
          </a:bodyPr>
          <a:p>
            <a:r>
              <a:rPr lang="en-US" altLang="zh-CN" sz="3200" b="1">
                <a:latin typeface="华文楷体" panose="02010600040101010101" charset="-122"/>
                <a:ea typeface="华文楷体" panose="02010600040101010101" charset="-122"/>
                <a:cs typeface="华文楷体" panose="02010600040101010101" charset="-122"/>
              </a:rPr>
              <a:t>·</a:t>
            </a:r>
            <a:r>
              <a:rPr lang="zh-CN" altLang="en-US" sz="3200" b="1">
                <a:latin typeface="华文楷体" panose="02010600040101010101" charset="-122"/>
                <a:ea typeface="华文楷体" panose="02010600040101010101" charset="-122"/>
                <a:cs typeface="华文楷体" panose="02010600040101010101" charset="-122"/>
              </a:rPr>
              <a:t>聚焦于数据护城河和网络效应</a:t>
            </a:r>
            <a:endParaRPr lang="zh-CN" altLang="en-US" sz="3200" b="1">
              <a:latin typeface="华文楷体" panose="02010600040101010101" charset="-122"/>
              <a:ea typeface="华文楷体" panose="02010600040101010101" charset="-122"/>
              <a:cs typeface="华文楷体" panose="02010600040101010101" charset="-122"/>
            </a:endParaRPr>
          </a:p>
          <a:p>
            <a:r>
              <a:rPr lang="zh-CN" altLang="en-US" sz="3200" b="1">
                <a:latin typeface="华文楷体" panose="02010600040101010101" charset="-122"/>
                <a:ea typeface="华文楷体" panose="02010600040101010101" charset="-122"/>
                <a:cs typeface="华文楷体" panose="02010600040101010101" charset="-122"/>
              </a:rPr>
              <a:t>·管理规模＞$1BN</a:t>
            </a:r>
            <a:endParaRPr lang="zh-CN" altLang="en-US" sz="3200" b="1">
              <a:latin typeface="华文楷体" panose="02010600040101010101" charset="-122"/>
              <a:ea typeface="华文楷体" panose="02010600040101010101" charset="-122"/>
              <a:cs typeface="华文楷体" panose="02010600040101010101" charset="-122"/>
            </a:endParaRPr>
          </a:p>
          <a:p>
            <a:pPr marL="0" lvl="0" indent="0">
              <a:buNone/>
            </a:pPr>
            <a:r>
              <a:rPr lang="en-US" altLang="zh-CN" sz="3200" b="1">
                <a:solidFill>
                  <a:schemeClr val="tx1"/>
                </a:solidFill>
                <a:latin typeface="华文楷体" panose="02010600040101010101" charset="-122"/>
                <a:ea typeface="华文楷体" panose="02010600040101010101" charset="-122"/>
                <a:cs typeface="华文楷体" panose="02010600040101010101" charset="-122"/>
              </a:rPr>
              <a:t>·35 </a:t>
            </a:r>
            <a:r>
              <a:rPr lang="zh-CN" altLang="en-US" sz="3200" b="1">
                <a:solidFill>
                  <a:schemeClr val="tx1"/>
                </a:solidFill>
                <a:latin typeface="华文楷体" panose="02010600040101010101" charset="-122"/>
                <a:ea typeface="华文楷体" panose="02010600040101010101" charset="-122"/>
                <a:cs typeface="华文楷体" panose="02010600040101010101" charset="-122"/>
              </a:rPr>
              <a:t>起成功退出、约</a:t>
            </a:r>
            <a:r>
              <a:rPr lang="en-US" altLang="zh-CN" sz="3200" b="1">
                <a:solidFill>
                  <a:schemeClr val="tx1"/>
                </a:solidFill>
                <a:latin typeface="华文楷体" panose="02010600040101010101" charset="-122"/>
                <a:ea typeface="华文楷体" panose="02010600040101010101" charset="-122"/>
                <a:cs typeface="华文楷体" panose="02010600040101010101" charset="-122"/>
              </a:rPr>
              <a:t>20</a:t>
            </a:r>
            <a:r>
              <a:rPr lang="zh-CN" altLang="en-US" sz="3200" b="1">
                <a:solidFill>
                  <a:schemeClr val="tx1"/>
                </a:solidFill>
                <a:latin typeface="华文楷体" panose="02010600040101010101" charset="-122"/>
                <a:ea typeface="华文楷体" panose="02010600040101010101" charset="-122"/>
                <a:cs typeface="华文楷体" panose="02010600040101010101" charset="-122"/>
              </a:rPr>
              <a:t>家独角兽企业，以及</a:t>
            </a:r>
            <a:r>
              <a:rPr lang="en-US" altLang="zh-CN" sz="3200" b="1">
                <a:solidFill>
                  <a:schemeClr val="tx1"/>
                </a:solidFill>
                <a:latin typeface="华文楷体" panose="02010600040101010101" charset="-122"/>
                <a:ea typeface="华文楷体" panose="02010600040101010101" charset="-122"/>
                <a:cs typeface="华文楷体" panose="02010600040101010101" charset="-122"/>
              </a:rPr>
              <a:t>35</a:t>
            </a:r>
            <a:r>
              <a:rPr lang="zh-CN" altLang="en-US" sz="3200" b="1">
                <a:solidFill>
                  <a:schemeClr val="tx1"/>
                </a:solidFill>
                <a:latin typeface="华文楷体" panose="02010600040101010101" charset="-122"/>
                <a:ea typeface="华文楷体" panose="02010600040101010101" charset="-122"/>
                <a:cs typeface="华文楷体" panose="02010600040101010101" charset="-122"/>
              </a:rPr>
              <a:t>家以上估值超过</a:t>
            </a:r>
            <a:r>
              <a:rPr lang="en-US" altLang="zh-CN" sz="3200" b="1">
                <a:solidFill>
                  <a:schemeClr val="tx1"/>
                </a:solidFill>
                <a:latin typeface="华文楷体" panose="02010600040101010101" charset="-122"/>
                <a:ea typeface="华文楷体" panose="02010600040101010101" charset="-122"/>
                <a:cs typeface="华文楷体" panose="02010600040101010101" charset="-122"/>
              </a:rPr>
              <a:t> 1</a:t>
            </a:r>
            <a:r>
              <a:rPr lang="zh-CN" altLang="en-US" sz="3200" b="1">
                <a:solidFill>
                  <a:schemeClr val="tx1"/>
                </a:solidFill>
                <a:latin typeface="华文楷体" panose="02010600040101010101" charset="-122"/>
                <a:ea typeface="华文楷体" panose="02010600040101010101" charset="-122"/>
                <a:cs typeface="华文楷体" panose="02010600040101010101" charset="-122"/>
              </a:rPr>
              <a:t>亿美元的公司</a:t>
            </a:r>
            <a:endParaRPr lang="zh-CN" altLang="en-US" sz="3200" b="1">
              <a:solidFill>
                <a:schemeClr val="tx1"/>
              </a:solidFill>
              <a:latin typeface="华文楷体" panose="02010600040101010101" charset="-122"/>
              <a:ea typeface="华文楷体" panose="02010600040101010101" charset="-122"/>
              <a:cs typeface="华文楷体" panose="02010600040101010101" charset="-122"/>
            </a:endParaRPr>
          </a:p>
          <a:p>
            <a:pPr marL="0" lvl="0" indent="0">
              <a:buNone/>
            </a:pPr>
            <a:r>
              <a:rPr lang="en-US" altLang="zh-CN" sz="3200" b="1">
                <a:solidFill>
                  <a:schemeClr val="tx1"/>
                </a:solidFill>
                <a:latin typeface="华文楷体" panose="02010600040101010101" charset="-122"/>
                <a:ea typeface="华文楷体" panose="02010600040101010101" charset="-122"/>
                <a:cs typeface="华文楷体" panose="02010600040101010101" charset="-122"/>
              </a:rPr>
              <a:t>·</a:t>
            </a:r>
            <a:r>
              <a:rPr lang="zh-CN" altLang="en-US" sz="3200" b="1">
                <a:solidFill>
                  <a:schemeClr val="tx1"/>
                </a:solidFill>
                <a:latin typeface="华文楷体" panose="02010600040101010101" charset="-122"/>
                <a:ea typeface="华文楷体" panose="02010600040101010101" charset="-122"/>
                <a:cs typeface="华文楷体" panose="02010600040101010101" charset="-122"/>
              </a:rPr>
              <a:t>创始人</a:t>
            </a:r>
            <a:endParaRPr lang="zh-CN" altLang="en-US" sz="3200" b="1">
              <a:solidFill>
                <a:schemeClr val="tx1"/>
              </a:solidFill>
              <a:latin typeface="华文楷体" panose="02010600040101010101" charset="-122"/>
              <a:ea typeface="华文楷体" panose="02010600040101010101" charset="-122"/>
              <a:cs typeface="华文楷体" panose="02010600040101010101" charset="-122"/>
            </a:endParaRPr>
          </a:p>
        </p:txBody>
      </p:sp>
      <p:pic>
        <p:nvPicPr>
          <p:cNvPr id="15" name="图片 14"/>
          <p:cNvPicPr/>
          <p:nvPr/>
        </p:nvPicPr>
        <p:blipFill>
          <a:blip r:embed="rId4"/>
          <a:stretch>
            <a:fillRect/>
          </a:stretch>
        </p:blipFill>
        <p:spPr>
          <a:xfrm>
            <a:off x="8456295" y="3936365"/>
            <a:ext cx="2022475" cy="2007870"/>
          </a:xfrm>
          <a:prstGeom prst="rect">
            <a:avLst/>
          </a:prstGeom>
        </p:spPr>
      </p:pic>
      <p:pic>
        <p:nvPicPr>
          <p:cNvPr id="17" name="图片 16"/>
          <p:cNvPicPr/>
          <p:nvPr/>
        </p:nvPicPr>
        <p:blipFill>
          <a:blip r:embed="rId5"/>
          <a:stretch>
            <a:fillRect/>
          </a:stretch>
        </p:blipFill>
        <p:spPr>
          <a:xfrm>
            <a:off x="10881995" y="3936365"/>
            <a:ext cx="1887220" cy="1999615"/>
          </a:xfrm>
          <a:prstGeom prst="rect">
            <a:avLst/>
          </a:prstGeom>
        </p:spPr>
      </p:pic>
      <p:pic>
        <p:nvPicPr>
          <p:cNvPr id="19" name="图片 18"/>
          <p:cNvPicPr/>
          <p:nvPr/>
        </p:nvPicPr>
        <p:blipFill>
          <a:blip r:embed="rId6"/>
          <a:stretch>
            <a:fillRect/>
          </a:stretch>
        </p:blipFill>
        <p:spPr>
          <a:xfrm>
            <a:off x="13172440" y="3927475"/>
            <a:ext cx="1815465" cy="2008505"/>
          </a:xfrm>
          <a:prstGeom prst="rect">
            <a:avLst/>
          </a:prstGeom>
        </p:spPr>
      </p:pic>
      <p:pic>
        <p:nvPicPr>
          <p:cNvPr id="21" name="图片 20"/>
          <p:cNvPicPr/>
          <p:nvPr/>
        </p:nvPicPr>
        <p:blipFill>
          <a:blip r:embed="rId7"/>
          <a:stretch>
            <a:fillRect/>
          </a:stretch>
        </p:blipFill>
        <p:spPr>
          <a:xfrm>
            <a:off x="15440660" y="3936365"/>
            <a:ext cx="1757680" cy="2007235"/>
          </a:xfrm>
          <a:prstGeom prst="rect">
            <a:avLst/>
          </a:prstGeom>
        </p:spPr>
      </p:pic>
      <p:sp>
        <p:nvSpPr>
          <p:cNvPr id="22" name="文本框 21"/>
          <p:cNvSpPr txBox="1"/>
          <p:nvPr/>
        </p:nvSpPr>
        <p:spPr>
          <a:xfrm>
            <a:off x="8060055" y="5996305"/>
            <a:ext cx="9316085" cy="398780"/>
          </a:xfrm>
          <a:prstGeom prst="rect">
            <a:avLst/>
          </a:prstGeom>
          <a:noFill/>
        </p:spPr>
        <p:txBody>
          <a:bodyPr wrap="square" rtlCol="0">
            <a:spAutoFit/>
          </a:bodyPr>
          <a:p>
            <a:r>
              <a:rPr lang="en-US" altLang="zh-CN"/>
              <a:t>           </a:t>
            </a:r>
            <a:r>
              <a:rPr lang="en-US" altLang="zh-CN" sz="2000" b="1">
                <a:latin typeface="Times New Roman" panose="02020603050405020304" charset="0"/>
                <a:cs typeface="Times New Roman" panose="02020603050405020304" charset="0"/>
              </a:rPr>
              <a:t>   Larry Li                    Huican Zhu               Jack Smith                   Sue Xu</a:t>
            </a:r>
            <a:endParaRPr lang="en-US" altLang="zh-CN" sz="2000" b="1">
              <a:latin typeface="Times New Roman" panose="02020603050405020304" charset="0"/>
              <a:cs typeface="Times New Roman" panose="02020603050405020304" charset="0"/>
            </a:endParaRPr>
          </a:p>
        </p:txBody>
      </p:sp>
      <p:pic>
        <p:nvPicPr>
          <p:cNvPr id="23" name="图片 22"/>
          <p:cNvPicPr>
            <a:picLocks noChangeAspect="1"/>
          </p:cNvPicPr>
          <p:nvPr/>
        </p:nvPicPr>
        <p:blipFill>
          <a:blip r:embed="rId8"/>
          <a:stretch>
            <a:fillRect/>
          </a:stretch>
        </p:blipFill>
        <p:spPr>
          <a:xfrm>
            <a:off x="8003540" y="7327265"/>
            <a:ext cx="9372600" cy="23526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 74"/>
          <p:cNvSpPr/>
          <p:nvPr/>
        </p:nvSpPr>
        <p:spPr>
          <a:xfrm>
            <a:off x="0" y="0"/>
            <a:ext cx="17475200" cy="9753600"/>
          </a:xfrm>
          <a:prstGeom prst="rect">
            <a:avLst/>
          </a:prstGeom>
          <a:solidFill>
            <a:srgbClr val="F5F5EF">
              <a:alpha val="100000"/>
            </a:srgbClr>
          </a:solidFill>
          <a:ln w="0" cap="flat">
            <a:noFill/>
            <a:prstDash val="solid"/>
            <a:miter lim="0"/>
          </a:ln>
        </p:spPr>
        <p:txBody>
          <a:bodyPr rtlCol="0"/>
          <a:lstStyle/>
          <a:p>
            <a:pPr algn="ctr"/>
            <a:endParaRPr lang="zh-CN" altLang="en-US"/>
          </a:p>
        </p:txBody>
      </p:sp>
      <p:pic>
        <p:nvPicPr>
          <p:cNvPr id="76" name="picture 76"/>
          <p:cNvPicPr>
            <a:picLocks noChangeAspect="1"/>
          </p:cNvPicPr>
          <p:nvPr/>
        </p:nvPicPr>
        <p:blipFill>
          <a:blip r:embed="rId1"/>
          <a:stretch>
            <a:fillRect/>
          </a:stretch>
        </p:blipFill>
        <p:spPr>
          <a:xfrm rot="21600000">
            <a:off x="476256" y="1830662"/>
            <a:ext cx="7835880" cy="5410224"/>
          </a:xfrm>
          <a:prstGeom prst="rect">
            <a:avLst/>
          </a:prstGeom>
        </p:spPr>
      </p:pic>
      <p:sp>
        <p:nvSpPr>
          <p:cNvPr id="78" name="textbox 78"/>
          <p:cNvSpPr/>
          <p:nvPr/>
        </p:nvSpPr>
        <p:spPr>
          <a:xfrm>
            <a:off x="10299764" y="3770202"/>
            <a:ext cx="4533265" cy="3395345"/>
          </a:xfrm>
          <a:prstGeom prst="rect">
            <a:avLst/>
          </a:prstGeom>
          <a:noFill/>
          <a:ln w="0" cap="flat">
            <a:noFill/>
            <a:prstDash val="solid"/>
            <a:miter lim="0"/>
          </a:ln>
        </p:spPr>
        <p:txBody>
          <a:bodyPr vert="horz" wrap="square" lIns="0" tIns="0" rIns="0" bIns="0"/>
          <a:lstStyle/>
          <a:p>
            <a:pPr algn="l" rtl="0" eaLnBrk="0">
              <a:lnSpc>
                <a:spcPct val="63000"/>
              </a:lnSpc>
            </a:pPr>
            <a:endParaRPr sz="100" dirty="0">
              <a:latin typeface="Arial" panose="020B0604020202020204"/>
              <a:ea typeface="Arial" panose="020B0604020202020204"/>
              <a:cs typeface="Arial" panose="020B0604020202020204"/>
            </a:endParaRPr>
          </a:p>
          <a:p>
            <a:pPr algn="r" rtl="0" eaLnBrk="0">
              <a:lnSpc>
                <a:spcPct val="97000"/>
              </a:lnSpc>
            </a:pPr>
            <a:endParaRPr sz="4100" dirty="0">
              <a:latin typeface="黑体" panose="02010609060101010101" charset="-122"/>
              <a:ea typeface="黑体" panose="02010609060101010101" charset="-122"/>
              <a:cs typeface="黑体" panose="02010609060101010101" charset="-122"/>
            </a:endParaRPr>
          </a:p>
        </p:txBody>
      </p:sp>
      <p:sp>
        <p:nvSpPr>
          <p:cNvPr id="80" name="textbox 80"/>
          <p:cNvSpPr/>
          <p:nvPr/>
        </p:nvSpPr>
        <p:spPr>
          <a:xfrm>
            <a:off x="4803465" y="727894"/>
            <a:ext cx="7867015" cy="762634"/>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5100" dirty="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8737600" y="2738755"/>
            <a:ext cx="8106410" cy="3415030"/>
          </a:xfrm>
          <a:prstGeom prst="rect">
            <a:avLst/>
          </a:prstGeom>
          <a:noFill/>
        </p:spPr>
        <p:txBody>
          <a:bodyPr wrap="square" rtlCol="0">
            <a:spAutoFit/>
          </a:bodyPr>
          <a:p>
            <a:r>
              <a:rPr lang="en-US" altLang="zh-CN" sz="7200">
                <a:latin typeface="华文琥珀" panose="02010800040101010101" charset="-122"/>
                <a:ea typeface="华文琥珀" panose="02010800040101010101" charset="-122"/>
                <a:cs typeface="黑体" panose="02010609060101010101" charset="-122"/>
              </a:rPr>
              <a:t>01</a:t>
            </a:r>
            <a:endParaRPr lang="en-US" altLang="zh-CN" sz="7200">
              <a:latin typeface="华文琥珀" panose="02010800040101010101" charset="-122"/>
              <a:ea typeface="华文琥珀" panose="02010800040101010101" charset="-122"/>
              <a:cs typeface="黑体" panose="02010609060101010101" charset="-122"/>
            </a:endParaRPr>
          </a:p>
          <a:p>
            <a:r>
              <a:rPr lang="zh-CN" altLang="en-US" sz="7200">
                <a:latin typeface="华康行楷体 W5" panose="03000509000000000000" charset="-122"/>
                <a:ea typeface="华康行楷体 W5" panose="03000509000000000000" charset="-122"/>
                <a:cs typeface="黑体" panose="02010609060101010101" charset="-122"/>
              </a:rPr>
              <a:t>系统智能</a:t>
            </a:r>
            <a:endParaRPr lang="zh-CN" altLang="en-US" sz="7200">
              <a:latin typeface="黑体" panose="02010609060101010101" charset="-122"/>
              <a:ea typeface="黑体" panose="02010609060101010101" charset="-122"/>
              <a:cs typeface="黑体" panose="02010609060101010101" charset="-122"/>
            </a:endParaRPr>
          </a:p>
          <a:p>
            <a:r>
              <a:rPr lang="en-US" altLang="zh-CN" sz="7200">
                <a:latin typeface="Times New Roman" panose="02020603050405020304" charset="0"/>
                <a:ea typeface="黑体" panose="02010609060101010101" charset="-122"/>
                <a:cs typeface="Times New Roman" panose="02020603050405020304" charset="0"/>
              </a:rPr>
              <a:t>System Intelligence</a:t>
            </a:r>
            <a:endParaRPr lang="en-US" altLang="zh-CN" sz="7200">
              <a:latin typeface="Times New Roman" panose="02020603050405020304" charset="0"/>
              <a:ea typeface="黑体" panose="02010609060101010101" charset="-122"/>
              <a:cs typeface="Times New Roman" panose="02020603050405020304" charset="0"/>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 22"/>
          <p:cNvSpPr/>
          <p:nvPr/>
        </p:nvSpPr>
        <p:spPr>
          <a:xfrm>
            <a:off x="0" y="0"/>
            <a:ext cx="17475200" cy="9753600"/>
          </a:xfrm>
          <a:prstGeom prst="rect">
            <a:avLst/>
          </a:prstGeom>
          <a:solidFill>
            <a:srgbClr val="F5F2E7">
              <a:alpha val="100000"/>
            </a:srgbClr>
          </a:solidFill>
          <a:ln w="0" cap="flat">
            <a:noFill/>
            <a:prstDash val="solid"/>
            <a:miter lim="0"/>
          </a:ln>
        </p:spPr>
        <p:txBody>
          <a:bodyPr rtlCol="0"/>
          <a:lstStyle/>
          <a:p>
            <a:pPr algn="ctr"/>
            <a:endParaRPr lang="zh-CN" altLang="en-US"/>
          </a:p>
        </p:txBody>
      </p:sp>
      <p:pic>
        <p:nvPicPr>
          <p:cNvPr id="24" name="picture 24"/>
          <p:cNvPicPr>
            <a:picLocks noChangeAspect="1"/>
          </p:cNvPicPr>
          <p:nvPr/>
        </p:nvPicPr>
        <p:blipFill>
          <a:blip r:embed="rId1"/>
          <a:stretch>
            <a:fillRect/>
          </a:stretch>
        </p:blipFill>
        <p:spPr>
          <a:xfrm rot="21600000">
            <a:off x="12756" y="5410224"/>
            <a:ext cx="17449683" cy="3397178"/>
          </a:xfrm>
          <a:prstGeom prst="rect">
            <a:avLst/>
          </a:prstGeom>
        </p:spPr>
      </p:pic>
      <p:sp>
        <p:nvSpPr>
          <p:cNvPr id="26" name="textbox 26"/>
          <p:cNvSpPr/>
          <p:nvPr/>
        </p:nvSpPr>
        <p:spPr>
          <a:xfrm>
            <a:off x="1051301" y="1084581"/>
            <a:ext cx="13907135" cy="4269104"/>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2085340" algn="l" rtl="0" eaLnBrk="0">
              <a:lnSpc>
                <a:spcPct val="83000"/>
              </a:lnSpc>
              <a:spcBef>
                <a:spcPts val="1000"/>
              </a:spcBef>
            </a:pPr>
            <a:endParaRPr sz="5000" baseline="7000" dirty="0">
              <a:latin typeface="Arial" panose="020B0604020202020204"/>
              <a:ea typeface="Arial" panose="020B0604020202020204"/>
              <a:cs typeface="Arial" panose="020B0604020202020204"/>
            </a:endParaRPr>
          </a:p>
        </p:txBody>
      </p:sp>
      <p:sp>
        <p:nvSpPr>
          <p:cNvPr id="28" name="textbox 28"/>
          <p:cNvSpPr/>
          <p:nvPr/>
        </p:nvSpPr>
        <p:spPr>
          <a:xfrm>
            <a:off x="16097336" y="9481038"/>
            <a:ext cx="1263650" cy="189864"/>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3000"/>
              </a:lnSpc>
            </a:pPr>
            <a:endParaRPr sz="1300" dirty="0">
              <a:latin typeface="Arial" panose="020B0604020202020204"/>
              <a:ea typeface="Arial" panose="020B0604020202020204"/>
              <a:cs typeface="Arial" panose="020B0604020202020204"/>
            </a:endParaRPr>
          </a:p>
        </p:txBody>
      </p:sp>
      <p:sp>
        <p:nvSpPr>
          <p:cNvPr id="2" name="文本框 1"/>
          <p:cNvSpPr txBox="1"/>
          <p:nvPr/>
        </p:nvSpPr>
        <p:spPr>
          <a:xfrm>
            <a:off x="1565910" y="2727325"/>
            <a:ext cx="5098415" cy="1445260"/>
          </a:xfrm>
          <a:prstGeom prst="rect">
            <a:avLst/>
          </a:prstGeom>
          <a:noFill/>
        </p:spPr>
        <p:txBody>
          <a:bodyPr wrap="square" rtlCol="0">
            <a:spAutoFit/>
          </a:bodyPr>
          <a:p>
            <a:r>
              <a:rPr lang="zh-CN" altLang="en-US" sz="8800">
                <a:latin typeface="华康行楷体 W5" panose="03000509000000000000" charset="-122"/>
                <a:ea typeface="华康行楷体 W5" panose="03000509000000000000" charset="-122"/>
                <a:cs typeface="华康行楷体 W5" panose="03000509000000000000" charset="-122"/>
              </a:rPr>
              <a:t>垂直</a:t>
            </a:r>
            <a:r>
              <a:rPr lang="en-US" altLang="zh-CN" sz="8800">
                <a:latin typeface="华康行楷体 W5" panose="03000509000000000000" charset="-122"/>
                <a:ea typeface="华康行楷体 W5" panose="03000509000000000000" charset="-122"/>
                <a:cs typeface="华康行楷体 W5" panose="03000509000000000000" charset="-122"/>
              </a:rPr>
              <a:t>AI</a:t>
            </a:r>
            <a:endParaRPr lang="en-US" altLang="zh-CN" sz="8800">
              <a:latin typeface="华康行楷体 W5" panose="03000509000000000000" charset="-122"/>
              <a:ea typeface="华康行楷体 W5" panose="03000509000000000000" charset="-122"/>
              <a:cs typeface="华康行楷体 W5" panose="03000509000000000000" charset="-122"/>
            </a:endParaRPr>
          </a:p>
        </p:txBody>
      </p:sp>
      <p:sp>
        <p:nvSpPr>
          <p:cNvPr id="3" name="文本框 2"/>
          <p:cNvSpPr txBox="1"/>
          <p:nvPr/>
        </p:nvSpPr>
        <p:spPr>
          <a:xfrm>
            <a:off x="5443220" y="1327150"/>
            <a:ext cx="6589395" cy="3784600"/>
          </a:xfrm>
          <a:prstGeom prst="rect">
            <a:avLst/>
          </a:prstGeom>
          <a:noFill/>
        </p:spPr>
        <p:txBody>
          <a:bodyPr wrap="square" rtlCol="0">
            <a:spAutoFit/>
          </a:bodyPr>
          <a:p>
            <a:pPr algn="ctr"/>
            <a:r>
              <a:rPr lang="en-US" altLang="zh-CN" sz="8000">
                <a:latin typeface="华康行楷体 W5" panose="03000509000000000000" charset="-122"/>
                <a:ea typeface="华康行楷体 W5" panose="03000509000000000000" charset="-122"/>
                <a:cs typeface="华康行楷体 W5" panose="03000509000000000000" charset="-122"/>
              </a:rPr>
              <a:t>“</a:t>
            </a:r>
            <a:r>
              <a:rPr lang="zh-CN" altLang="en-US" sz="8000">
                <a:latin typeface="华康行楷体 W5" panose="03000509000000000000" charset="-122"/>
                <a:ea typeface="华康行楷体 W5" panose="03000509000000000000" charset="-122"/>
                <a:cs typeface="华康行楷体 W5" panose="03000509000000000000" charset="-122"/>
              </a:rPr>
              <a:t>服务即软件</a:t>
            </a:r>
            <a:r>
              <a:rPr lang="en-US" altLang="zh-CN" sz="8000">
                <a:latin typeface="华康行楷体 W5" panose="03000509000000000000" charset="-122"/>
                <a:ea typeface="华康行楷体 W5" panose="03000509000000000000" charset="-122"/>
                <a:cs typeface="华康行楷体 W5" panose="03000509000000000000" charset="-122"/>
              </a:rPr>
              <a:t>”</a:t>
            </a:r>
            <a:endParaRPr lang="en-US" altLang="zh-CN" sz="8000">
              <a:latin typeface="华康行楷体 W5" panose="03000509000000000000" charset="-122"/>
              <a:ea typeface="华康行楷体 W5" panose="03000509000000000000" charset="-122"/>
              <a:cs typeface="华康行楷体 W5" panose="03000509000000000000" charset="-122"/>
            </a:endParaRPr>
          </a:p>
          <a:p>
            <a:pPr algn="ctr"/>
            <a:r>
              <a:rPr lang="zh-CN" altLang="en-US" sz="8000">
                <a:latin typeface="华康行楷体 W5" panose="03000509000000000000" charset="-122"/>
                <a:ea typeface="华康行楷体 W5" panose="03000509000000000000" charset="-122"/>
                <a:cs typeface="华康行楷体 W5" panose="03000509000000000000" charset="-122"/>
              </a:rPr>
              <a:t>不只是</a:t>
            </a:r>
            <a:endParaRPr lang="zh-CN" altLang="en-US" sz="8000">
              <a:latin typeface="华康行楷体 W5" panose="03000509000000000000" charset="-122"/>
              <a:ea typeface="华康行楷体 W5" panose="03000509000000000000" charset="-122"/>
              <a:cs typeface="华康行楷体 W5" panose="03000509000000000000" charset="-122"/>
            </a:endParaRPr>
          </a:p>
          <a:p>
            <a:pPr algn="ctr"/>
            <a:r>
              <a:rPr lang="zh-CN" altLang="en-US" sz="8000">
                <a:latin typeface="华康行楷体 W5" panose="03000509000000000000" charset="-122"/>
                <a:ea typeface="华康行楷体 W5" panose="03000509000000000000" charset="-122"/>
                <a:cs typeface="华康行楷体 W5" panose="03000509000000000000" charset="-122"/>
              </a:rPr>
              <a:t>协助用户</a:t>
            </a:r>
            <a:endParaRPr lang="zh-CN" altLang="en-US" sz="8000">
              <a:latin typeface="华康行楷体 W5" panose="03000509000000000000" charset="-122"/>
              <a:ea typeface="华康行楷体 W5" panose="03000509000000000000" charset="-122"/>
              <a:cs typeface="华康行楷体 W5" panose="03000509000000000000" charset="-122"/>
            </a:endParaRPr>
          </a:p>
        </p:txBody>
      </p:sp>
      <p:sp>
        <p:nvSpPr>
          <p:cNvPr id="4" name="文本框 3"/>
          <p:cNvSpPr txBox="1"/>
          <p:nvPr/>
        </p:nvSpPr>
        <p:spPr>
          <a:xfrm>
            <a:off x="12260580" y="1327150"/>
            <a:ext cx="4404360" cy="3784600"/>
          </a:xfrm>
          <a:prstGeom prst="rect">
            <a:avLst/>
          </a:prstGeom>
          <a:noFill/>
        </p:spPr>
        <p:txBody>
          <a:bodyPr wrap="square" rtlCol="0">
            <a:spAutoFit/>
          </a:bodyPr>
          <a:p>
            <a:pPr lvl="0" algn="ctr">
              <a:buClrTx/>
              <a:buSzTx/>
              <a:buFontTx/>
            </a:pPr>
            <a:r>
              <a:rPr lang="zh-CN" altLang="en-US" sz="8000">
                <a:latin typeface="华康行楷体 W5" panose="03000509000000000000" charset="-122"/>
                <a:ea typeface="华康行楷体 W5" panose="03000509000000000000" charset="-122"/>
                <a:cs typeface="华康行楷体 W5" panose="03000509000000000000" charset="-122"/>
                <a:sym typeface="+mn-ea"/>
              </a:rPr>
              <a:t>对结果</a:t>
            </a:r>
            <a:endParaRPr lang="zh-CN" altLang="en-US" sz="8000">
              <a:latin typeface="华康行楷体 W5" panose="03000509000000000000" charset="-122"/>
              <a:ea typeface="华康行楷体 W5" panose="03000509000000000000" charset="-122"/>
              <a:cs typeface="华康行楷体 W5" panose="03000509000000000000" charset="-122"/>
              <a:sym typeface="+mn-ea"/>
            </a:endParaRPr>
          </a:p>
          <a:p>
            <a:pPr lvl="0" algn="ctr">
              <a:buClrTx/>
              <a:buSzTx/>
              <a:buFontTx/>
            </a:pPr>
            <a:r>
              <a:rPr lang="zh-CN" altLang="en-US" sz="8000">
                <a:latin typeface="华康行楷体 W5" panose="03000509000000000000" charset="-122"/>
                <a:ea typeface="华康行楷体 W5" panose="03000509000000000000" charset="-122"/>
                <a:cs typeface="华康行楷体 W5" panose="03000509000000000000" charset="-122"/>
                <a:sym typeface="+mn-ea"/>
              </a:rPr>
              <a:t>负责的</a:t>
            </a:r>
            <a:endParaRPr lang="zh-CN" altLang="en-US" sz="8000">
              <a:latin typeface="华康行楷体 W5" panose="03000509000000000000" charset="-122"/>
              <a:ea typeface="华康行楷体 W5" panose="03000509000000000000" charset="-122"/>
              <a:cs typeface="华康行楷体 W5" panose="03000509000000000000" charset="-122"/>
              <a:sym typeface="+mn-ea"/>
            </a:endParaRPr>
          </a:p>
          <a:p>
            <a:pPr lvl="0" algn="ctr">
              <a:buClrTx/>
              <a:buSzTx/>
              <a:buFontTx/>
            </a:pPr>
            <a:r>
              <a:rPr lang="zh-CN" altLang="en-US" sz="8000">
                <a:latin typeface="华康行楷体 W5" panose="03000509000000000000" charset="-122"/>
                <a:ea typeface="华康行楷体 W5" panose="03000509000000000000" charset="-122"/>
                <a:cs typeface="华康行楷体 W5" panose="03000509000000000000" charset="-122"/>
                <a:sym typeface="+mn-ea"/>
              </a:rPr>
              <a:t>全</a:t>
            </a:r>
            <a:r>
              <a:rPr lang="zh-CN" altLang="en-US" sz="8000">
                <a:latin typeface="华康行楷体 W5" panose="03000509000000000000" charset="-122"/>
                <a:ea typeface="华康行楷体 W5" panose="03000509000000000000" charset="-122"/>
                <a:cs typeface="华康行楷体 W5" panose="03000509000000000000" charset="-122"/>
                <a:sym typeface="+mn-ea"/>
              </a:rPr>
              <a:t>栈</a:t>
            </a:r>
            <a:r>
              <a:rPr lang="zh-CN" altLang="en-US" sz="8000">
                <a:latin typeface="华康行楷体 W5" panose="03000509000000000000" charset="-122"/>
                <a:ea typeface="华康行楷体 W5" panose="03000509000000000000" charset="-122"/>
                <a:cs typeface="华康行楷体 W5" panose="03000509000000000000" charset="-122"/>
                <a:sym typeface="+mn-ea"/>
              </a:rPr>
              <a:t>平台</a:t>
            </a:r>
            <a:endParaRPr lang="zh-CN" altLang="en-US" sz="8000">
              <a:latin typeface="华康行楷体 W5" panose="03000509000000000000" charset="-122"/>
              <a:ea typeface="华康行楷体 W5" panose="03000509000000000000" charset="-122"/>
              <a:cs typeface="华康行楷体 W5" panose="03000509000000000000" charset="-122"/>
              <a:sym typeface="+mn-ea"/>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2" name="图片 1"/>
          <p:cNvPicPr/>
          <p:nvPr/>
        </p:nvPicPr>
        <p:blipFill>
          <a:blip r:embed="rId2"/>
          <a:stretch>
            <a:fillRect/>
          </a:stretch>
        </p:blipFill>
        <p:spPr>
          <a:xfrm>
            <a:off x="370840" y="254635"/>
            <a:ext cx="1524000" cy="1524000"/>
          </a:xfrm>
          <a:prstGeom prst="rect">
            <a:avLst/>
          </a:prstGeom>
        </p:spPr>
      </p:pic>
      <p:pic>
        <p:nvPicPr>
          <p:cNvPr id="10" name="图片 9" descr="新进logo"/>
          <p:cNvPicPr>
            <a:picLocks noChangeAspect="1"/>
          </p:cNvPicPr>
          <p:nvPr/>
        </p:nvPicPr>
        <p:blipFill>
          <a:blip r:embed="rId3"/>
          <a:stretch>
            <a:fillRect/>
          </a:stretch>
        </p:blipFill>
        <p:spPr>
          <a:xfrm>
            <a:off x="14433550" y="150495"/>
            <a:ext cx="2764800" cy="1005967"/>
          </a:xfrm>
          <a:prstGeom prst="rect">
            <a:avLst/>
          </a:prstGeom>
        </p:spPr>
      </p:pic>
      <p:sp>
        <p:nvSpPr>
          <p:cNvPr id="3" name="文本框 2"/>
          <p:cNvSpPr txBox="1"/>
          <p:nvPr/>
        </p:nvSpPr>
        <p:spPr>
          <a:xfrm>
            <a:off x="2409825" y="652145"/>
            <a:ext cx="6061075" cy="645160"/>
          </a:xfrm>
          <a:prstGeom prst="rect">
            <a:avLst/>
          </a:prstGeom>
          <a:noFill/>
        </p:spPr>
        <p:txBody>
          <a:bodyPr wrap="square" rtlCol="0">
            <a:spAutoFit/>
          </a:bodyPr>
          <a:p>
            <a:r>
              <a:rPr lang="en-US" altLang="zh-CN" sz="3600">
                <a:latin typeface="Times New Roman" panose="02020603050405020304" charset="0"/>
                <a:ea typeface="华康行楷体 W5" panose="03000509000000000000" charset="-122"/>
                <a:cs typeface="Times New Roman" panose="02020603050405020304" charset="0"/>
              </a:rPr>
              <a:t>Turing</a:t>
            </a:r>
            <a:r>
              <a:rPr lang="en-US" altLang="zh-CN"/>
              <a:t>  </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990975" y="77533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$500M                    $2.2BN                                          </a:t>
            </a:r>
            <a:endParaRPr lang="en-US" altLang="zh-CN" sz="2800">
              <a:latin typeface="Times New Roman" panose="02020603050405020304" charset="0"/>
              <a:ea typeface="宋体" panose="02010600030101010101" pitchFamily="2" charset="-122"/>
              <a:cs typeface="Times New Roman" panose="02020603050405020304" charset="0"/>
            </a:endParaRPr>
          </a:p>
        </p:txBody>
      </p:sp>
      <p:pic>
        <p:nvPicPr>
          <p:cNvPr id="7" name="图片 6" descr="图片2"/>
          <p:cNvPicPr>
            <a:picLocks noChangeAspect="1"/>
          </p:cNvPicPr>
          <p:nvPr/>
        </p:nvPicPr>
        <p:blipFill>
          <a:blip r:embed="rId4"/>
          <a:stretch>
            <a:fillRect/>
          </a:stretch>
        </p:blipFill>
        <p:spPr>
          <a:xfrm>
            <a:off x="5347970" y="768350"/>
            <a:ext cx="1064260" cy="528955"/>
          </a:xfrm>
          <a:prstGeom prst="rect">
            <a:avLst/>
          </a:prstGeom>
        </p:spPr>
      </p:pic>
      <p:sp>
        <p:nvSpPr>
          <p:cNvPr id="8" name="文本框 7"/>
          <p:cNvSpPr txBox="1"/>
          <p:nvPr/>
        </p:nvSpPr>
        <p:spPr>
          <a:xfrm>
            <a:off x="4066540" y="1297305"/>
            <a:ext cx="4166870" cy="398780"/>
          </a:xfrm>
          <a:prstGeom prst="rect">
            <a:avLst/>
          </a:prstGeom>
          <a:noFill/>
        </p:spPr>
        <p:txBody>
          <a:bodyPr wrap="square" rtlCol="0">
            <a:spAutoFit/>
          </a:bodyPr>
          <a:p>
            <a:r>
              <a:rPr lang="en-US" altLang="zh-CN" sz="2000">
                <a:latin typeface="华文楷体" panose="02010600040101010101" charset="-122"/>
                <a:ea typeface="华文楷体" panose="02010600040101010101" charset="-122"/>
                <a:cs typeface="华文楷体" panose="02010600040101010101" charset="-122"/>
              </a:rPr>
              <a:t>2022.9</a:t>
            </a:r>
            <a:r>
              <a:rPr lang="zh-CN" altLang="en-US" sz="2000">
                <a:latin typeface="华文楷体" panose="02010600040101010101" charset="-122"/>
                <a:ea typeface="华文楷体" panose="02010600040101010101" charset="-122"/>
                <a:cs typeface="华文楷体" panose="02010600040101010101" charset="-122"/>
              </a:rPr>
              <a:t>，</a:t>
            </a:r>
            <a:r>
              <a:rPr lang="en-US" altLang="zh-CN" sz="2000">
                <a:latin typeface="华文楷体" panose="02010600040101010101" charset="-122"/>
                <a:ea typeface="华文楷体" panose="02010600040101010101" charset="-122"/>
                <a:cs typeface="华文楷体" panose="02010600040101010101" charset="-122"/>
              </a:rPr>
              <a:t>B</a:t>
            </a:r>
            <a:r>
              <a:rPr lang="zh-CN" altLang="en-US" sz="2000">
                <a:latin typeface="华文楷体" panose="02010600040101010101" charset="-122"/>
                <a:ea typeface="华文楷体" panose="02010600040101010101" charset="-122"/>
                <a:cs typeface="华文楷体" panose="02010600040101010101" charset="-122"/>
              </a:rPr>
              <a:t>轮</a:t>
            </a:r>
            <a:r>
              <a:rPr lang="en-US" altLang="zh-CN" sz="2000">
                <a:latin typeface="华文楷体" panose="02010600040101010101" charset="-122"/>
                <a:ea typeface="华文楷体" panose="02010600040101010101" charset="-122"/>
                <a:cs typeface="华文楷体" panose="02010600040101010101" charset="-122"/>
              </a:rPr>
              <a:t>                    2025.3</a:t>
            </a:r>
            <a:r>
              <a:rPr lang="zh-CN" altLang="en-US" sz="2000">
                <a:latin typeface="华文楷体" panose="02010600040101010101" charset="-122"/>
                <a:ea typeface="华文楷体" panose="02010600040101010101" charset="-122"/>
                <a:cs typeface="华文楷体" panose="02010600040101010101" charset="-122"/>
              </a:rPr>
              <a:t>，</a:t>
            </a:r>
            <a:r>
              <a:rPr lang="en-US" altLang="zh-CN" sz="2000">
                <a:latin typeface="华文楷体" panose="02010600040101010101" charset="-122"/>
                <a:ea typeface="华文楷体" panose="02010600040101010101" charset="-122"/>
                <a:cs typeface="华文楷体" panose="02010600040101010101" charset="-122"/>
              </a:rPr>
              <a:t>E</a:t>
            </a:r>
            <a:r>
              <a:rPr lang="zh-CN" altLang="en-US" sz="2000">
                <a:latin typeface="华文楷体" panose="02010600040101010101" charset="-122"/>
                <a:ea typeface="华文楷体" panose="02010600040101010101" charset="-122"/>
                <a:cs typeface="华文楷体" panose="02010600040101010101" charset="-122"/>
              </a:rPr>
              <a:t>轮</a:t>
            </a:r>
            <a:endParaRPr lang="zh-CN" altLang="en-US" sz="2000">
              <a:latin typeface="华文楷体" panose="02010600040101010101" charset="-122"/>
              <a:ea typeface="华文楷体" panose="02010600040101010101" charset="-122"/>
              <a:cs typeface="华文楷体" panose="02010600040101010101" charset="-122"/>
            </a:endParaRPr>
          </a:p>
        </p:txBody>
      </p:sp>
      <p:sp>
        <p:nvSpPr>
          <p:cNvPr id="9" name="文本框 8"/>
          <p:cNvSpPr txBox="1"/>
          <p:nvPr/>
        </p:nvSpPr>
        <p:spPr>
          <a:xfrm>
            <a:off x="310515" y="2089150"/>
            <a:ext cx="7760335" cy="526224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·Turing </a:t>
            </a:r>
            <a:r>
              <a:rPr lang="zh-CN" altLang="en-US" sz="2800">
                <a:latin typeface="华文楷体" panose="02010600040101010101" charset="-122"/>
                <a:ea typeface="华文楷体" panose="02010600040101010101" charset="-122"/>
              </a:rPr>
              <a:t>是一家面向前沿</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的全栈平台型公司，一方面与顶级</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实验室合作，通过数据、强化学习和评测体系提升大模型能力；另一方面将这些能力转化为可落地的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系统，服务大型企业和政府的关键业务场景。</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“Training Superintelligence”</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“The Research Accelerator for AI Labs and the Proprietary Intelligence Partner for Enterprises”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其他信息：福布斯</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美国最佳初创雇主</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The Information</a:t>
            </a:r>
            <a:r>
              <a:rPr lang="zh-CN" altLang="en-US" sz="2800">
                <a:latin typeface="华文楷体" panose="02010600040101010101" charset="-122"/>
                <a:ea typeface="华文楷体" panose="02010600040101010101" charset="-122"/>
              </a:rPr>
              <a:t>榜单</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最具潜力</a:t>
            </a:r>
            <a:r>
              <a:rPr lang="en-US" altLang="zh-CN" sz="2800">
                <a:latin typeface="华文楷体" panose="02010600040101010101" charset="-122"/>
                <a:ea typeface="华文楷体" panose="02010600040101010101" charset="-122"/>
              </a:rPr>
              <a:t>B2B</a:t>
            </a:r>
            <a:r>
              <a:rPr lang="zh-CN" altLang="en-US" sz="2800">
                <a:latin typeface="华文楷体" panose="02010600040101010101" charset="-122"/>
                <a:ea typeface="华文楷体" panose="02010600040101010101" charset="-122"/>
              </a:rPr>
              <a:t>公司第</a:t>
            </a:r>
            <a:r>
              <a:rPr lang="en-US" altLang="zh-CN" sz="2800">
                <a:latin typeface="华文楷体" panose="02010600040101010101" charset="-122"/>
                <a:ea typeface="华文楷体" panose="02010600040101010101" charset="-122"/>
              </a:rPr>
              <a:t>1</a:t>
            </a:r>
            <a:r>
              <a:rPr lang="zh-CN" altLang="en-US" sz="2800">
                <a:latin typeface="华文楷体" panose="02010600040101010101" charset="-122"/>
                <a:ea typeface="华文楷体" panose="02010600040101010101" charset="-122"/>
              </a:rPr>
              <a:t>名；</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pic>
        <p:nvPicPr>
          <p:cNvPr id="11" name="图片 10"/>
          <p:cNvPicPr>
            <a:picLocks noChangeAspect="1"/>
          </p:cNvPicPr>
          <p:nvPr/>
        </p:nvPicPr>
        <p:blipFill>
          <a:blip r:embed="rId5"/>
          <a:stretch>
            <a:fillRect/>
          </a:stretch>
        </p:blipFill>
        <p:spPr>
          <a:xfrm>
            <a:off x="8976360" y="3283585"/>
            <a:ext cx="8045450" cy="4187190"/>
          </a:xfrm>
          <a:prstGeom prst="rect">
            <a:avLst/>
          </a:prstGeom>
        </p:spPr>
      </p:pic>
      <p:pic>
        <p:nvPicPr>
          <p:cNvPr id="12" name="图片 11"/>
          <p:cNvPicPr/>
          <p:nvPr/>
        </p:nvPicPr>
        <p:blipFill>
          <a:blip r:embed="rId6"/>
          <a:stretch>
            <a:fillRect/>
          </a:stretch>
        </p:blipFill>
        <p:spPr>
          <a:xfrm>
            <a:off x="825500" y="6824345"/>
            <a:ext cx="1584325" cy="1882775"/>
          </a:xfrm>
          <a:prstGeom prst="rect">
            <a:avLst/>
          </a:prstGeom>
        </p:spPr>
      </p:pic>
      <p:sp>
        <p:nvSpPr>
          <p:cNvPr id="13" name="文本框 12"/>
          <p:cNvSpPr txBox="1"/>
          <p:nvPr/>
        </p:nvSpPr>
        <p:spPr>
          <a:xfrm>
            <a:off x="541020" y="8837295"/>
            <a:ext cx="2153920" cy="706755"/>
          </a:xfrm>
          <a:prstGeom prst="rect">
            <a:avLst/>
          </a:prstGeom>
          <a:noFill/>
        </p:spPr>
        <p:txBody>
          <a:bodyPr wrap="square" rtlCol="0">
            <a:spAutoFit/>
          </a:bodyPr>
          <a:p>
            <a:pPr algn="ctr"/>
            <a:r>
              <a:rPr lang="en-US" altLang="zh-CN" sz="2000">
                <a:latin typeface="Times New Roman" panose="02020603050405020304" charset="0"/>
                <a:cs typeface="Times New Roman" panose="02020603050405020304" charset="0"/>
              </a:rPr>
              <a:t>Jonathan Siddharth              </a:t>
            </a:r>
            <a:endParaRPr lang="en-US" altLang="zh-CN" sz="2000">
              <a:latin typeface="Times New Roman" panose="02020603050405020304" charset="0"/>
              <a:cs typeface="Times New Roman" panose="02020603050405020304" charset="0"/>
            </a:endParaRPr>
          </a:p>
          <a:p>
            <a:pPr algn="ctr"/>
            <a:r>
              <a:rPr lang="en-US" altLang="zh-CN" sz="2000">
                <a:latin typeface="Times New Roman" panose="02020603050405020304" charset="0"/>
                <a:cs typeface="Times New Roman" panose="02020603050405020304" charset="0"/>
              </a:rPr>
              <a:t> Founder and CEO</a:t>
            </a:r>
            <a:endParaRPr lang="en-US" altLang="zh-CN" sz="2000">
              <a:latin typeface="Times New Roman" panose="02020603050405020304" charset="0"/>
              <a:cs typeface="Times New Roman" panose="02020603050405020304" charset="0"/>
            </a:endParaRPr>
          </a:p>
        </p:txBody>
      </p:sp>
      <p:pic>
        <p:nvPicPr>
          <p:cNvPr id="14" name="图片 13"/>
          <p:cNvPicPr/>
          <p:nvPr/>
        </p:nvPicPr>
        <p:blipFill>
          <a:blip r:embed="rId7"/>
          <a:stretch>
            <a:fillRect/>
          </a:stretch>
        </p:blipFill>
        <p:spPr>
          <a:xfrm>
            <a:off x="3388995" y="6824345"/>
            <a:ext cx="1602740" cy="1882775"/>
          </a:xfrm>
          <a:prstGeom prst="rect">
            <a:avLst/>
          </a:prstGeom>
        </p:spPr>
      </p:pic>
      <p:sp>
        <p:nvSpPr>
          <p:cNvPr id="15" name="文本框 14"/>
          <p:cNvSpPr txBox="1"/>
          <p:nvPr/>
        </p:nvSpPr>
        <p:spPr>
          <a:xfrm>
            <a:off x="3037840" y="8837295"/>
            <a:ext cx="2164715"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Vijay Krishnan</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Founder and CTO</a:t>
            </a:r>
            <a:endParaRPr lang="en-US" altLang="zh-CN" sz="2000">
              <a:latin typeface="Times New Roman" panose="02020603050405020304" charset="0"/>
              <a:cs typeface="Times New Roman" panose="02020603050405020304" charset="0"/>
            </a:endParaRPr>
          </a:p>
        </p:txBody>
      </p:sp>
      <p:pic>
        <p:nvPicPr>
          <p:cNvPr id="16" name="图片 15"/>
          <p:cNvPicPr/>
          <p:nvPr/>
        </p:nvPicPr>
        <p:blipFill>
          <a:blip r:embed="rId8"/>
          <a:stretch>
            <a:fillRect/>
          </a:stretch>
        </p:blipFill>
        <p:spPr>
          <a:xfrm>
            <a:off x="5948045" y="6824345"/>
            <a:ext cx="1612900" cy="1882775"/>
          </a:xfrm>
          <a:prstGeom prst="rect">
            <a:avLst/>
          </a:prstGeom>
        </p:spPr>
      </p:pic>
      <p:sp>
        <p:nvSpPr>
          <p:cNvPr id="17" name="文本框 16"/>
          <p:cNvSpPr txBox="1"/>
          <p:nvPr/>
        </p:nvSpPr>
        <p:spPr>
          <a:xfrm>
            <a:off x="5592445" y="8837295"/>
            <a:ext cx="2478405" cy="1014730"/>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Sudarshan Sivaraman</a:t>
            </a:r>
            <a:endParaRPr lang="en-US" altLang="zh-CN" sz="2000">
              <a:latin typeface="Times New Roman" panose="02020603050405020304" charset="0"/>
              <a:cs typeface="Times New Roman" panose="02020603050405020304" charset="0"/>
            </a:endParaRPr>
          </a:p>
          <a:p>
            <a:pPr algn="ctr"/>
            <a:r>
              <a:rPr lang="en-US" altLang="zh-CN" sz="2000">
                <a:latin typeface="Times New Roman" panose="02020603050405020304" charset="0"/>
                <a:cs typeface="Times New Roman" panose="02020603050405020304" charset="0"/>
              </a:rPr>
              <a:t>   Head of Customer       Success - Sales</a:t>
            </a:r>
            <a:endParaRPr lang="en-US" altLang="zh-CN" sz="2000">
              <a:latin typeface="Times New Roman" panose="02020603050405020304" charset="0"/>
              <a:cs typeface="Times New Roman" panose="02020603050405020304" charset="0"/>
            </a:endParaRPr>
          </a:p>
        </p:txBody>
      </p:sp>
      <p:sp>
        <p:nvSpPr>
          <p:cNvPr id="18" name="文本框 17"/>
          <p:cNvSpPr txBox="1"/>
          <p:nvPr/>
        </p:nvSpPr>
        <p:spPr>
          <a:xfrm>
            <a:off x="8833485" y="189865"/>
            <a:ext cx="8474710"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E</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altLang="zh-CN" sz="2800">
                <a:latin typeface="华文楷体" panose="02010600040101010101" charset="-122"/>
                <a:ea typeface="华文楷体" panose="02010600040101010101" charset="-122"/>
              </a:rPr>
              <a:t>Khazanah Nasional</a:t>
            </a:r>
            <a:r>
              <a:rPr lang="zh-CN" altLang="en-US" sz="2800">
                <a:latin typeface="华文楷体" panose="02010600040101010101" charset="-122"/>
                <a:ea typeface="华文楷体" panose="02010600040101010101" charset="-122"/>
              </a:rPr>
              <a:t>（马来西亚主权基金，偏向长周期、</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Menlo Ventures</a:t>
            </a:r>
            <a:r>
              <a:rPr lang="zh-CN" altLang="en-US" sz="2800">
                <a:latin typeface="华文楷体" panose="02010600040101010101" charset="-122"/>
                <a:ea typeface="华文楷体" panose="02010600040101010101" charset="-122"/>
              </a:rPr>
              <a:t>（偏向平台型公司、</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基础设施）、</a:t>
            </a:r>
            <a:r>
              <a:rPr lang="en-US" altLang="zh-CN" sz="2800">
                <a:latin typeface="华文楷体" panose="02010600040101010101" charset="-122"/>
                <a:ea typeface="华文楷体" panose="02010600040101010101" charset="-122"/>
              </a:rPr>
              <a:t>Plug and Play</a:t>
            </a:r>
            <a:r>
              <a:rPr lang="zh-CN" altLang="en-US" sz="2800">
                <a:latin typeface="华文楷体" panose="02010600040101010101" charset="-122"/>
                <a:ea typeface="华文楷体" panose="02010600040101010101" charset="-122"/>
              </a:rPr>
              <a:t>（偏向研究的企业级落地）、</a:t>
            </a:r>
            <a:r>
              <a:rPr lang="en-US" altLang="zh-CN" sz="2800">
                <a:latin typeface="华文楷体" panose="02010600040101010101" charset="-122"/>
                <a:ea typeface="华文楷体" panose="02010600040101010101" charset="-122"/>
              </a:rPr>
              <a:t>Gaingels</a:t>
            </a:r>
            <a:r>
              <a:rPr lang="zh-CN" altLang="en-US" sz="2800">
                <a:latin typeface="华文楷体" panose="02010600040101010101" charset="-122"/>
                <a:ea typeface="华文楷体" panose="02010600040101010101" charset="-122"/>
              </a:rPr>
              <a:t>（品牌型基金，常出现于高质量后期轮次）</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46210" y="7637145"/>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·Turing </a:t>
            </a:r>
            <a:r>
              <a:rPr lang="zh-CN" altLang="en-US" sz="2800">
                <a:latin typeface="华文楷体" panose="02010600040101010101" charset="-122"/>
                <a:ea typeface="华文楷体" panose="02010600040101010101" charset="-122"/>
              </a:rPr>
              <a:t>属于</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高增长公司</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阵营</a:t>
            </a:r>
            <a:endParaRPr lang="zh-CN" altLang="en-US" sz="2800">
              <a:latin typeface="华文楷体" panose="02010600040101010101" charset="-122"/>
              <a:ea typeface="华文楷体" panose="02010600040101010101" charset="-122"/>
            </a:endParaRPr>
          </a:p>
          <a:p>
            <a:pPr marL="457200" lvl="1" indent="0">
              <a:buNone/>
            </a:pP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与同类前沿</a:t>
            </a:r>
            <a:r>
              <a:rPr lang="en-US" altLang="zh-CN" sz="2800">
                <a:solidFill>
                  <a:schemeClr val="tx1"/>
                </a:solidFill>
                <a:latin typeface="华文楷体" panose="02010600040101010101" charset="-122"/>
                <a:ea typeface="华文楷体" panose="02010600040101010101" charset="-122"/>
              </a:rPr>
              <a:t> AI </a:t>
            </a:r>
            <a:r>
              <a:rPr lang="zh-CN" altLang="en-US" sz="2800">
                <a:solidFill>
                  <a:schemeClr val="tx1"/>
                </a:solidFill>
                <a:latin typeface="华文楷体" panose="02010600040101010101" charset="-122"/>
                <a:ea typeface="华文楷体" panose="02010600040101010101" charset="-122"/>
              </a:rPr>
              <a:t>公司处在同一竞争层级</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与</a:t>
            </a:r>
            <a:r>
              <a:rPr lang="en-US" altLang="zh-CN" sz="2800">
                <a:solidFill>
                  <a:schemeClr val="tx1"/>
                </a:solidFill>
                <a:latin typeface="华文楷体" panose="02010600040101010101" charset="-122"/>
                <a:ea typeface="华文楷体" panose="02010600040101010101" charset="-122"/>
              </a:rPr>
              <a:t> NVIDIA </a:t>
            </a:r>
            <a:r>
              <a:rPr lang="zh-CN" altLang="en-US" sz="2800">
                <a:solidFill>
                  <a:schemeClr val="tx1"/>
                </a:solidFill>
                <a:latin typeface="华文楷体" panose="02010600040101010101" charset="-122"/>
                <a:ea typeface="华文楷体" panose="02010600040101010101" charset="-122"/>
              </a:rPr>
              <a:t>等成熟巨头形成清晰对比</a:t>
            </a:r>
            <a:endParaRPr lang="zh-CN" altLang="en-US" sz="2800">
              <a:solidFill>
                <a:schemeClr val="tx1"/>
              </a:solidFill>
              <a:latin typeface="华文楷体" panose="02010600040101010101" charset="-122"/>
              <a:ea typeface="华文楷体" panose="0201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47240" y="768350"/>
            <a:ext cx="606107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Ember Copilot</a:t>
            </a:r>
            <a:r>
              <a:rPr lang="en-US" altLang="zh-CN"/>
              <a:t>  </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098290" y="768350"/>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zh-CN" altLang="en-US" sz="2800">
                <a:latin typeface="华文楷体" panose="02010600040101010101" charset="-122"/>
                <a:ea typeface="华文楷体" panose="02010600040101010101" charset="-122"/>
              </a:rPr>
              <a:t>种子轮</a:t>
            </a:r>
            <a:r>
              <a:rPr lang="en-US" altLang="zh-CN" sz="2800">
                <a:latin typeface="Times New Roman" panose="02020603050405020304" charset="0"/>
                <a:cs typeface="Times New Roman" panose="02020603050405020304" charset="0"/>
              </a:rPr>
              <a:t> </a:t>
            </a:r>
            <a:r>
              <a:rPr lang="en-US" sz="2800">
                <a:latin typeface="华文楷体" panose="02010600040101010101" charset="-122"/>
                <a:ea typeface="华文楷体" panose="02010600040101010101" charset="-122"/>
                <a:cs typeface="Times New Roman" panose="02020603050405020304" charset="0"/>
              </a:rPr>
              <a:t>$40M</a:t>
            </a:r>
            <a:r>
              <a:rPr lang="zh-CN" altLang="en-US" sz="2800">
                <a:latin typeface="华文楷体" panose="02010600040101010101" charset="-122"/>
                <a:ea typeface="华文楷体" panose="02010600040101010101" charset="-122"/>
                <a:cs typeface="Times New Roman" panose="02020603050405020304" charset="0"/>
              </a:rPr>
              <a:t>（</a:t>
            </a:r>
            <a:r>
              <a:rPr lang="en-US" altLang="zh-CN" sz="2800">
                <a:latin typeface="华文楷体" panose="02010600040101010101" charset="-122"/>
                <a:ea typeface="华文楷体" panose="02010600040101010101" charset="-122"/>
                <a:cs typeface="Times New Roman" panose="02020603050405020304" charset="0"/>
              </a:rPr>
              <a:t>GPT</a:t>
            </a:r>
            <a:r>
              <a:rPr lang="zh-CN" altLang="en-US" sz="2800">
                <a:latin typeface="华文楷体" panose="02010600040101010101" charset="-122"/>
                <a:ea typeface="华文楷体" panose="02010600040101010101" charset="-122"/>
                <a:cs typeface="Times New Roman" panose="02020603050405020304" charset="0"/>
              </a:rPr>
              <a:t>）</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439991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·Ember CopilotEmber Copilot </a:t>
            </a:r>
            <a:r>
              <a:rPr lang="zh-CN" altLang="en-US" sz="2800">
                <a:latin typeface="华文楷体" panose="02010600040101010101" charset="-122"/>
                <a:ea typeface="华文楷体" panose="02010600040101010101" charset="-122"/>
              </a:rPr>
              <a:t>是一家专注于</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医疗与手术中心智能化运营的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公司，通过人工智能技术帮助医疗机构提升收入周期管理效率并减少保险拒付风险。这种将</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嵌入业务流程的解决方案有助于手术中心和医院提升现金流、降低运营成本，并增强临床与财务协同率。</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“Onboard in 3 Days  ∙  Cut Denials by 55%  ∙  Get the Right Payment”</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（著名创业加速器，通过资源网络助力早期公司）、</a:t>
            </a:r>
            <a:r>
              <a:rPr lang="en-US" altLang="zh-CN" sz="2800">
                <a:latin typeface="华文楷体" panose="02010600040101010101" charset="-122"/>
                <a:ea typeface="华文楷体" panose="02010600040101010101" charset="-122"/>
              </a:rPr>
              <a:t>Phospher Capital</a:t>
            </a:r>
            <a:r>
              <a:rPr lang="zh-CN" altLang="en-US" sz="2800">
                <a:latin typeface="华文楷体" panose="02010600040101010101" charset="-122"/>
                <a:ea typeface="华文楷体" panose="02010600040101010101" charset="-122"/>
              </a:rPr>
              <a:t>（关注</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SaaS</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46210" y="7637145"/>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Ember Copilot </a:t>
            </a:r>
            <a:r>
              <a:rPr lang="zh-CN" altLang="en-US" sz="2800">
                <a:solidFill>
                  <a:schemeClr val="tx1"/>
                </a:solidFill>
                <a:latin typeface="华文楷体" panose="02010600040101010101" charset="-122"/>
                <a:ea typeface="华文楷体" panose="02010600040101010101" charset="-122"/>
              </a:rPr>
              <a:t>处于高增长区域</a:t>
            </a:r>
            <a:endParaRPr lang="zh-CN" altLang="en-US" sz="2800">
              <a:solidFill>
                <a:schemeClr val="tx1"/>
              </a:solidFill>
              <a:latin typeface="华文楷体" panose="02010600040101010101" charset="-122"/>
              <a:ea typeface="华文楷体" panose="02010600040101010101" charset="-122"/>
            </a:endParaRPr>
          </a:p>
          <a:p>
            <a:r>
              <a:rPr lang="zh-CN" altLang="en-US" sz="2800">
                <a:solidFill>
                  <a:schemeClr val="tx1"/>
                </a:solidFill>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相对较早，且融资金额较低</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与同类企业相比，发展较为年轻</a:t>
            </a:r>
            <a:endParaRPr lang="zh-CN" altLang="en-US" sz="2800">
              <a:solidFill>
                <a:schemeClr val="tx1"/>
              </a:solidFill>
              <a:latin typeface="华文楷体" panose="02010600040101010101" charset="-122"/>
              <a:ea typeface="华文楷体" panose="02010600040101010101" charset="-122"/>
            </a:endParaRPr>
          </a:p>
        </p:txBody>
      </p:sp>
      <p:pic>
        <p:nvPicPr>
          <p:cNvPr id="6" name="图片 5"/>
          <p:cNvPicPr/>
          <p:nvPr/>
        </p:nvPicPr>
        <p:blipFill>
          <a:blip r:embed="rId3"/>
          <a:stretch>
            <a:fillRect/>
          </a:stretch>
        </p:blipFill>
        <p:spPr>
          <a:xfrm>
            <a:off x="541020" y="296545"/>
            <a:ext cx="1506220" cy="1399540"/>
          </a:xfrm>
          <a:prstGeom prst="rect">
            <a:avLst/>
          </a:prstGeom>
        </p:spPr>
      </p:pic>
      <p:pic>
        <p:nvPicPr>
          <p:cNvPr id="19" name="图片 18"/>
          <p:cNvPicPr/>
          <p:nvPr/>
        </p:nvPicPr>
        <p:blipFill>
          <a:blip r:embed="rId4"/>
          <a:stretch>
            <a:fillRect/>
          </a:stretch>
        </p:blipFill>
        <p:spPr>
          <a:xfrm>
            <a:off x="419100" y="6074410"/>
            <a:ext cx="3408680" cy="2618740"/>
          </a:xfrm>
          <a:prstGeom prst="rect">
            <a:avLst/>
          </a:prstGeom>
        </p:spPr>
      </p:pic>
      <p:pic>
        <p:nvPicPr>
          <p:cNvPr id="21" name="图片 20"/>
          <p:cNvPicPr/>
          <p:nvPr/>
        </p:nvPicPr>
        <p:blipFill>
          <a:blip r:embed="rId5"/>
          <a:stretch>
            <a:fillRect/>
          </a:stretch>
        </p:blipFill>
        <p:spPr>
          <a:xfrm>
            <a:off x="4464685" y="6073775"/>
            <a:ext cx="3799205" cy="2619375"/>
          </a:xfrm>
          <a:prstGeom prst="rect">
            <a:avLst/>
          </a:prstGeom>
        </p:spPr>
      </p:pic>
      <p:sp>
        <p:nvSpPr>
          <p:cNvPr id="22" name="文本框 21"/>
          <p:cNvSpPr txBox="1"/>
          <p:nvPr/>
        </p:nvSpPr>
        <p:spPr>
          <a:xfrm>
            <a:off x="635000" y="8886190"/>
            <a:ext cx="7273925"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Charlene Wang                                               Warren Wang</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CEO and co-founder                                       CTO and co-founde</a:t>
            </a:r>
            <a:r>
              <a:rPr lang="en-US" altLang="zh-CN"/>
              <a:t>r</a:t>
            </a:r>
            <a:endParaRPr lang="en-US" altLang="zh-CN"/>
          </a:p>
        </p:txBody>
      </p:sp>
      <p:pic>
        <p:nvPicPr>
          <p:cNvPr id="23" name="图片 22"/>
          <p:cNvPicPr>
            <a:picLocks noChangeAspect="1"/>
          </p:cNvPicPr>
          <p:nvPr/>
        </p:nvPicPr>
        <p:blipFill>
          <a:blip r:embed="rId6"/>
          <a:stretch>
            <a:fillRect/>
          </a:stretch>
        </p:blipFill>
        <p:spPr>
          <a:xfrm>
            <a:off x="9046845" y="2404745"/>
            <a:ext cx="8151495" cy="5232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47240" y="768350"/>
            <a:ext cx="606107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Juicebox</a:t>
            </a:r>
            <a:r>
              <a:rPr lang="en-US" altLang="zh-CN"/>
              <a:t> </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617595" y="768350"/>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Times New Roman" panose="02020603050405020304" charset="0"/>
                <a:cs typeface="Times New Roman" panose="02020603050405020304" charset="0"/>
                <a:sym typeface="+mn-ea"/>
              </a:rPr>
              <a:t>$180M                    $850M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396938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·Juicebox </a:t>
            </a:r>
            <a:r>
              <a:rPr lang="zh-CN" altLang="en-US" sz="2800">
                <a:latin typeface="华文楷体" panose="02010600040101010101" charset="-122"/>
                <a:ea typeface="华文楷体" panose="02010600040101010101" charset="-122"/>
              </a:rPr>
              <a:t>是一家提供</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招聘平台</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的公司，专注于自动化人才搜索、候选人互动和招聘工作流程。它的核心功能包括自动从多个数据源中搜索候选人简历，并运行个性化的自动化招聘流程；</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支持与现有的客户关系管理（</a:t>
            </a:r>
            <a:r>
              <a:rPr lang="en-US" altLang="zh-CN" sz="2800">
                <a:latin typeface="华文楷体" panose="02010600040101010101" charset="-122"/>
                <a:ea typeface="华文楷体" panose="02010600040101010101" charset="-122"/>
              </a:rPr>
              <a:t>CRM</a:t>
            </a:r>
            <a:r>
              <a:rPr lang="zh-CN" altLang="en-US" sz="2800">
                <a:latin typeface="华文楷体" panose="02010600040101010101" charset="-122"/>
                <a:ea typeface="华文楷体" panose="02010600040101010101" charset="-122"/>
              </a:rPr>
              <a:t>）和申请人跟踪系统（</a:t>
            </a:r>
            <a:r>
              <a:rPr lang="en-US" altLang="zh-CN" sz="2800">
                <a:latin typeface="华文楷体" panose="02010600040101010101" charset="-122"/>
                <a:ea typeface="华文楷体" panose="02010600040101010101" charset="-122"/>
              </a:rPr>
              <a:t>ATS</a:t>
            </a:r>
            <a:r>
              <a:rPr lang="zh-CN" altLang="en-US" sz="2800">
                <a:latin typeface="华文楷体" panose="02010600040101010101" charset="-122"/>
                <a:ea typeface="华文楷体" panose="02010600040101010101" charset="-122"/>
              </a:rPr>
              <a:t>）集成，优化招聘流程。</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“Win the talent war.”</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A</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Sequoia Capital</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Lux Capital</a:t>
            </a:r>
            <a:r>
              <a:rPr lang="zh-CN" altLang="en-US" sz="2800">
                <a:latin typeface="华文楷体" panose="02010600040101010101" charset="-122"/>
                <a:ea typeface="华文楷体" panose="02010600040101010101" charset="-122"/>
              </a:rPr>
              <a:t>（专注</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机器人）</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46210" y="7495540"/>
            <a:ext cx="753364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Juicebox </a:t>
            </a:r>
            <a:r>
              <a:rPr lang="zh-CN" altLang="en-US" sz="2800">
                <a:solidFill>
                  <a:schemeClr val="tx1"/>
                </a:solidFill>
                <a:latin typeface="华文楷体" panose="02010600040101010101" charset="-122"/>
                <a:ea typeface="华文楷体" panose="02010600040101010101" charset="-122"/>
              </a:rPr>
              <a:t>属于</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高增长、早期阶段</a:t>
            </a:r>
            <a:r>
              <a:rPr lang="en-US" altLang="zh-CN" sz="2800">
                <a:solidFill>
                  <a:schemeClr val="tx1"/>
                </a:solidFill>
                <a:latin typeface="华文楷体" panose="02010600040101010101" charset="-122"/>
                <a:ea typeface="华文楷体" panose="02010600040101010101" charset="-122"/>
              </a:rPr>
              <a:t>”</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行业里既有高速</a:t>
            </a:r>
            <a:r>
              <a:rPr lang="en-US" altLang="zh-CN" sz="2800">
                <a:solidFill>
                  <a:schemeClr val="tx1"/>
                </a:solidFill>
                <a:latin typeface="华文楷体" panose="02010600040101010101" charset="-122"/>
                <a:ea typeface="华文楷体" panose="02010600040101010101" charset="-122"/>
              </a:rPr>
              <a:t> AI </a:t>
            </a:r>
            <a:r>
              <a:rPr lang="zh-CN" altLang="en-US" sz="2800">
                <a:solidFill>
                  <a:schemeClr val="tx1"/>
                </a:solidFill>
                <a:latin typeface="华文楷体" panose="02010600040101010101" charset="-122"/>
                <a:ea typeface="华文楷体" panose="02010600040101010101" charset="-122"/>
              </a:rPr>
              <a:t>新玩家，也有成熟平台型公司</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资本更青睐</a:t>
            </a:r>
            <a:r>
              <a:rPr lang="en-US" altLang="zh-CN" sz="2800">
                <a:solidFill>
                  <a:schemeClr val="tx1"/>
                </a:solidFill>
                <a:latin typeface="华文楷体" panose="02010600040101010101" charset="-122"/>
                <a:ea typeface="华文楷体" panose="02010600040101010101" charset="-122"/>
              </a:rPr>
              <a:t>“AI </a:t>
            </a:r>
            <a:r>
              <a:rPr lang="zh-CN" altLang="en-US" sz="2800">
                <a:solidFill>
                  <a:schemeClr val="tx1"/>
                </a:solidFill>
                <a:latin typeface="华文楷体" panose="02010600040101010101" charset="-122"/>
                <a:ea typeface="华文楷体" panose="02010600040101010101" charset="-122"/>
              </a:rPr>
              <a:t>驱动的招聘自动化</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方向</a:t>
            </a:r>
            <a:endParaRPr lang="zh-CN" altLang="en-US" sz="2800">
              <a:solidFill>
                <a:schemeClr val="tx1"/>
              </a:solidFill>
              <a:latin typeface="华文楷体" panose="02010600040101010101" charset="-122"/>
              <a:ea typeface="华文楷体" panose="02010600040101010101" charset="-122"/>
            </a:endParaRPr>
          </a:p>
        </p:txBody>
      </p:sp>
      <p:sp>
        <p:nvSpPr>
          <p:cNvPr id="22" name="文本框 21"/>
          <p:cNvSpPr txBox="1"/>
          <p:nvPr/>
        </p:nvSpPr>
        <p:spPr>
          <a:xfrm>
            <a:off x="635000" y="8594090"/>
            <a:ext cx="7273925"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David Paffenholz                                              David Cahn</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CEO and co-founder                                       Board member</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10515" y="410210"/>
            <a:ext cx="1573530" cy="1238250"/>
          </a:xfrm>
          <a:prstGeom prst="rect">
            <a:avLst/>
          </a:prstGeom>
        </p:spPr>
      </p:pic>
      <p:pic>
        <p:nvPicPr>
          <p:cNvPr id="7" name="图片 6" descr="图片2"/>
          <p:cNvPicPr>
            <a:picLocks noChangeAspect="1"/>
          </p:cNvPicPr>
          <p:nvPr/>
        </p:nvPicPr>
        <p:blipFill>
          <a:blip r:embed="rId4"/>
          <a:stretch>
            <a:fillRect/>
          </a:stretch>
        </p:blipFill>
        <p:spPr>
          <a:xfrm>
            <a:off x="5347970" y="768350"/>
            <a:ext cx="1064260" cy="528955"/>
          </a:xfrm>
          <a:prstGeom prst="rect">
            <a:avLst/>
          </a:prstGeom>
        </p:spPr>
      </p:pic>
      <p:sp>
        <p:nvSpPr>
          <p:cNvPr id="8" name="文本框 7"/>
          <p:cNvSpPr txBox="1"/>
          <p:nvPr/>
        </p:nvSpPr>
        <p:spPr>
          <a:xfrm>
            <a:off x="3827780" y="1297305"/>
            <a:ext cx="4166870" cy="398780"/>
          </a:xfrm>
          <a:prstGeom prst="rect">
            <a:avLst/>
          </a:prstGeom>
          <a:noFill/>
        </p:spPr>
        <p:txBody>
          <a:bodyPr wrap="square" rtlCol="0">
            <a:spAutoFit/>
          </a:bodyPr>
          <a:p>
            <a:r>
              <a:rPr lang="en-US" altLang="zh-CN" sz="2000">
                <a:latin typeface="华文楷体" panose="02010600040101010101" charset="-122"/>
                <a:ea typeface="华文楷体" panose="02010600040101010101" charset="-122"/>
                <a:cs typeface="华文楷体" panose="02010600040101010101" charset="-122"/>
              </a:rPr>
              <a:t>2025.9</a:t>
            </a:r>
            <a:r>
              <a:rPr lang="zh-CN" altLang="en-US" sz="2000">
                <a:latin typeface="华文楷体" panose="02010600040101010101" charset="-122"/>
                <a:ea typeface="华文楷体" panose="02010600040101010101" charset="-122"/>
                <a:cs typeface="华文楷体" panose="02010600040101010101" charset="-122"/>
              </a:rPr>
              <a:t>，</a:t>
            </a:r>
            <a:r>
              <a:rPr lang="en-US" altLang="zh-CN" sz="2000">
                <a:latin typeface="华文楷体" panose="02010600040101010101" charset="-122"/>
                <a:ea typeface="华文楷体" panose="02010600040101010101" charset="-122"/>
                <a:cs typeface="华文楷体" panose="02010600040101010101" charset="-122"/>
              </a:rPr>
              <a:t>A</a:t>
            </a:r>
            <a:r>
              <a:rPr lang="zh-CN" altLang="en-US" sz="2000">
                <a:latin typeface="华文楷体" panose="02010600040101010101" charset="-122"/>
                <a:ea typeface="华文楷体" panose="02010600040101010101" charset="-122"/>
                <a:cs typeface="华文楷体" panose="02010600040101010101" charset="-122"/>
              </a:rPr>
              <a:t>轮</a:t>
            </a:r>
            <a:r>
              <a:rPr lang="en-US" altLang="zh-CN" sz="2000">
                <a:latin typeface="华文楷体" panose="02010600040101010101" charset="-122"/>
                <a:ea typeface="华文楷体" panose="02010600040101010101" charset="-122"/>
                <a:cs typeface="华文楷体" panose="02010600040101010101" charset="-122"/>
              </a:rPr>
              <a:t>                    </a:t>
            </a:r>
            <a:r>
              <a:rPr lang="zh-CN" sz="2000">
                <a:latin typeface="华文楷体" panose="02010600040101010101" charset="-122"/>
                <a:ea typeface="华文楷体" panose="02010600040101010101" charset="-122"/>
                <a:cs typeface="华文楷体" panose="02010600040101010101" charset="-122"/>
              </a:rPr>
              <a:t>下一轮预计</a:t>
            </a:r>
            <a:endParaRPr lang="zh-CN" sz="2000">
              <a:latin typeface="华文楷体" panose="02010600040101010101" charset="-122"/>
              <a:ea typeface="华文楷体" panose="02010600040101010101" charset="-122"/>
              <a:cs typeface="华文楷体" panose="02010600040101010101" charset="-122"/>
            </a:endParaRPr>
          </a:p>
        </p:txBody>
      </p:sp>
      <p:pic>
        <p:nvPicPr>
          <p:cNvPr id="11" name="图片 10"/>
          <p:cNvPicPr/>
          <p:nvPr/>
        </p:nvPicPr>
        <p:blipFill>
          <a:blip r:embed="rId5"/>
          <a:stretch>
            <a:fillRect/>
          </a:stretch>
        </p:blipFill>
        <p:spPr>
          <a:xfrm>
            <a:off x="515620" y="5733415"/>
            <a:ext cx="2301240" cy="2507615"/>
          </a:xfrm>
          <a:prstGeom prst="rect">
            <a:avLst/>
          </a:prstGeom>
        </p:spPr>
      </p:pic>
      <p:pic>
        <p:nvPicPr>
          <p:cNvPr id="12" name="图片 11"/>
          <p:cNvPicPr/>
          <p:nvPr/>
        </p:nvPicPr>
        <p:blipFill>
          <a:blip r:embed="rId6"/>
          <a:stretch>
            <a:fillRect/>
          </a:stretch>
        </p:blipFill>
        <p:spPr>
          <a:xfrm>
            <a:off x="4916805" y="5733415"/>
            <a:ext cx="2357120" cy="2573020"/>
          </a:xfrm>
          <a:prstGeom prst="rect">
            <a:avLst/>
          </a:prstGeom>
        </p:spPr>
      </p:pic>
      <p:pic>
        <p:nvPicPr>
          <p:cNvPr id="13" name="图片 12"/>
          <p:cNvPicPr>
            <a:picLocks noChangeAspect="1"/>
          </p:cNvPicPr>
          <p:nvPr/>
        </p:nvPicPr>
        <p:blipFill>
          <a:blip r:embed="rId7"/>
          <a:stretch>
            <a:fillRect/>
          </a:stretch>
        </p:blipFill>
        <p:spPr>
          <a:xfrm>
            <a:off x="9046210" y="2089150"/>
            <a:ext cx="7978775" cy="53219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768350"/>
            <a:ext cx="606107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Central</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77533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zh-CN" altLang="en-US" sz="2800">
                <a:latin typeface="华文楷体" panose="02010600040101010101" charset="-122"/>
                <a:ea typeface="华文楷体" panose="02010600040101010101" charset="-122"/>
                <a:cs typeface="Times New Roman" panose="02020603050405020304" charset="0"/>
              </a:rPr>
              <a:t>种子轮</a:t>
            </a:r>
            <a:r>
              <a:rPr lang="en-US" altLang="zh-CN" sz="2800">
                <a:latin typeface="华文楷体" panose="02010600040101010101" charset="-122"/>
                <a:ea typeface="华文楷体" panose="02010600040101010101" charset="-122"/>
                <a:cs typeface="华文楷体" panose="02010600040101010101" charset="-122"/>
              </a:rPr>
              <a:t> $70M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396938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·Central </a:t>
            </a:r>
            <a:r>
              <a:rPr lang="zh-CN" altLang="en-US" sz="2800">
                <a:latin typeface="华文楷体" panose="02010600040101010101" charset="-122"/>
                <a:ea typeface="华文楷体" panose="02010600040101010101" charset="-122"/>
              </a:rPr>
              <a:t>是一个</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驱动的企业后台操作系统，通过结合</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代理和人力资源专家，为企业提供自动化的员工支付、福利管理、合规性保障、招聘文档处理等全方位的</a:t>
            </a:r>
            <a:r>
              <a:rPr lang="en-US" altLang="zh-CN" sz="2800">
                <a:latin typeface="华文楷体" panose="02010600040101010101" charset="-122"/>
                <a:ea typeface="华文楷体" panose="02010600040101010101" charset="-122"/>
              </a:rPr>
              <a:t> HR </a:t>
            </a:r>
            <a:r>
              <a:rPr lang="zh-CN" altLang="en-US" sz="2800">
                <a:latin typeface="华文楷体" panose="02010600040101010101" charset="-122"/>
                <a:ea typeface="华文楷体" panose="02010600040101010101" charset="-122"/>
              </a:rPr>
              <a:t>服务，帮助企业节省时间并提高效率。</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“AI-NATIVE Payroll, HR, benefits and compliance”</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267652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First Round Capital</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860</a:t>
            </a:r>
            <a:r>
              <a:rPr lang="zh-CN" altLang="en-US" sz="2800">
                <a:latin typeface="华文楷体" panose="02010600040101010101" charset="-122"/>
                <a:ea typeface="华文楷体" panose="02010600040101010101" charset="-122"/>
              </a:rPr>
              <a:t>万领投，专注种子轮）、</a:t>
            </a:r>
            <a:r>
              <a:rPr lang="en-US" altLang="zh-CN" sz="2800">
                <a:latin typeface="华文楷体" panose="02010600040101010101" charset="-122"/>
                <a:ea typeface="华文楷体" panose="02010600040101010101" charset="-122"/>
              </a:rPr>
              <a:t>SurgePoint Capital</a:t>
            </a:r>
            <a:r>
              <a:rPr lang="zh-CN" altLang="en-US" sz="2800">
                <a:latin typeface="华文楷体" panose="02010600040101010101" charset="-122"/>
                <a:ea typeface="华文楷体" panose="02010600040101010101" charset="-122"/>
              </a:rPr>
              <a:t>（专注</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企业技术</a:t>
            </a:r>
            <a:r>
              <a:rPr lang="en-US" altLang="zh-CN" sz="2800">
                <a:latin typeface="华文楷体" panose="02010600040101010101" charset="-122"/>
                <a:ea typeface="华文楷体" panose="02010600040101010101" charset="-122"/>
              </a:rPr>
              <a:t>/SaaS</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Multimodal Ventures</a:t>
            </a:r>
            <a:r>
              <a:rPr lang="zh-CN" altLang="en-US" sz="2800">
                <a:latin typeface="华文楷体" panose="02010600040101010101" charset="-122"/>
                <a:ea typeface="华文楷体" panose="02010600040101010101" charset="-122"/>
              </a:rPr>
              <a:t>（专注</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机器学习，尤其多模态）</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788275"/>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Central </a:t>
            </a:r>
            <a:r>
              <a:rPr lang="zh-CN" altLang="en-US" sz="2800">
                <a:solidFill>
                  <a:schemeClr val="tx1"/>
                </a:solidFill>
                <a:latin typeface="华文楷体" panose="02010600040101010101" charset="-122"/>
                <a:ea typeface="华文楷体" panose="02010600040101010101" charset="-122"/>
              </a:rPr>
              <a:t>处于高增长区</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与行业领先公司同台竞争</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endParaRPr lang="zh-CN" altLang="en-US" sz="2800">
              <a:solidFill>
                <a:schemeClr val="tx1"/>
              </a:solidFill>
              <a:latin typeface="华文楷体" panose="02010600040101010101" charset="-122"/>
              <a:ea typeface="华文楷体" panose="02010600040101010101" charset="-122"/>
            </a:endParaRPr>
          </a:p>
        </p:txBody>
      </p:sp>
      <p:pic>
        <p:nvPicPr>
          <p:cNvPr id="6" name="图片 5"/>
          <p:cNvPicPr/>
          <p:nvPr/>
        </p:nvPicPr>
        <p:blipFill>
          <a:blip r:embed="rId3"/>
          <a:stretch>
            <a:fillRect/>
          </a:stretch>
        </p:blipFill>
        <p:spPr>
          <a:xfrm>
            <a:off x="387985" y="189865"/>
            <a:ext cx="1659255" cy="1626870"/>
          </a:xfrm>
          <a:prstGeom prst="rect">
            <a:avLst/>
          </a:prstGeom>
        </p:spPr>
      </p:pic>
      <p:pic>
        <p:nvPicPr>
          <p:cNvPr id="14" name="图片 13"/>
          <p:cNvPicPr/>
          <p:nvPr/>
        </p:nvPicPr>
        <p:blipFill>
          <a:blip r:embed="rId4"/>
          <a:stretch>
            <a:fillRect/>
          </a:stretch>
        </p:blipFill>
        <p:spPr>
          <a:xfrm>
            <a:off x="929005" y="5764530"/>
            <a:ext cx="2258060" cy="2519680"/>
          </a:xfrm>
          <a:prstGeom prst="rect">
            <a:avLst/>
          </a:prstGeom>
        </p:spPr>
      </p:pic>
      <p:sp>
        <p:nvSpPr>
          <p:cNvPr id="15" name="文本框 14"/>
          <p:cNvSpPr txBox="1"/>
          <p:nvPr/>
        </p:nvSpPr>
        <p:spPr>
          <a:xfrm>
            <a:off x="927100" y="8572500"/>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Pranav Kashyap                                    Josh Wymer</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Co-founder and COO                          Co-founder and CEO</a:t>
            </a:r>
            <a:endParaRPr lang="en-US" altLang="zh-CN" sz="2000">
              <a:latin typeface="Times New Roman" panose="02020603050405020304" charset="0"/>
              <a:cs typeface="Times New Roman" panose="02020603050405020304" charset="0"/>
            </a:endParaRPr>
          </a:p>
        </p:txBody>
      </p:sp>
      <p:pic>
        <p:nvPicPr>
          <p:cNvPr id="16" name="图片 15"/>
          <p:cNvPicPr/>
          <p:nvPr/>
        </p:nvPicPr>
        <p:blipFill>
          <a:blip r:embed="rId5"/>
          <a:stretch>
            <a:fillRect/>
          </a:stretch>
        </p:blipFill>
        <p:spPr>
          <a:xfrm>
            <a:off x="4689475" y="5764530"/>
            <a:ext cx="2194560" cy="2519680"/>
          </a:xfrm>
          <a:prstGeom prst="rect">
            <a:avLst/>
          </a:prstGeom>
        </p:spPr>
      </p:pic>
      <p:pic>
        <p:nvPicPr>
          <p:cNvPr id="17" name="图片 16"/>
          <p:cNvPicPr>
            <a:picLocks noChangeAspect="1"/>
          </p:cNvPicPr>
          <p:nvPr/>
        </p:nvPicPr>
        <p:blipFill>
          <a:blip r:embed="rId6"/>
          <a:stretch>
            <a:fillRect/>
          </a:stretch>
        </p:blipFill>
        <p:spPr>
          <a:xfrm>
            <a:off x="9155430" y="3072765"/>
            <a:ext cx="7642225" cy="45091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768350"/>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sym typeface="+mn-ea"/>
              </a:rPr>
              <a:t>Combinely</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77533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$40M</a:t>
            </a:r>
            <a:r>
              <a:rPr lang="zh-CN" altLang="en-US" sz="2800">
                <a:latin typeface="Times New Roman" panose="02020603050405020304" charset="0"/>
                <a:ea typeface="宋体" panose="02010600030101010101" pitchFamily="2" charset="-122"/>
                <a:cs typeface="Times New Roman" panose="02020603050405020304" charset="0"/>
              </a:rPr>
              <a:t>（</a:t>
            </a:r>
            <a:r>
              <a:rPr lang="en-US" altLang="zh-CN" sz="2800">
                <a:latin typeface="Times New Roman" panose="02020603050405020304" charset="0"/>
                <a:ea typeface="宋体" panose="02010600030101010101" pitchFamily="2" charset="-122"/>
                <a:cs typeface="Times New Roman" panose="02020603050405020304" charset="0"/>
              </a:rPr>
              <a:t>GPT</a:t>
            </a:r>
            <a:r>
              <a:rPr lang="zh-CN" altLang="en-US" sz="2800">
                <a:latin typeface="Times New Roman" panose="02020603050405020304" charset="0"/>
                <a:ea typeface="宋体" panose="02010600030101010101" pitchFamily="2" charset="-122"/>
                <a:cs typeface="Times New Roman" panose="02020603050405020304" charset="0"/>
              </a:rPr>
              <a:t>）</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310769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·Combinely </a:t>
            </a:r>
            <a:r>
              <a:rPr lang="zh-CN" altLang="en-US" sz="2800">
                <a:latin typeface="华文楷体" panose="02010600040101010101" charset="-122"/>
                <a:ea typeface="华文楷体" panose="02010600040101010101" charset="-122"/>
              </a:rPr>
              <a:t>是一家为会计专业人士打造的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同事</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级助手</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初创公司，核心是在会计工作流程中引入智能自动化，以显著提升效率、减少重复劳动。</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“AI Co-Worker for Tax Teams.”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267652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Pioneer Fund</a:t>
            </a:r>
            <a:r>
              <a:rPr lang="zh-CN" altLang="en-US" sz="2800">
                <a:latin typeface="华文楷体" panose="02010600040101010101" charset="-122"/>
                <a:ea typeface="华文楷体" panose="02010600040101010101" charset="-122"/>
              </a:rPr>
              <a:t>（关注初创）、</a:t>
            </a:r>
            <a:r>
              <a:rPr lang="en-US" altLang="zh-CN" sz="2800">
                <a:latin typeface="华文楷体" panose="02010600040101010101" charset="-122"/>
                <a:ea typeface="华文楷体" panose="02010600040101010101" charset="-122"/>
              </a:rPr>
              <a:t>Lombardstreet Ventures</a:t>
            </a:r>
            <a:r>
              <a:rPr lang="zh-CN" altLang="en-US" sz="2800">
                <a:latin typeface="华文楷体" panose="02010600040101010101" charset="-122"/>
                <a:ea typeface="华文楷体" panose="02010600040101010101" charset="-122"/>
              </a:rPr>
              <a:t>（专注</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企业技术</a:t>
            </a:r>
            <a:r>
              <a:rPr lang="en-US" altLang="zh-CN" sz="2800">
                <a:latin typeface="华文楷体" panose="02010600040101010101" charset="-122"/>
                <a:ea typeface="华文楷体" panose="02010600040101010101" charset="-122"/>
              </a:rPr>
              <a:t>/SaaS</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Flex Capital</a:t>
            </a:r>
            <a:r>
              <a:rPr lang="zh-CN" altLang="en-US" sz="2800">
                <a:latin typeface="华文楷体" panose="02010600040101010101" charset="-122"/>
                <a:ea typeface="华文楷体" panose="02010600040101010101" charset="-122"/>
              </a:rPr>
              <a:t>（专注</a:t>
            </a:r>
            <a:r>
              <a:rPr lang="en-US" altLang="zh-CN" sz="2800">
                <a:latin typeface="华文楷体" panose="02010600040101010101" charset="-122"/>
                <a:ea typeface="华文楷体" panose="02010600040101010101" charset="-122"/>
              </a:rPr>
              <a:t>AI/SaaS</a:t>
            </a:r>
            <a:r>
              <a:rPr lang="zh-CN" altLang="en-US" sz="2800">
                <a:latin typeface="华文楷体" panose="02010600040101010101" charset="-122"/>
                <a:ea typeface="华文楷体" panose="02010600040101010101" charset="-122"/>
              </a:rPr>
              <a:t>，关注灵活、可拓展商业模式）</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788275"/>
            <a:ext cx="753364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Combinely </a:t>
            </a:r>
            <a:r>
              <a:rPr lang="zh-CN" altLang="en-US" sz="2800">
                <a:solidFill>
                  <a:schemeClr val="tx1"/>
                </a:solidFill>
                <a:latin typeface="华文楷体" panose="02010600040101010101" charset="-122"/>
                <a:ea typeface="华文楷体" panose="02010600040101010101" charset="-122"/>
              </a:rPr>
              <a:t>处于高增长区，但尚处早期</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市场竞争尚处于早期，领先者具有更大融资背景</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927100" y="8572500"/>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Tom Invernizzi                                    Arthur Granacher</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Founder and CEO                                   Founder and CTO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59410" y="189865"/>
            <a:ext cx="1632585" cy="1621155"/>
          </a:xfrm>
          <a:prstGeom prst="rect">
            <a:avLst/>
          </a:prstGeom>
        </p:spPr>
      </p:pic>
      <p:pic>
        <p:nvPicPr>
          <p:cNvPr id="7" name="图片 6"/>
          <p:cNvPicPr/>
          <p:nvPr/>
        </p:nvPicPr>
        <p:blipFill>
          <a:blip r:embed="rId4"/>
          <a:stretch>
            <a:fillRect/>
          </a:stretch>
        </p:blipFill>
        <p:spPr>
          <a:xfrm>
            <a:off x="739775" y="5319395"/>
            <a:ext cx="2534920" cy="2696210"/>
          </a:xfrm>
          <a:prstGeom prst="rect">
            <a:avLst/>
          </a:prstGeom>
        </p:spPr>
      </p:pic>
      <p:pic>
        <p:nvPicPr>
          <p:cNvPr id="8" name="图片 7"/>
          <p:cNvPicPr/>
          <p:nvPr/>
        </p:nvPicPr>
        <p:blipFill>
          <a:blip r:embed="rId5"/>
          <a:stretch>
            <a:fillRect/>
          </a:stretch>
        </p:blipFill>
        <p:spPr>
          <a:xfrm>
            <a:off x="4808855" y="5318760"/>
            <a:ext cx="2476500" cy="2696845"/>
          </a:xfrm>
          <a:prstGeom prst="rect">
            <a:avLst/>
          </a:prstGeom>
        </p:spPr>
      </p:pic>
      <p:pic>
        <p:nvPicPr>
          <p:cNvPr id="11" name="图片 10"/>
          <p:cNvPicPr>
            <a:picLocks noChangeAspect="1"/>
          </p:cNvPicPr>
          <p:nvPr/>
        </p:nvPicPr>
        <p:blipFill>
          <a:blip r:embed="rId6"/>
          <a:stretch>
            <a:fillRect/>
          </a:stretch>
        </p:blipFill>
        <p:spPr>
          <a:xfrm>
            <a:off x="9084310" y="2801620"/>
            <a:ext cx="7914005" cy="47263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768350"/>
            <a:ext cx="606107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Percival</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77533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前种子轮</a:t>
            </a:r>
            <a:r>
              <a:rPr lang="en-US" altLang="zh-CN" sz="2800">
                <a:latin typeface="华文楷体" panose="02010600040101010101" charset="-122"/>
                <a:ea typeface="华文楷体" panose="02010600040101010101" charset="-122"/>
                <a:cs typeface="华文楷体" panose="02010600040101010101" charset="-122"/>
              </a:rPr>
              <a:t> $35M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267652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·Percival </a:t>
            </a:r>
            <a:r>
              <a:rPr lang="zh-CN" altLang="en-US" sz="2800">
                <a:latin typeface="华文楷体" panose="02010600040101010101" charset="-122"/>
                <a:ea typeface="华文楷体" panose="02010600040101010101" charset="-122"/>
              </a:rPr>
              <a:t>的主要功能是通过</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自动化技术</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来优化</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企业的日常数据处理，包括文档解析、数据清洗与转化，帮助企业降低人工成本、提升运营效率并使数据处理更加精准高效。</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“Accelerating data analysis for research”</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6123940"/>
          </a:xfrm>
          <a:prstGeom prst="rect">
            <a:avLst/>
          </a:prstGeom>
          <a:noFill/>
        </p:spPr>
        <p:txBody>
          <a:bodyPr wrap="square" rtlCol="0">
            <a:spAutoFit/>
          </a:bodyPr>
          <a:p>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Pre Seed</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endParaRPr 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由于初创，信息与数据稀少</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788275"/>
            <a:ext cx="7533640" cy="521970"/>
          </a:xfrm>
          <a:prstGeom prst="rect">
            <a:avLst/>
          </a:prstGeom>
          <a:noFill/>
        </p:spPr>
        <p:txBody>
          <a:bodyPr wrap="square" rtlCol="0">
            <a:spAutoFit/>
          </a:bodyPr>
          <a:p>
            <a:r>
              <a:rPr lang="en-US" altLang="zh-CN" sz="2800">
                <a:solidFill>
                  <a:schemeClr val="tx1"/>
                </a:solidFill>
                <a:latin typeface="华文楷体" panose="02010600040101010101" charset="-122"/>
                <a:ea typeface="华文楷体" panose="02010600040101010101" charset="-122"/>
              </a:rPr>
              <a:t>     </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927100" y="8248015"/>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David Zhu                                                   Kevin Bi</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Co-founder</a:t>
            </a:r>
            <a:endParaRPr lang="en-US" altLang="zh-CN" sz="2000">
              <a:latin typeface="Times New Roman" panose="02020603050405020304" charset="0"/>
              <a:cs typeface="Times New Roman" panose="02020603050405020304" charset="0"/>
            </a:endParaRPr>
          </a:p>
        </p:txBody>
      </p:sp>
      <p:pic>
        <p:nvPicPr>
          <p:cNvPr id="6" name="图片 5"/>
          <p:cNvPicPr/>
          <p:nvPr/>
        </p:nvPicPr>
        <p:blipFill>
          <a:blip r:embed="rId3"/>
          <a:stretch>
            <a:fillRect/>
          </a:stretch>
        </p:blipFill>
        <p:spPr>
          <a:xfrm>
            <a:off x="271780" y="75565"/>
            <a:ext cx="1894205" cy="1816100"/>
          </a:xfrm>
          <a:prstGeom prst="rect">
            <a:avLst/>
          </a:prstGeom>
        </p:spPr>
      </p:pic>
      <p:pic>
        <p:nvPicPr>
          <p:cNvPr id="12" name="图片 11"/>
          <p:cNvPicPr/>
          <p:nvPr/>
        </p:nvPicPr>
        <p:blipFill>
          <a:blip r:embed="rId4"/>
          <a:stretch>
            <a:fillRect/>
          </a:stretch>
        </p:blipFill>
        <p:spPr>
          <a:xfrm>
            <a:off x="494665" y="5110480"/>
            <a:ext cx="2694940" cy="2521585"/>
          </a:xfrm>
          <a:prstGeom prst="rect">
            <a:avLst/>
          </a:prstGeom>
        </p:spPr>
      </p:pic>
      <p:pic>
        <p:nvPicPr>
          <p:cNvPr id="13" name="图片 12"/>
          <p:cNvPicPr/>
          <p:nvPr/>
        </p:nvPicPr>
        <p:blipFill>
          <a:blip r:embed="rId5"/>
          <a:stretch>
            <a:fillRect/>
          </a:stretch>
        </p:blipFill>
        <p:spPr>
          <a:xfrm>
            <a:off x="4754880" y="5110480"/>
            <a:ext cx="2468880" cy="25222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768350"/>
            <a:ext cx="606107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Dodo</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77533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前种子轮</a:t>
            </a:r>
            <a:r>
              <a:rPr lang="en-US" altLang="zh-CN" sz="2800">
                <a:latin typeface="华文楷体" panose="02010600040101010101" charset="-122"/>
                <a:ea typeface="华文楷体" panose="02010600040101010101" charset="-122"/>
                <a:cs typeface="华文楷体" panose="02010600040101010101" charset="-122"/>
              </a:rPr>
              <a:t> $25M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396938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·Dodo </a:t>
            </a:r>
            <a:r>
              <a:rPr lang="zh-CN" altLang="en-US" sz="2800">
                <a:latin typeface="华文楷体" panose="02010600040101010101" charset="-122"/>
                <a:ea typeface="华文楷体" panose="02010600040101010101" charset="-122"/>
              </a:rPr>
              <a:t>是一家专注于为</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兽医诊所及专业医疗机构</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提供</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驱动前台</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接待自动化系统</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的科技公司。它的核心产品是一种</a:t>
            </a:r>
            <a:r>
              <a:rPr lang="en-US" altLang="zh-CN" sz="2800">
                <a:latin typeface="华文楷体" panose="02010600040101010101" charset="-122"/>
                <a:ea typeface="华文楷体" panose="02010600040101010101" charset="-122"/>
              </a:rPr>
              <a:t> 24/7 </a:t>
            </a:r>
            <a:r>
              <a:rPr lang="zh-CN" altLang="en-US" sz="2800">
                <a:latin typeface="华文楷体" panose="02010600040101010101" charset="-122"/>
                <a:ea typeface="华文楷体" panose="02010600040101010101" charset="-122"/>
              </a:rPr>
              <a:t>全天候的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接待员，利用人工智能来</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自动处理客户的电话、短信和邮件，并与诊所内部的管理软件（</a:t>
            </a:r>
            <a:r>
              <a:rPr lang="en-US" altLang="zh-CN" sz="2800">
                <a:latin typeface="华文楷体" panose="02010600040101010101" charset="-122"/>
                <a:ea typeface="华文楷体" panose="02010600040101010101" charset="-122"/>
              </a:rPr>
              <a:t>PIMS/EHR</a:t>
            </a:r>
            <a:r>
              <a:rPr lang="zh-CN" altLang="en-US" sz="2800">
                <a:latin typeface="华文楷体" panose="02010600040101010101" charset="-122"/>
                <a:ea typeface="华文楷体" panose="02010600040101010101" charset="-122"/>
              </a:rPr>
              <a:t>）深度集成，从而全面提升运营效率和客户体验。</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“The AI Receptionist for Your Clinic”</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138366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Pre Seed</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301230"/>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Dodo </a:t>
            </a:r>
            <a:r>
              <a:rPr lang="zh-CN" altLang="en-US" sz="2800">
                <a:solidFill>
                  <a:schemeClr val="tx1"/>
                </a:solidFill>
                <a:latin typeface="华文楷体" panose="02010600040101010101" charset="-122"/>
                <a:ea typeface="华文楷体" panose="02010600040101010101" charset="-122"/>
              </a:rPr>
              <a:t>处于高增长区，且融资额相对较低</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·Dodo </a:t>
            </a:r>
            <a:r>
              <a:rPr lang="zh-CN" altLang="en-US" sz="2800">
                <a:solidFill>
                  <a:schemeClr val="tx1"/>
                </a:solidFill>
                <a:latin typeface="华文楷体" panose="02010600040101010101" charset="-122"/>
                <a:ea typeface="华文楷体" panose="02010600040101010101" charset="-122"/>
              </a:rPr>
              <a:t>的发展潜力受到认可，但市场竞争激烈</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927100" y="8572500"/>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Dominik Moehrle                                   Arthur Granacher</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Tim Reinhart</a:t>
            </a:r>
            <a:endParaRPr lang="en-US" altLang="zh-CN" sz="2000">
              <a:latin typeface="Times New Roman" panose="02020603050405020304" charset="0"/>
              <a:cs typeface="Times New Roman" panose="02020603050405020304" charset="0"/>
            </a:endParaRPr>
          </a:p>
        </p:txBody>
      </p:sp>
      <p:pic>
        <p:nvPicPr>
          <p:cNvPr id="6" name="图片 5"/>
          <p:cNvPicPr/>
          <p:nvPr/>
        </p:nvPicPr>
        <p:blipFill>
          <a:blip r:embed="rId3"/>
          <a:stretch>
            <a:fillRect/>
          </a:stretch>
        </p:blipFill>
        <p:spPr>
          <a:xfrm>
            <a:off x="394970" y="189865"/>
            <a:ext cx="1673860" cy="1572260"/>
          </a:xfrm>
          <a:prstGeom prst="rect">
            <a:avLst/>
          </a:prstGeom>
        </p:spPr>
      </p:pic>
      <p:pic>
        <p:nvPicPr>
          <p:cNvPr id="12" name="图片 11"/>
          <p:cNvPicPr/>
          <p:nvPr/>
        </p:nvPicPr>
        <p:blipFill>
          <a:blip r:embed="rId4"/>
          <a:stretch>
            <a:fillRect/>
          </a:stretch>
        </p:blipFill>
        <p:spPr>
          <a:xfrm>
            <a:off x="4979035" y="5739765"/>
            <a:ext cx="2428875" cy="2678430"/>
          </a:xfrm>
          <a:prstGeom prst="rect">
            <a:avLst/>
          </a:prstGeom>
        </p:spPr>
      </p:pic>
      <p:pic>
        <p:nvPicPr>
          <p:cNvPr id="13" name="图片 12"/>
          <p:cNvPicPr/>
          <p:nvPr/>
        </p:nvPicPr>
        <p:blipFill>
          <a:blip r:embed="rId5"/>
          <a:stretch>
            <a:fillRect/>
          </a:stretch>
        </p:blipFill>
        <p:spPr>
          <a:xfrm>
            <a:off x="927100" y="5739765"/>
            <a:ext cx="2554605" cy="2677795"/>
          </a:xfrm>
          <a:prstGeom prst="rect">
            <a:avLst/>
          </a:prstGeom>
        </p:spPr>
      </p:pic>
      <p:pic>
        <p:nvPicPr>
          <p:cNvPr id="14" name="图片 13"/>
          <p:cNvPicPr>
            <a:picLocks noChangeAspect="1"/>
          </p:cNvPicPr>
          <p:nvPr/>
        </p:nvPicPr>
        <p:blipFill>
          <a:blip r:embed="rId6"/>
          <a:stretch>
            <a:fillRect/>
          </a:stretch>
        </p:blipFill>
        <p:spPr>
          <a:xfrm>
            <a:off x="8905240" y="1762125"/>
            <a:ext cx="8101330" cy="51396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 74"/>
          <p:cNvSpPr/>
          <p:nvPr/>
        </p:nvSpPr>
        <p:spPr>
          <a:xfrm>
            <a:off x="0" y="0"/>
            <a:ext cx="17475200" cy="9753600"/>
          </a:xfrm>
          <a:prstGeom prst="rect">
            <a:avLst/>
          </a:prstGeom>
          <a:solidFill>
            <a:srgbClr val="F5F5EF">
              <a:alpha val="100000"/>
            </a:srgbClr>
          </a:solidFill>
          <a:ln w="0" cap="flat">
            <a:noFill/>
            <a:prstDash val="solid"/>
            <a:miter lim="0"/>
          </a:ln>
        </p:spPr>
        <p:txBody>
          <a:bodyPr rtlCol="0"/>
          <a:lstStyle/>
          <a:p>
            <a:pPr algn="ctr"/>
            <a:endParaRPr lang="zh-CN" altLang="en-US"/>
          </a:p>
        </p:txBody>
      </p:sp>
      <p:pic>
        <p:nvPicPr>
          <p:cNvPr id="76" name="picture 76"/>
          <p:cNvPicPr>
            <a:picLocks noChangeAspect="1"/>
          </p:cNvPicPr>
          <p:nvPr/>
        </p:nvPicPr>
        <p:blipFill>
          <a:blip r:embed="rId1"/>
          <a:stretch>
            <a:fillRect/>
          </a:stretch>
        </p:blipFill>
        <p:spPr>
          <a:xfrm rot="21600000">
            <a:off x="476256" y="1830662"/>
            <a:ext cx="7835880" cy="5410224"/>
          </a:xfrm>
          <a:prstGeom prst="rect">
            <a:avLst/>
          </a:prstGeom>
        </p:spPr>
      </p:pic>
      <p:sp>
        <p:nvSpPr>
          <p:cNvPr id="78" name="textbox 78"/>
          <p:cNvSpPr/>
          <p:nvPr/>
        </p:nvSpPr>
        <p:spPr>
          <a:xfrm>
            <a:off x="10299764" y="3770202"/>
            <a:ext cx="4533265" cy="3395345"/>
          </a:xfrm>
          <a:prstGeom prst="rect">
            <a:avLst/>
          </a:prstGeom>
          <a:noFill/>
          <a:ln w="0" cap="flat">
            <a:noFill/>
            <a:prstDash val="solid"/>
            <a:miter lim="0"/>
          </a:ln>
        </p:spPr>
        <p:txBody>
          <a:bodyPr vert="horz" wrap="square" lIns="0" tIns="0" rIns="0" bIns="0"/>
          <a:lstStyle/>
          <a:p>
            <a:pPr algn="l" rtl="0" eaLnBrk="0">
              <a:lnSpc>
                <a:spcPct val="63000"/>
              </a:lnSpc>
            </a:pPr>
            <a:endParaRPr sz="100" dirty="0">
              <a:latin typeface="Arial" panose="020B0604020202020204"/>
              <a:ea typeface="Arial" panose="020B0604020202020204"/>
              <a:cs typeface="Arial" panose="020B0604020202020204"/>
            </a:endParaRPr>
          </a:p>
          <a:p>
            <a:pPr algn="r" rtl="0" eaLnBrk="0">
              <a:lnSpc>
                <a:spcPct val="97000"/>
              </a:lnSpc>
            </a:pPr>
            <a:endParaRPr sz="4100" dirty="0">
              <a:latin typeface="黑体" panose="02010609060101010101" charset="-122"/>
              <a:ea typeface="黑体" panose="02010609060101010101" charset="-122"/>
              <a:cs typeface="黑体" panose="02010609060101010101" charset="-122"/>
            </a:endParaRPr>
          </a:p>
        </p:txBody>
      </p:sp>
      <p:sp>
        <p:nvSpPr>
          <p:cNvPr id="80" name="textbox 80"/>
          <p:cNvSpPr/>
          <p:nvPr/>
        </p:nvSpPr>
        <p:spPr>
          <a:xfrm>
            <a:off x="4803465" y="727894"/>
            <a:ext cx="7867015" cy="762634"/>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5100" dirty="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8737600" y="2738755"/>
            <a:ext cx="8106410" cy="3415030"/>
          </a:xfrm>
          <a:prstGeom prst="rect">
            <a:avLst/>
          </a:prstGeom>
          <a:noFill/>
        </p:spPr>
        <p:txBody>
          <a:bodyPr wrap="square" rtlCol="0">
            <a:spAutoFit/>
          </a:bodyPr>
          <a:p>
            <a:r>
              <a:rPr lang="en-US" altLang="zh-CN" sz="7200">
                <a:latin typeface="华文琥珀" panose="02010800040101010101" charset="-122"/>
                <a:ea typeface="华文琥珀" panose="02010800040101010101" charset="-122"/>
                <a:cs typeface="黑体" panose="02010609060101010101" charset="-122"/>
              </a:rPr>
              <a:t>02</a:t>
            </a:r>
            <a:endParaRPr lang="en-US" altLang="zh-CN" sz="7200">
              <a:latin typeface="华文琥珀" panose="02010800040101010101" charset="-122"/>
              <a:ea typeface="华文琥珀" panose="02010800040101010101" charset="-122"/>
              <a:cs typeface="黑体" panose="02010609060101010101" charset="-122"/>
            </a:endParaRPr>
          </a:p>
          <a:p>
            <a:r>
              <a:rPr lang="zh-CN" altLang="en-US" sz="7200">
                <a:latin typeface="华康行楷体 W5" panose="03000509000000000000" charset="-122"/>
                <a:ea typeface="华康行楷体 W5" panose="03000509000000000000" charset="-122"/>
                <a:cs typeface="黑体" panose="02010609060101010101" charset="-122"/>
              </a:rPr>
              <a:t>智能体平台</a:t>
            </a:r>
            <a:endParaRPr lang="zh-CN" altLang="en-US" sz="7200">
              <a:latin typeface="黑体" panose="02010609060101010101" charset="-122"/>
              <a:ea typeface="黑体" panose="02010609060101010101" charset="-122"/>
              <a:cs typeface="黑体" panose="02010609060101010101" charset="-122"/>
            </a:endParaRPr>
          </a:p>
          <a:p>
            <a:r>
              <a:rPr lang="en-US" altLang="zh-CN" sz="7200">
                <a:latin typeface="Times New Roman" panose="02020603050405020304" charset="0"/>
                <a:ea typeface="黑体" panose="02010609060101010101" charset="-122"/>
                <a:cs typeface="Times New Roman" panose="02020603050405020304" charset="0"/>
              </a:rPr>
              <a:t>Agent Platforms</a:t>
            </a:r>
            <a:endParaRPr lang="en-US" altLang="zh-CN" sz="7200">
              <a:latin typeface="Times New Roman" panose="02020603050405020304" charset="0"/>
              <a:ea typeface="黑体" panose="02010609060101010101" charset="-122"/>
              <a:cs typeface="Times New Roman" panose="02020603050405020304" charset="0"/>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 22"/>
          <p:cNvSpPr/>
          <p:nvPr/>
        </p:nvSpPr>
        <p:spPr>
          <a:xfrm>
            <a:off x="0" y="0"/>
            <a:ext cx="17475200" cy="9753600"/>
          </a:xfrm>
          <a:prstGeom prst="rect">
            <a:avLst/>
          </a:prstGeom>
          <a:solidFill>
            <a:srgbClr val="F5F2E7">
              <a:alpha val="100000"/>
            </a:srgbClr>
          </a:solidFill>
          <a:ln w="0" cap="flat">
            <a:noFill/>
            <a:prstDash val="solid"/>
            <a:miter lim="0"/>
          </a:ln>
        </p:spPr>
        <p:txBody>
          <a:bodyPr rtlCol="0"/>
          <a:lstStyle/>
          <a:p>
            <a:pPr algn="ctr"/>
            <a:endParaRPr lang="zh-CN" altLang="en-US"/>
          </a:p>
        </p:txBody>
      </p:sp>
      <p:pic>
        <p:nvPicPr>
          <p:cNvPr id="24" name="picture 24"/>
          <p:cNvPicPr>
            <a:picLocks noChangeAspect="1"/>
          </p:cNvPicPr>
          <p:nvPr/>
        </p:nvPicPr>
        <p:blipFill>
          <a:blip r:embed="rId1"/>
          <a:stretch>
            <a:fillRect/>
          </a:stretch>
        </p:blipFill>
        <p:spPr>
          <a:xfrm rot="21600000">
            <a:off x="12756" y="5410224"/>
            <a:ext cx="17449683" cy="3397178"/>
          </a:xfrm>
          <a:prstGeom prst="rect">
            <a:avLst/>
          </a:prstGeom>
        </p:spPr>
      </p:pic>
      <p:sp>
        <p:nvSpPr>
          <p:cNvPr id="26" name="textbox 26"/>
          <p:cNvSpPr/>
          <p:nvPr/>
        </p:nvSpPr>
        <p:spPr>
          <a:xfrm>
            <a:off x="1051301" y="1084581"/>
            <a:ext cx="13907135" cy="4269104"/>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2085340" algn="l" rtl="0" eaLnBrk="0">
              <a:lnSpc>
                <a:spcPct val="83000"/>
              </a:lnSpc>
              <a:spcBef>
                <a:spcPts val="1000"/>
              </a:spcBef>
            </a:pPr>
            <a:endParaRPr sz="5000" baseline="7000" dirty="0">
              <a:latin typeface="Arial" panose="020B0604020202020204"/>
              <a:ea typeface="Arial" panose="020B0604020202020204"/>
              <a:cs typeface="Arial" panose="020B0604020202020204"/>
            </a:endParaRPr>
          </a:p>
        </p:txBody>
      </p:sp>
      <p:sp>
        <p:nvSpPr>
          <p:cNvPr id="28" name="textbox 28"/>
          <p:cNvSpPr/>
          <p:nvPr/>
        </p:nvSpPr>
        <p:spPr>
          <a:xfrm>
            <a:off x="16097336" y="9481038"/>
            <a:ext cx="1263650" cy="189864"/>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3000"/>
              </a:lnSpc>
            </a:pPr>
            <a:endParaRPr sz="1300" dirty="0">
              <a:latin typeface="Arial" panose="020B0604020202020204"/>
              <a:ea typeface="Arial" panose="020B0604020202020204"/>
              <a:cs typeface="Arial" panose="020B0604020202020204"/>
            </a:endParaRPr>
          </a:p>
        </p:txBody>
      </p:sp>
      <p:sp>
        <p:nvSpPr>
          <p:cNvPr id="2" name="文本框 1"/>
          <p:cNvSpPr txBox="1"/>
          <p:nvPr/>
        </p:nvSpPr>
        <p:spPr>
          <a:xfrm>
            <a:off x="1165225" y="2814320"/>
            <a:ext cx="5098415" cy="1445260"/>
          </a:xfrm>
          <a:prstGeom prst="rect">
            <a:avLst/>
          </a:prstGeom>
          <a:noFill/>
        </p:spPr>
        <p:txBody>
          <a:bodyPr wrap="square" rtlCol="0">
            <a:spAutoFit/>
          </a:bodyPr>
          <a:p>
            <a:r>
              <a:rPr lang="zh-CN" sz="8800">
                <a:latin typeface="华康行楷体 W5" panose="03000509000000000000" charset="-122"/>
                <a:ea typeface="华康行楷体 W5" panose="03000509000000000000" charset="-122"/>
                <a:cs typeface="华康行楷体 W5" panose="03000509000000000000" charset="-122"/>
              </a:rPr>
              <a:t>新劳动力</a:t>
            </a:r>
            <a:endParaRPr lang="zh-CN" sz="8800">
              <a:latin typeface="华康行楷体 W5" panose="03000509000000000000" charset="-122"/>
              <a:ea typeface="华康行楷体 W5" panose="03000509000000000000" charset="-122"/>
              <a:cs typeface="华康行楷体 W5" panose="03000509000000000000" charset="-122"/>
            </a:endParaRPr>
          </a:p>
        </p:txBody>
      </p:sp>
      <p:sp>
        <p:nvSpPr>
          <p:cNvPr id="3" name="文本框 2"/>
          <p:cNvSpPr txBox="1"/>
          <p:nvPr/>
        </p:nvSpPr>
        <p:spPr>
          <a:xfrm>
            <a:off x="5811520" y="1327150"/>
            <a:ext cx="6589395" cy="3784600"/>
          </a:xfrm>
          <a:prstGeom prst="rect">
            <a:avLst/>
          </a:prstGeom>
          <a:noFill/>
        </p:spPr>
        <p:txBody>
          <a:bodyPr wrap="square" rtlCol="0">
            <a:spAutoFit/>
          </a:bodyPr>
          <a:p>
            <a:pPr algn="ctr"/>
            <a:r>
              <a:rPr lang="zh-CN" altLang="en-US" sz="8000">
                <a:latin typeface="华康行楷体 W5" panose="03000509000000000000" charset="-122"/>
                <a:ea typeface="华康行楷体 W5" panose="03000509000000000000" charset="-122"/>
                <a:cs typeface="华康行楷体 W5" panose="03000509000000000000" charset="-122"/>
              </a:rPr>
              <a:t>可组合、</a:t>
            </a:r>
            <a:endParaRPr lang="zh-CN" altLang="en-US" sz="8000">
              <a:latin typeface="华康行楷体 W5" panose="03000509000000000000" charset="-122"/>
              <a:ea typeface="华康行楷体 W5" panose="03000509000000000000" charset="-122"/>
              <a:cs typeface="华康行楷体 W5" panose="03000509000000000000" charset="-122"/>
            </a:endParaRPr>
          </a:p>
          <a:p>
            <a:pPr algn="ctr"/>
            <a:r>
              <a:rPr lang="zh-CN" altLang="en-US" sz="8000">
                <a:latin typeface="华康行楷体 W5" panose="03000509000000000000" charset="-122"/>
                <a:ea typeface="华康行楷体 W5" panose="03000509000000000000" charset="-122"/>
                <a:cs typeface="华康行楷体 W5" panose="03000509000000000000" charset="-122"/>
              </a:rPr>
              <a:t>具记忆功能的智能体</a:t>
            </a:r>
            <a:endParaRPr lang="zh-CN" altLang="en-US" sz="8000">
              <a:latin typeface="华康行楷体 W5" panose="03000509000000000000" charset="-122"/>
              <a:ea typeface="华康行楷体 W5" panose="03000509000000000000" charset="-122"/>
              <a:cs typeface="华康行楷体 W5" panose="03000509000000000000" charset="-122"/>
            </a:endParaRPr>
          </a:p>
        </p:txBody>
      </p:sp>
      <p:sp>
        <p:nvSpPr>
          <p:cNvPr id="4" name="文本框 3"/>
          <p:cNvSpPr txBox="1"/>
          <p:nvPr/>
        </p:nvSpPr>
        <p:spPr>
          <a:xfrm>
            <a:off x="12260580" y="1942465"/>
            <a:ext cx="4404360" cy="2553335"/>
          </a:xfrm>
          <a:prstGeom prst="rect">
            <a:avLst/>
          </a:prstGeom>
          <a:noFill/>
        </p:spPr>
        <p:txBody>
          <a:bodyPr wrap="square" rtlCol="0">
            <a:spAutoFit/>
          </a:bodyPr>
          <a:p>
            <a:pPr lvl="0" algn="ctr">
              <a:buClrTx/>
              <a:buSzTx/>
              <a:buFontTx/>
            </a:pPr>
            <a:r>
              <a:rPr lang="zh-CN" altLang="en-US" sz="8000">
                <a:latin typeface="华康行楷体 W5" panose="03000509000000000000" charset="-122"/>
                <a:ea typeface="华康行楷体 W5" panose="03000509000000000000" charset="-122"/>
                <a:cs typeface="华康行楷体 W5" panose="03000509000000000000" charset="-122"/>
                <a:sym typeface="+mn-ea"/>
              </a:rPr>
              <a:t>执行</a:t>
            </a:r>
            <a:endParaRPr lang="zh-CN" altLang="en-US" sz="8000">
              <a:latin typeface="华康行楷体 W5" panose="03000509000000000000" charset="-122"/>
              <a:ea typeface="华康行楷体 W5" panose="03000509000000000000" charset="-122"/>
              <a:cs typeface="华康行楷体 W5" panose="03000509000000000000" charset="-122"/>
              <a:sym typeface="+mn-ea"/>
            </a:endParaRPr>
          </a:p>
          <a:p>
            <a:pPr lvl="0" algn="ctr">
              <a:buClrTx/>
              <a:buSzTx/>
              <a:buFontTx/>
            </a:pPr>
            <a:r>
              <a:rPr lang="zh-CN" altLang="en-US" sz="8000">
                <a:latin typeface="华康行楷体 W5" panose="03000509000000000000" charset="-122"/>
                <a:ea typeface="华康行楷体 W5" panose="03000509000000000000" charset="-122"/>
                <a:cs typeface="华康行楷体 W5" panose="03000509000000000000" charset="-122"/>
                <a:sym typeface="+mn-ea"/>
              </a:rPr>
              <a:t>专业任务</a:t>
            </a:r>
            <a:endParaRPr lang="zh-CN" altLang="en-US" sz="8000">
              <a:latin typeface="华康行楷体 W5" panose="03000509000000000000" charset="-122"/>
              <a:ea typeface="华康行楷体 W5" panose="03000509000000000000" charset="-122"/>
              <a:cs typeface="华康行楷体 W5" panose="03000509000000000000" charset="-122"/>
              <a:sym typeface="+mn-ea"/>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768350"/>
            <a:ext cx="606107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Third Chair  </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964305" y="77533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前种子轮</a:t>
            </a:r>
            <a:r>
              <a:rPr lang="en-US" altLang="zh-CN" sz="2800">
                <a:latin typeface="华文楷体" panose="02010600040101010101" charset="-122"/>
                <a:ea typeface="华文楷体" panose="02010600040101010101" charset="-122"/>
                <a:cs typeface="华文楷体" panose="02010600040101010101" charset="-122"/>
              </a:rPr>
              <a:t> $35M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·Third Chair </a:t>
            </a:r>
            <a:r>
              <a:rPr lang="zh-CN" altLang="en-US" sz="2800">
                <a:latin typeface="华文楷体" panose="02010600040101010101" charset="-122"/>
                <a:ea typeface="华文楷体" panose="02010600040101010101" charset="-122"/>
              </a:rPr>
              <a:t>提供</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驱动的知识产权执法平台，专注于帮助创作者和企业识别广告中的</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未经授权的知识产权使用。此外，它还提供</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法律服务和收入回收</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等增值服务，全面支持创作者在广告行业中的知识产权保护与盈利。</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“Unblock Legal, Unlock Growth.”</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138366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Pre Seed</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301230"/>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Third Chair</a:t>
            </a:r>
            <a:r>
              <a:rPr lang="zh-CN" altLang="en-US" sz="2800">
                <a:solidFill>
                  <a:schemeClr val="tx1"/>
                </a:solidFill>
                <a:latin typeface="华文楷体" panose="02010600040101010101" charset="-122"/>
                <a:ea typeface="华文楷体" panose="02010600040101010101" charset="-122"/>
              </a:rPr>
              <a:t>处于高增长阶段，资金相对较少</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市场竞争格局尚处于成熟与初创阶段之间</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927100" y="8572500"/>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Yoav Zimmerman                                Shourya Lala</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523875" y="394335"/>
            <a:ext cx="1400175" cy="1368425"/>
          </a:xfrm>
          <a:prstGeom prst="rect">
            <a:avLst/>
          </a:prstGeom>
        </p:spPr>
      </p:pic>
      <p:pic>
        <p:nvPicPr>
          <p:cNvPr id="7" name="图片 6"/>
          <p:cNvPicPr/>
          <p:nvPr/>
        </p:nvPicPr>
        <p:blipFill>
          <a:blip r:embed="rId4"/>
          <a:stretch>
            <a:fillRect/>
          </a:stretch>
        </p:blipFill>
        <p:spPr>
          <a:xfrm>
            <a:off x="448310" y="5234940"/>
            <a:ext cx="2995930" cy="2994025"/>
          </a:xfrm>
          <a:prstGeom prst="rect">
            <a:avLst/>
          </a:prstGeom>
        </p:spPr>
      </p:pic>
      <p:pic>
        <p:nvPicPr>
          <p:cNvPr id="8" name="图片 7"/>
          <p:cNvPicPr/>
          <p:nvPr/>
        </p:nvPicPr>
        <p:blipFill>
          <a:blip r:embed="rId5"/>
          <a:stretch>
            <a:fillRect/>
          </a:stretch>
        </p:blipFill>
        <p:spPr>
          <a:xfrm>
            <a:off x="4488815" y="5234940"/>
            <a:ext cx="2875280" cy="2994025"/>
          </a:xfrm>
          <a:prstGeom prst="rect">
            <a:avLst/>
          </a:prstGeom>
        </p:spPr>
      </p:pic>
      <p:pic>
        <p:nvPicPr>
          <p:cNvPr id="11" name="图片 10"/>
          <p:cNvPicPr>
            <a:picLocks noChangeAspect="1"/>
          </p:cNvPicPr>
          <p:nvPr/>
        </p:nvPicPr>
        <p:blipFill>
          <a:blip r:embed="rId6"/>
          <a:stretch>
            <a:fillRect/>
          </a:stretch>
        </p:blipFill>
        <p:spPr>
          <a:xfrm>
            <a:off x="9084310" y="1762760"/>
            <a:ext cx="8051165" cy="55213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768350"/>
            <a:ext cx="606107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Type</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552825" y="817880"/>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前种子轮</a:t>
            </a:r>
            <a:r>
              <a:rPr lang="en-US" altLang="zh-CN" sz="2800">
                <a:latin typeface="Times New Roman" panose="02020603050405020304" charset="0"/>
                <a:cs typeface="Times New Roman" panose="02020603050405020304" charset="0"/>
              </a:rPr>
              <a:t>  $35M</a:t>
            </a:r>
            <a:r>
              <a:rPr lang="zh-CN" altLang="en-US" sz="2800">
                <a:latin typeface="Times New Roman" panose="02020603050405020304" charset="0"/>
                <a:ea typeface="宋体" panose="02010600030101010101" pitchFamily="2" charset="-122"/>
                <a:cs typeface="Times New Roman" panose="02020603050405020304" charset="0"/>
              </a:rPr>
              <a:t>（</a:t>
            </a:r>
            <a:r>
              <a:rPr lang="en-US" altLang="zh-CN" sz="2800">
                <a:latin typeface="Times New Roman" panose="02020603050405020304" charset="0"/>
                <a:ea typeface="宋体" panose="02010600030101010101" pitchFamily="2" charset="-122"/>
                <a:cs typeface="Times New Roman" panose="02020603050405020304" charset="0"/>
              </a:rPr>
              <a:t>GPT</a:t>
            </a:r>
            <a:r>
              <a:rPr lang="zh-CN" altLang="en-US" sz="2800">
                <a:latin typeface="Times New Roman" panose="02020603050405020304" charset="0"/>
                <a:ea typeface="宋体" panose="02010600030101010101" pitchFamily="2" charset="-122"/>
                <a:cs typeface="Times New Roman" panose="02020603050405020304" charset="0"/>
              </a:rPr>
              <a:t>）</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396938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·Type </a:t>
            </a:r>
            <a:r>
              <a:rPr lang="zh-CN" altLang="en-US" sz="2800">
                <a:latin typeface="华文楷体" panose="02010600040101010101" charset="-122"/>
                <a:ea typeface="华文楷体" panose="02010600040101010101" charset="-122"/>
              </a:rPr>
              <a:t>是一家专注</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驱动的长文写作平台，通过智能文档编辑器帮助用户轻松撰写书籍、论文或各类长篇内容。它集成了多种</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写作功能，包括智能写作助手、实时创意提示、段落生成、格式模板和句子重写等，让写作从构思、生成、润色到发布全过程更高效、更有质量。</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“Tell better stories.”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Pre Seed</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Ascend</a:t>
            </a:r>
            <a:r>
              <a:rPr lang="zh-CN" altLang="en-US" sz="2800">
                <a:latin typeface="华文楷体" panose="02010600040101010101" charset="-122"/>
                <a:ea typeface="华文楷体" panose="02010600040101010101" charset="-122"/>
              </a:rPr>
              <a:t>（关注前种子轮，</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方向）</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301230"/>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 Type</a:t>
            </a:r>
            <a:r>
              <a:rPr lang="zh-CN" altLang="en-US" sz="2800">
                <a:latin typeface="华文楷体" panose="02010600040101010101" charset="-122"/>
                <a:ea typeface="华文楷体" panose="02010600040101010101" charset="-122"/>
                <a:sym typeface="+mn-ea"/>
              </a:rPr>
              <a:t>和</a:t>
            </a:r>
            <a:r>
              <a:rPr lang="en-US" altLang="zh-CN" sz="2800">
                <a:latin typeface="华文楷体" panose="02010600040101010101" charset="-122"/>
                <a:ea typeface="华文楷体" panose="02010600040101010101" charset="-122"/>
                <a:sym typeface="+mn-ea"/>
              </a:rPr>
              <a:t>Tav </a:t>
            </a:r>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处于高增长区域，但融资额差异较大</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·Type </a:t>
            </a:r>
            <a:r>
              <a:rPr lang="zh-CN" altLang="en-US" sz="2800">
                <a:solidFill>
                  <a:schemeClr val="tx1"/>
                </a:solidFill>
                <a:latin typeface="华文楷体" panose="02010600040101010101" charset="-122"/>
                <a:ea typeface="华文楷体" panose="02010600040101010101" charset="-122"/>
              </a:rPr>
              <a:t>仍处于初期发展阶段</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927100" y="8572500"/>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Stew Fortier                                     Stefan Li</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6" name="图片 5"/>
          <p:cNvPicPr/>
          <p:nvPr/>
        </p:nvPicPr>
        <p:blipFill>
          <a:blip r:embed="rId3"/>
          <a:stretch>
            <a:fillRect/>
          </a:stretch>
        </p:blipFill>
        <p:spPr>
          <a:xfrm>
            <a:off x="589280" y="394335"/>
            <a:ext cx="1235710" cy="1368425"/>
          </a:xfrm>
          <a:prstGeom prst="rect">
            <a:avLst/>
          </a:prstGeom>
        </p:spPr>
      </p:pic>
      <p:pic>
        <p:nvPicPr>
          <p:cNvPr id="12" name="图片 11"/>
          <p:cNvPicPr/>
          <p:nvPr/>
        </p:nvPicPr>
        <p:blipFill>
          <a:blip r:embed="rId4"/>
          <a:stretch>
            <a:fillRect/>
          </a:stretch>
        </p:blipFill>
        <p:spPr>
          <a:xfrm>
            <a:off x="1002665" y="5775325"/>
            <a:ext cx="2625725" cy="2627630"/>
          </a:xfrm>
          <a:prstGeom prst="rect">
            <a:avLst/>
          </a:prstGeom>
        </p:spPr>
      </p:pic>
      <p:pic>
        <p:nvPicPr>
          <p:cNvPr id="13" name="图片 12"/>
          <p:cNvPicPr/>
          <p:nvPr/>
        </p:nvPicPr>
        <p:blipFill>
          <a:blip r:embed="rId5"/>
          <a:stretch>
            <a:fillRect/>
          </a:stretch>
        </p:blipFill>
        <p:spPr>
          <a:xfrm>
            <a:off x="4624705" y="5839460"/>
            <a:ext cx="2409190" cy="2563495"/>
          </a:xfrm>
          <a:prstGeom prst="rect">
            <a:avLst/>
          </a:prstGeom>
        </p:spPr>
      </p:pic>
      <p:pic>
        <p:nvPicPr>
          <p:cNvPr id="14" name="图片 13"/>
          <p:cNvPicPr>
            <a:picLocks noChangeAspect="1"/>
          </p:cNvPicPr>
          <p:nvPr/>
        </p:nvPicPr>
        <p:blipFill>
          <a:blip r:embed="rId6"/>
          <a:stretch>
            <a:fillRect/>
          </a:stretch>
        </p:blipFill>
        <p:spPr>
          <a:xfrm>
            <a:off x="8950960" y="2004695"/>
            <a:ext cx="8297545" cy="50819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118745"/>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768350"/>
            <a:ext cx="6061075" cy="79883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Alpha Design AI</a:t>
            </a:r>
            <a:endParaRPr lang="en-US" altLang="zh-CN" sz="2800">
              <a:latin typeface="Times New Roman" panose="02020603050405020304" charset="0"/>
              <a:cs typeface="Times New Roman" panose="02020603050405020304" charset="0"/>
            </a:endParaRPr>
          </a:p>
          <a:p>
            <a:r>
              <a:rPr lang="en-US" altLang="zh-CN"/>
              <a:t>  </a:t>
            </a:r>
            <a:endParaRPr lang="en-US" altLang="zh-CN"/>
          </a:p>
        </p:txBody>
      </p:sp>
      <p:cxnSp>
        <p:nvCxnSpPr>
          <p:cNvPr id="4" name="直接连接符 3"/>
          <p:cNvCxnSpPr>
            <a:endCxn id="84" idx="2"/>
          </p:cNvCxnSpPr>
          <p:nvPr/>
        </p:nvCxnSpPr>
        <p:spPr>
          <a:xfrm>
            <a:off x="8709660" y="-43180"/>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964305" y="126809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04695"/>
            <a:ext cx="7760335" cy="439991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·Alpha Design AI </a:t>
            </a:r>
            <a:r>
              <a:rPr lang="zh-CN" altLang="en-US" sz="2800">
                <a:latin typeface="华文楷体" panose="02010600040101010101" charset="-122"/>
                <a:ea typeface="华文楷体" panose="02010600040101010101" charset="-122"/>
              </a:rPr>
              <a:t>是一家专注将</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人工智能深度融入芯片设计流程</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的科技公司，它正在重新定义传统的电子设计自动化（</a:t>
            </a:r>
            <a:r>
              <a:rPr lang="en-US" altLang="zh-CN" sz="2800">
                <a:latin typeface="华文楷体" panose="02010600040101010101" charset="-122"/>
                <a:ea typeface="华文楷体" panose="02010600040101010101" charset="-122"/>
              </a:rPr>
              <a:t>EDA</a:t>
            </a:r>
            <a:r>
              <a:rPr lang="zh-CN" altLang="en-US" sz="2800">
                <a:latin typeface="华文楷体" panose="02010600040101010101" charset="-122"/>
                <a:ea typeface="华文楷体" panose="02010600040101010101" charset="-122"/>
              </a:rPr>
              <a:t>）工具。公司利</a:t>
            </a:r>
            <a:r>
              <a:rPr lang="en-US" altLang="zh-CN" sz="2800">
                <a:latin typeface="华文楷体" panose="02010600040101010101" charset="-122"/>
                <a:ea typeface="华文楷体" panose="02010600040101010101" charset="-122"/>
              </a:rPr>
              <a:t>Agentic AI</a:t>
            </a:r>
            <a:r>
              <a:rPr lang="zh-CN" altLang="en-US" sz="2800">
                <a:latin typeface="华文楷体" panose="02010600040101010101" charset="-122"/>
                <a:ea typeface="华文楷体" panose="02010600040101010101" charset="-122"/>
              </a:rPr>
              <a:t>技术，构建可以自主执行设计任务的智能系统，帮助工程师显著提升芯片设计和验证的效率。</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“TheAgentic AIChip Design Environment”</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909685" y="1966595"/>
            <a:ext cx="8474710"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Pre Seed</a:t>
            </a:r>
            <a:r>
              <a:rPr lang="zh-CN" altLang="en-US" sz="2800">
                <a:latin typeface="华文楷体" panose="02010600040101010101" charset="-122"/>
                <a:ea typeface="华文楷体" panose="02010600040101010101" charset="-122"/>
              </a:rPr>
              <a:t>轮和</a:t>
            </a:r>
            <a:r>
              <a:rPr lang="en-US" altLang="zh-CN" sz="2800">
                <a:latin typeface="华文楷体" panose="02010600040101010101" charset="-122"/>
                <a:ea typeface="华文楷体" panose="02010600040101010101" charset="-122"/>
              </a:rPr>
              <a:t>A</a:t>
            </a:r>
            <a:r>
              <a:rPr lang="zh-CN" altLang="en-US" sz="2800">
                <a:latin typeface="华文楷体" panose="02010600040101010101" charset="-122"/>
                <a:ea typeface="华文楷体" panose="02010600040101010101" charset="-122"/>
              </a:rPr>
              <a:t>轮融</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资中，还有如下机构参与：</a:t>
            </a:r>
            <a:r>
              <a:rPr lang="en-US" altLang="zh-CN" sz="2800">
                <a:latin typeface="华文楷体" panose="02010600040101010101" charset="-122"/>
                <a:ea typeface="华文楷体" panose="02010600040101010101" charset="-122"/>
              </a:rPr>
              <a:t>Bessemer Venture Partners(</a:t>
            </a:r>
            <a:r>
              <a:rPr lang="zh-CN" altLang="en-US" sz="2800">
                <a:latin typeface="华文楷体" panose="02010600040101010101" charset="-122"/>
                <a:ea typeface="华文楷体" panose="02010600040101010101" charset="-122"/>
              </a:rPr>
              <a:t>关注高成长技术创新公司）、</a:t>
            </a:r>
            <a:r>
              <a:rPr lang="en-US" altLang="zh-CN" sz="2800">
                <a:latin typeface="华文楷体" panose="02010600040101010101" charset="-122"/>
                <a:ea typeface="华文楷体" panose="02010600040101010101" charset="-122"/>
              </a:rPr>
              <a:t>Micron Ventures</a:t>
            </a:r>
            <a:r>
              <a:rPr lang="zh-CN" altLang="en-US" sz="2800">
                <a:latin typeface="华文楷体" panose="02010600040101010101" charset="-122"/>
                <a:ea typeface="华文楷体" panose="02010600040101010101" charset="-122"/>
              </a:rPr>
              <a:t>（专注于支持半导体、存储技术及其相关创新）、</a:t>
            </a:r>
            <a:r>
              <a:rPr lang="en-US" altLang="zh-CN" sz="2800">
                <a:latin typeface="华文楷体" panose="02010600040101010101" charset="-122"/>
                <a:ea typeface="华文楷体" panose="02010600040101010101" charset="-122"/>
              </a:rPr>
              <a:t>Ericsson</a:t>
            </a:r>
            <a:r>
              <a:rPr lang="zh-CN" altLang="en-US" sz="2800">
                <a:latin typeface="华文楷体" panose="02010600040101010101" charset="-122"/>
                <a:ea typeface="华文楷体" panose="02010600040101010101" charset="-122"/>
              </a:rPr>
              <a:t>（通信巨头，专注投资通信和信息技术）、</a:t>
            </a:r>
            <a:r>
              <a:rPr lang="en-US" altLang="zh-CN" sz="2800">
                <a:latin typeface="华文楷体" panose="02010600040101010101" charset="-122"/>
                <a:ea typeface="华文楷体" panose="02010600040101010101" charset="-122"/>
              </a:rPr>
              <a:t>MediaTek</a:t>
            </a:r>
            <a:r>
              <a:rPr lang="zh-CN" altLang="en-US" sz="2800">
                <a:latin typeface="华文楷体" panose="02010600040101010101" charset="-122"/>
                <a:ea typeface="华文楷体" panose="02010600040101010101" charset="-122"/>
              </a:rPr>
              <a:t>（半导体巨头，专注投资移动通信、物联网、智能设备）</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8909685" y="5755640"/>
            <a:ext cx="7533640" cy="521970"/>
          </a:xfrm>
          <a:prstGeom prst="rect">
            <a:avLst/>
          </a:prstGeom>
          <a:noFill/>
        </p:spPr>
        <p:txBody>
          <a:bodyPr wrap="square" rtlCol="0">
            <a:spAutoFit/>
          </a:bodyPr>
          <a:p>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暂无同类公司比较分析</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158750" y="8496935"/>
            <a:ext cx="8041005" cy="1014730"/>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Walden C Rhines                Erez Tsur                             Jack Harding</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Board Member             Board Member                       </a:t>
            </a:r>
            <a:r>
              <a:rPr lang="en-US" altLang="zh-CN" sz="2000">
                <a:latin typeface="Times New Roman" panose="02020603050405020304" charset="0"/>
                <a:cs typeface="Times New Roman" panose="02020603050405020304" charset="0"/>
                <a:sym typeface="+mn-ea"/>
              </a:rPr>
              <a:t>Board Member</a:t>
            </a:r>
            <a:endParaRPr lang="en-US" altLang="zh-CN" sz="2000">
              <a:latin typeface="Times New Roman" panose="02020603050405020304" charset="0"/>
              <a:cs typeface="Times New Roman" panose="02020603050405020304" charset="0"/>
            </a:endParaRPr>
          </a:p>
          <a:p>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83540" y="272415"/>
            <a:ext cx="1649095" cy="1595120"/>
          </a:xfrm>
          <a:prstGeom prst="rect">
            <a:avLst/>
          </a:prstGeom>
        </p:spPr>
      </p:pic>
      <p:sp>
        <p:nvSpPr>
          <p:cNvPr id="7" name="文本框 6"/>
          <p:cNvSpPr txBox="1"/>
          <p:nvPr/>
        </p:nvSpPr>
        <p:spPr>
          <a:xfrm>
            <a:off x="4418965" y="807720"/>
            <a:ext cx="5120005" cy="953135"/>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b="1">
                <a:latin typeface="Times New Roman" panose="02020603050405020304" charset="0"/>
                <a:cs typeface="Times New Roman" panose="02020603050405020304" charset="0"/>
              </a:rPr>
              <a:t> </a:t>
            </a:r>
            <a:r>
              <a:rPr lang="en-US" altLang="zh-CN" sz="2800">
                <a:latin typeface="Times New Roman" panose="02020603050405020304" charset="0"/>
                <a:ea typeface="宋体" panose="02010600030101010101" pitchFamily="2" charset="-122"/>
                <a:cs typeface="Times New Roman" panose="02020603050405020304" charset="0"/>
              </a:rPr>
              <a:t>$45M</a:t>
            </a:r>
            <a:r>
              <a:rPr lang="en-US" altLang="zh-CN" sz="2800">
                <a:latin typeface="Times New Roman" panose="02020603050405020304" charset="0"/>
                <a:cs typeface="Times New Roman" panose="02020603050405020304" charset="0"/>
              </a:rPr>
              <a:t>                   $2.2BN</a:t>
            </a:r>
            <a:endParaRPr lang="en-US" altLang="zh-CN" sz="2800">
              <a:latin typeface="Times New Roman" panose="02020603050405020304" charset="0"/>
              <a:cs typeface="Times New Roman" panose="02020603050405020304" charset="0"/>
            </a:endParaRPr>
          </a:p>
          <a:p>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pic>
        <p:nvPicPr>
          <p:cNvPr id="8" name="图片 7" descr="图片2"/>
          <p:cNvPicPr>
            <a:picLocks noChangeAspect="1"/>
          </p:cNvPicPr>
          <p:nvPr/>
        </p:nvPicPr>
        <p:blipFill>
          <a:blip r:embed="rId4"/>
          <a:stretch>
            <a:fillRect/>
          </a:stretch>
        </p:blipFill>
        <p:spPr>
          <a:xfrm>
            <a:off x="5867400" y="739140"/>
            <a:ext cx="1064260" cy="528955"/>
          </a:xfrm>
          <a:prstGeom prst="rect">
            <a:avLst/>
          </a:prstGeom>
        </p:spPr>
      </p:pic>
      <p:sp>
        <p:nvSpPr>
          <p:cNvPr id="16" name="文本框 15"/>
          <p:cNvSpPr txBox="1"/>
          <p:nvPr/>
        </p:nvSpPr>
        <p:spPr>
          <a:xfrm>
            <a:off x="2908935" y="1297305"/>
            <a:ext cx="6176010" cy="398780"/>
          </a:xfrm>
          <a:prstGeom prst="rect">
            <a:avLst/>
          </a:prstGeom>
          <a:noFill/>
        </p:spPr>
        <p:txBody>
          <a:bodyPr wrap="square" rtlCol="0">
            <a:spAutoFit/>
          </a:bodyPr>
          <a:p>
            <a:r>
              <a:rPr lang="en-US" altLang="zh-CN" sz="2000">
                <a:latin typeface="华文楷体" panose="02010600040101010101" charset="-122"/>
                <a:ea typeface="华文楷体" panose="02010600040101010101" charset="-122"/>
                <a:cs typeface="华文楷体" panose="02010600040101010101" charset="-122"/>
              </a:rPr>
              <a:t>                  </a:t>
            </a:r>
            <a:r>
              <a:rPr lang="zh-CN" altLang="en-US" sz="2000">
                <a:latin typeface="华文楷体" panose="02010600040101010101" charset="-122"/>
                <a:ea typeface="华文楷体" panose="02010600040101010101" charset="-122"/>
                <a:cs typeface="华文楷体" panose="02010600040101010101" charset="-122"/>
              </a:rPr>
              <a:t>种子轮</a:t>
            </a:r>
            <a:r>
              <a:rPr lang="en-US" altLang="zh-CN" sz="2000">
                <a:latin typeface="华文楷体" panose="02010600040101010101" charset="-122"/>
                <a:ea typeface="华文楷体" panose="02010600040101010101" charset="-122"/>
                <a:cs typeface="华文楷体" panose="02010600040101010101" charset="-122"/>
              </a:rPr>
              <a:t>GPT</a:t>
            </a:r>
            <a:r>
              <a:rPr lang="zh-CN" altLang="en-US" sz="2000">
                <a:latin typeface="华文楷体" panose="02010600040101010101" charset="-122"/>
                <a:ea typeface="华文楷体" panose="02010600040101010101" charset="-122"/>
                <a:cs typeface="华文楷体" panose="02010600040101010101" charset="-122"/>
              </a:rPr>
              <a:t>预计</a:t>
            </a:r>
            <a:r>
              <a:rPr lang="en-US" altLang="zh-CN" sz="2000">
                <a:latin typeface="华文楷体" panose="02010600040101010101" charset="-122"/>
                <a:ea typeface="华文楷体" panose="02010600040101010101" charset="-122"/>
                <a:cs typeface="华文楷体" panose="02010600040101010101" charset="-122"/>
              </a:rPr>
              <a:t>                        B</a:t>
            </a:r>
            <a:r>
              <a:rPr lang="zh-CN" altLang="en-US" sz="2000">
                <a:latin typeface="华文楷体" panose="02010600040101010101" charset="-122"/>
                <a:ea typeface="华文楷体" panose="02010600040101010101" charset="-122"/>
                <a:cs typeface="华文楷体" panose="02010600040101010101" charset="-122"/>
              </a:rPr>
              <a:t>轮预计</a:t>
            </a:r>
            <a:endParaRPr lang="zh-CN" altLang="en-US" sz="2000">
              <a:latin typeface="华文楷体" panose="02010600040101010101" charset="-122"/>
              <a:ea typeface="华文楷体" panose="02010600040101010101" charset="-122"/>
              <a:cs typeface="华文楷体" panose="02010600040101010101" charset="-122"/>
            </a:endParaRPr>
          </a:p>
        </p:txBody>
      </p:sp>
      <p:pic>
        <p:nvPicPr>
          <p:cNvPr id="17" name="图片 16"/>
          <p:cNvPicPr/>
          <p:nvPr/>
        </p:nvPicPr>
        <p:blipFill>
          <a:blip r:embed="rId5"/>
          <a:stretch>
            <a:fillRect/>
          </a:stretch>
        </p:blipFill>
        <p:spPr>
          <a:xfrm>
            <a:off x="310515" y="6024245"/>
            <a:ext cx="1999615" cy="2172970"/>
          </a:xfrm>
          <a:prstGeom prst="rect">
            <a:avLst/>
          </a:prstGeom>
        </p:spPr>
      </p:pic>
      <p:pic>
        <p:nvPicPr>
          <p:cNvPr id="19" name="图片 18"/>
          <p:cNvPicPr/>
          <p:nvPr/>
        </p:nvPicPr>
        <p:blipFill>
          <a:blip r:embed="rId6"/>
          <a:stretch>
            <a:fillRect/>
          </a:stretch>
        </p:blipFill>
        <p:spPr>
          <a:xfrm>
            <a:off x="2795905" y="6024245"/>
            <a:ext cx="1989455" cy="2172970"/>
          </a:xfrm>
          <a:prstGeom prst="rect">
            <a:avLst/>
          </a:prstGeom>
        </p:spPr>
      </p:pic>
      <p:pic>
        <p:nvPicPr>
          <p:cNvPr id="21" name="图片 20"/>
          <p:cNvPicPr/>
          <p:nvPr/>
        </p:nvPicPr>
        <p:blipFill>
          <a:blip r:embed="rId7"/>
          <a:stretch>
            <a:fillRect/>
          </a:stretch>
        </p:blipFill>
        <p:spPr>
          <a:xfrm>
            <a:off x="5799455" y="6024245"/>
            <a:ext cx="1921510" cy="21729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768350"/>
            <a:ext cx="606107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Sepal AI</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552825" y="817880"/>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zh-CN" altLang="en-US" sz="2800">
                <a:latin typeface="华文楷体" panose="02010600040101010101" charset="-122"/>
                <a:ea typeface="华文楷体" panose="02010600040101010101" charset="-122"/>
                <a:cs typeface="华文楷体" panose="02010600040101010101" charset="-122"/>
              </a:rPr>
              <a:t>前种子轮</a:t>
            </a:r>
            <a:r>
              <a:rPr lang="en-US" altLang="zh-CN" sz="2800">
                <a:latin typeface="华文楷体" panose="02010600040101010101" charset="-122"/>
                <a:ea typeface="华文楷体" panose="02010600040101010101" charset="-122"/>
                <a:cs typeface="华文楷体" panose="02010600040101010101" charset="-122"/>
              </a:rPr>
              <a:t> $35M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310769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·Sepal AI </a:t>
            </a:r>
            <a:r>
              <a:rPr lang="zh-CN" altLang="en-US" sz="2800">
                <a:latin typeface="华文楷体" panose="02010600040101010101" charset="-122"/>
                <a:ea typeface="华文楷体" panose="02010600040101010101" charset="-122"/>
              </a:rPr>
              <a:t>是一个面向企业的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模型开发与应用平台，通过数据服务、专家网络、定制评测和代理级</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应用，加速</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模型从研发到落地的全过程。</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“Contribute to safe AI research.”</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Pre Seed</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Team Ignite Ventures</a:t>
            </a:r>
            <a:r>
              <a:rPr lang="zh-CN" altLang="en-US" sz="2800">
                <a:latin typeface="华文楷体" panose="02010600040101010101" charset="-122"/>
                <a:ea typeface="华文楷体" panose="02010600040101010101" charset="-122"/>
              </a:rPr>
              <a:t>（关注早期，</a:t>
            </a:r>
            <a:r>
              <a:rPr lang="en-US" altLang="zh-CN" sz="2800">
                <a:latin typeface="华文楷体" panose="02010600040101010101" charset="-122"/>
                <a:ea typeface="华文楷体" panose="02010600040101010101" charset="-122"/>
              </a:rPr>
              <a:t>AI/Fintech/</a:t>
            </a:r>
            <a:r>
              <a:rPr lang="zh-CN" altLang="en-US" sz="2800">
                <a:latin typeface="华文楷体" panose="02010600040101010101" charset="-122"/>
                <a:ea typeface="华文楷体" panose="02010600040101010101" charset="-122"/>
              </a:rPr>
              <a:t>市场平台方向）</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301230"/>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Sepal AI </a:t>
            </a:r>
            <a:r>
              <a:rPr lang="zh-CN" altLang="en-US" sz="2800">
                <a:solidFill>
                  <a:schemeClr val="tx1"/>
                </a:solidFill>
                <a:latin typeface="华文楷体" panose="02010600040101010101" charset="-122"/>
                <a:ea typeface="华文楷体" panose="02010600040101010101" charset="-122"/>
              </a:rPr>
              <a:t>处于高增长区，融资较少</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与行业巨头竞争，市场竞争激烈</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高增长公司处于初期阶段，发展潜力巨大</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2471420" y="8409305"/>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Fedor Paretsky </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Co-founder and CTO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10515" y="189865"/>
            <a:ext cx="1649095" cy="1671320"/>
          </a:xfrm>
          <a:prstGeom prst="rect">
            <a:avLst/>
          </a:prstGeom>
        </p:spPr>
      </p:pic>
      <p:pic>
        <p:nvPicPr>
          <p:cNvPr id="8" name="图片 7"/>
          <p:cNvPicPr/>
          <p:nvPr/>
        </p:nvPicPr>
        <p:blipFill>
          <a:blip r:embed="rId4"/>
          <a:stretch>
            <a:fillRect/>
          </a:stretch>
        </p:blipFill>
        <p:spPr>
          <a:xfrm>
            <a:off x="2165985" y="4812030"/>
            <a:ext cx="3018790" cy="3311525"/>
          </a:xfrm>
          <a:prstGeom prst="rect">
            <a:avLst/>
          </a:prstGeom>
        </p:spPr>
      </p:pic>
      <p:pic>
        <p:nvPicPr>
          <p:cNvPr id="11" name="图片 10"/>
          <p:cNvPicPr>
            <a:picLocks noChangeAspect="1"/>
          </p:cNvPicPr>
          <p:nvPr/>
        </p:nvPicPr>
        <p:blipFill>
          <a:blip r:embed="rId5"/>
          <a:stretch>
            <a:fillRect/>
          </a:stretch>
        </p:blipFill>
        <p:spPr>
          <a:xfrm>
            <a:off x="9084310" y="2089150"/>
            <a:ext cx="7533640" cy="49828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1943100" y="768350"/>
            <a:ext cx="606107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Caseflood.ai</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353560" y="768350"/>
            <a:ext cx="5120005" cy="521970"/>
          </a:xfrm>
          <a:prstGeom prst="rect">
            <a:avLst/>
          </a:prstGeom>
          <a:noFill/>
        </p:spPr>
        <p:txBody>
          <a:bodyPr wrap="square" rtlCol="0">
            <a:spAutoFit/>
          </a:bodyPr>
          <a:p>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$45M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310769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·Caseflood.ai </a:t>
            </a:r>
            <a:r>
              <a:rPr lang="zh-CN" altLang="en-US" sz="2800">
                <a:latin typeface="华文楷体" panose="02010600040101010101" charset="-122"/>
                <a:ea typeface="华文楷体" panose="02010600040101010101" charset="-122"/>
              </a:rPr>
              <a:t>是一个专为律师事务所设计的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驱动智能助手平台，通过自动化客户接待、案件管理和沟通流程，替代或减少人工行政人员干预，使法律服务团队更高效、更智能运行。</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“We turn your ringing phone into dollars.”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9000490" y="3259455"/>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Team Ignite Ventures</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Rebel Fund</a:t>
            </a:r>
            <a:r>
              <a:rPr lang="zh-CN" altLang="en-US" sz="2800">
                <a:latin typeface="华文楷体" panose="02010600040101010101" charset="-122"/>
                <a:ea typeface="华文楷体" panose="02010600040101010101" charset="-122"/>
              </a:rPr>
              <a:t>（关注创新的市场颠覆者）</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301230"/>
            <a:ext cx="7533640" cy="521970"/>
          </a:xfrm>
          <a:prstGeom prst="rect">
            <a:avLst/>
          </a:prstGeom>
          <a:noFill/>
        </p:spPr>
        <p:txBody>
          <a:bodyPr wrap="square" rtlCol="0">
            <a:spAutoFit/>
          </a:bodyPr>
          <a:p>
            <a:r>
              <a:rPr lang="en-US" sz="2800">
                <a:latin typeface="华文楷体" panose="02010600040101010101" charset="-122"/>
                <a:ea typeface="华文楷体" panose="02010600040101010101" charset="-122"/>
              </a:rPr>
              <a:t>·</a:t>
            </a:r>
            <a:endParaRPr 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288925" y="8063865"/>
            <a:ext cx="8074025"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Ethan Hilton                 Tolen Schreid              Ayushman Srivastava</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   Co-founder and Head of AI</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109855" y="189865"/>
            <a:ext cx="1573530" cy="1508760"/>
          </a:xfrm>
          <a:prstGeom prst="rect">
            <a:avLst/>
          </a:prstGeom>
        </p:spPr>
      </p:pic>
      <p:pic>
        <p:nvPicPr>
          <p:cNvPr id="7" name="图片 6"/>
          <p:cNvPicPr/>
          <p:nvPr/>
        </p:nvPicPr>
        <p:blipFill>
          <a:blip r:embed="rId4"/>
          <a:stretch>
            <a:fillRect/>
          </a:stretch>
        </p:blipFill>
        <p:spPr>
          <a:xfrm>
            <a:off x="3028315" y="5074285"/>
            <a:ext cx="2324735" cy="2616200"/>
          </a:xfrm>
          <a:prstGeom prst="rect">
            <a:avLst/>
          </a:prstGeom>
        </p:spPr>
      </p:pic>
      <p:pic>
        <p:nvPicPr>
          <p:cNvPr id="8" name="图片 7"/>
          <p:cNvPicPr/>
          <p:nvPr/>
        </p:nvPicPr>
        <p:blipFill>
          <a:blip r:embed="rId5"/>
          <a:stretch>
            <a:fillRect/>
          </a:stretch>
        </p:blipFill>
        <p:spPr>
          <a:xfrm>
            <a:off x="310515" y="5074285"/>
            <a:ext cx="2269490" cy="2616835"/>
          </a:xfrm>
          <a:prstGeom prst="rect">
            <a:avLst/>
          </a:prstGeom>
        </p:spPr>
      </p:pic>
      <p:pic>
        <p:nvPicPr>
          <p:cNvPr id="16" name="图片 15"/>
          <p:cNvPicPr/>
          <p:nvPr/>
        </p:nvPicPr>
        <p:blipFill>
          <a:blip r:embed="rId6"/>
          <a:stretch>
            <a:fillRect/>
          </a:stretch>
        </p:blipFill>
        <p:spPr>
          <a:xfrm>
            <a:off x="6038215" y="5074285"/>
            <a:ext cx="2232660" cy="2616200"/>
          </a:xfrm>
          <a:prstGeom prst="rect">
            <a:avLst/>
          </a:prstGeom>
        </p:spPr>
      </p:pic>
      <p:sp>
        <p:nvSpPr>
          <p:cNvPr id="17" name="文本框 16"/>
          <p:cNvSpPr txBox="1"/>
          <p:nvPr/>
        </p:nvSpPr>
        <p:spPr>
          <a:xfrm>
            <a:off x="9023985" y="5518150"/>
            <a:ext cx="4405630" cy="95313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sym typeface="+mn-ea"/>
              </a:rPr>
              <a:t>·</a:t>
            </a:r>
            <a:r>
              <a:rPr lang="zh-CN" altLang="en-US" sz="2800">
                <a:latin typeface="华文楷体" panose="02010600040101010101" charset="-122"/>
                <a:ea typeface="华文楷体" panose="02010600040101010101" charset="-122"/>
                <a:sym typeface="+mn-ea"/>
              </a:rPr>
              <a:t>暂无同类公司比较分析</a:t>
            </a:r>
            <a:endParaRPr lang="zh-CN" altLang="en-US" sz="2800">
              <a:solidFill>
                <a:schemeClr val="tx1"/>
              </a:solidFill>
              <a:latin typeface="华文楷体" panose="02010600040101010101" charset="-122"/>
              <a:ea typeface="华文楷体" panose="02010600040101010101" charset="-122"/>
            </a:endParaRPr>
          </a:p>
          <a:p>
            <a:endParaRPr lang="zh-CN" altLang="en-US" sz="2800">
              <a:solidFill>
                <a:schemeClr val="tx1"/>
              </a:solidFill>
              <a:latin typeface="华文楷体" panose="02010600040101010101" charset="-122"/>
              <a:ea typeface="华文楷体" panose="0201060004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768350"/>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cs typeface="华文楷体" panose="02010600040101010101" charset="-122"/>
              </a:rPr>
              <a:t>AthenaHQ</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768350"/>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$50M</a:t>
            </a:r>
            <a:r>
              <a:rPr lang="zh-CN" altLang="en-US" sz="2800">
                <a:latin typeface="Times New Roman" panose="02020603050405020304" charset="0"/>
                <a:ea typeface="宋体" panose="02010600030101010101" pitchFamily="2" charset="-122"/>
                <a:cs typeface="Times New Roman" panose="02020603050405020304" charset="0"/>
              </a:rPr>
              <a:t>（</a:t>
            </a:r>
            <a:r>
              <a:rPr lang="en-US" altLang="zh-CN" sz="2800">
                <a:latin typeface="Times New Roman" panose="02020603050405020304" charset="0"/>
                <a:ea typeface="宋体" panose="02010600030101010101" pitchFamily="2" charset="-122"/>
                <a:cs typeface="Times New Roman" panose="02020603050405020304" charset="0"/>
              </a:rPr>
              <a:t>GPT</a:t>
            </a:r>
            <a:r>
              <a:rPr lang="zh-CN" altLang="en-US" sz="2800">
                <a:latin typeface="Times New Roman" panose="02020603050405020304" charset="0"/>
                <a:ea typeface="宋体" panose="02010600030101010101" pitchFamily="2" charset="-122"/>
                <a:cs typeface="Times New Roman" panose="02020603050405020304" charset="0"/>
              </a:rPr>
              <a:t>）</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089150"/>
            <a:ext cx="7760335" cy="310769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·AthenaHQ </a:t>
            </a:r>
            <a:r>
              <a:rPr lang="zh-CN" altLang="en-US" sz="2800">
                <a:latin typeface="华文楷体" panose="02010600040101010101" charset="-122"/>
                <a:ea typeface="华文楷体" panose="02010600040101010101" charset="-122"/>
              </a:rPr>
              <a:t>是一个专为现代品牌和营销团队打造的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搜索监测与优化平台，帮助企业在不断发展的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驱动搜索环境中保持竞争力并提升品牌曝光。</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“Dominate AI Search Results”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189865"/>
            <a:ext cx="847471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Pre Seed</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Bain Capital Ventures</a:t>
            </a:r>
            <a:r>
              <a:rPr lang="zh-CN" altLang="en-US" sz="2800">
                <a:latin typeface="华文楷体" panose="02010600040101010101" charset="-122"/>
                <a:ea typeface="华文楷体" panose="02010600040101010101" charset="-122"/>
              </a:rPr>
              <a:t>（关注软件、金融服务）、</a:t>
            </a:r>
            <a:r>
              <a:rPr lang="en-US" altLang="zh-CN" sz="2800">
                <a:latin typeface="华文楷体" panose="02010600040101010101" charset="-122"/>
                <a:ea typeface="华文楷体" panose="02010600040101010101" charset="-122"/>
              </a:rPr>
              <a:t>FundersClub</a:t>
            </a:r>
            <a:r>
              <a:rPr lang="zh-CN" altLang="en-US" sz="2800">
                <a:latin typeface="华文楷体" panose="02010600040101010101" charset="-122"/>
                <a:ea typeface="华文楷体" panose="02010600040101010101" charset="-122"/>
              </a:rPr>
              <a:t>（搭建在线平台为创业者提供资金）</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600315"/>
            <a:ext cx="7533640" cy="138366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·AthenaHQ </a:t>
            </a:r>
            <a:r>
              <a:rPr lang="zh-CN" altLang="en-US" sz="2800">
                <a:latin typeface="华文楷体" panose="02010600040101010101" charset="-122"/>
                <a:ea typeface="华文楷体" panose="02010600040101010101" charset="-122"/>
              </a:rPr>
              <a:t>在高增长区，但融资额较小</a:t>
            </a:r>
            <a:endParaRPr lang="zh-CN" altLang="en-US" sz="2800">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竞争对手中，有强大资金支持的企业</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290560"/>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Andrew Yan                                           Alan Yao</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84175" y="272415"/>
            <a:ext cx="1443355" cy="1454785"/>
          </a:xfrm>
          <a:prstGeom prst="rect">
            <a:avLst/>
          </a:prstGeom>
        </p:spPr>
      </p:pic>
      <p:pic>
        <p:nvPicPr>
          <p:cNvPr id="7" name="图片 6"/>
          <p:cNvPicPr/>
          <p:nvPr/>
        </p:nvPicPr>
        <p:blipFill>
          <a:blip r:embed="rId4"/>
          <a:stretch>
            <a:fillRect/>
          </a:stretch>
        </p:blipFill>
        <p:spPr>
          <a:xfrm>
            <a:off x="4689475" y="5099050"/>
            <a:ext cx="2530475" cy="2843530"/>
          </a:xfrm>
          <a:prstGeom prst="rect">
            <a:avLst/>
          </a:prstGeom>
        </p:spPr>
      </p:pic>
      <p:pic>
        <p:nvPicPr>
          <p:cNvPr id="8" name="图片 7"/>
          <p:cNvPicPr/>
          <p:nvPr/>
        </p:nvPicPr>
        <p:blipFill>
          <a:blip r:embed="rId5"/>
          <a:stretch>
            <a:fillRect/>
          </a:stretch>
        </p:blipFill>
        <p:spPr>
          <a:xfrm>
            <a:off x="840105" y="5099050"/>
            <a:ext cx="2583815" cy="2871470"/>
          </a:xfrm>
          <a:prstGeom prst="rect">
            <a:avLst/>
          </a:prstGeom>
        </p:spPr>
      </p:pic>
      <p:pic>
        <p:nvPicPr>
          <p:cNvPr id="11" name="图片 10"/>
          <p:cNvPicPr>
            <a:picLocks noChangeAspect="1"/>
          </p:cNvPicPr>
          <p:nvPr/>
        </p:nvPicPr>
        <p:blipFill>
          <a:blip r:embed="rId6"/>
          <a:stretch>
            <a:fillRect/>
          </a:stretch>
        </p:blipFill>
        <p:spPr>
          <a:xfrm>
            <a:off x="9084310" y="2435225"/>
            <a:ext cx="8004175" cy="50539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768350"/>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cs typeface="华文楷体" panose="02010600040101010101" charset="-122"/>
              </a:rPr>
              <a:t>Harper</a:t>
            </a:r>
            <a:endParaRPr lang="en-US" altLang="zh-CN"/>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768350"/>
            <a:ext cx="512000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cs typeface="华文楷体" panose="02010600040101010101" charset="-122"/>
              </a:rPr>
              <a:t>$50M                  $135M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305050"/>
            <a:ext cx="7760335" cy="310769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·Harper </a:t>
            </a:r>
            <a:r>
              <a:rPr lang="zh-CN" altLang="en-US" sz="2800">
                <a:latin typeface="华文楷体" panose="02010600040101010101" charset="-122"/>
                <a:ea typeface="华文楷体" panose="02010600040101010101" charset="-122"/>
              </a:rPr>
              <a:t>是一个为企业自动化保险流程的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平台，通过智能经纪服务和流程自动化，帮企业快速获得定制化、性价比高的保险覆盖。</a:t>
            </a:r>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“Meet business insurance that's Smarter. Faster. Cheaper.”</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284480"/>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Pre Seed</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Pioneer Fund</a:t>
            </a:r>
            <a:r>
              <a:rPr lang="zh-CN" altLang="en-US" sz="2800">
                <a:latin typeface="华文楷体" panose="02010600040101010101" charset="-122"/>
                <a:ea typeface="华文楷体" panose="02010600040101010101" charset="-122"/>
              </a:rPr>
              <a:t>（关注种子轮）</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138366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·Harper </a:t>
            </a:r>
            <a:r>
              <a:rPr lang="zh-CN" altLang="en-US" sz="2800">
                <a:latin typeface="华文楷体" panose="02010600040101010101" charset="-122"/>
                <a:ea typeface="华文楷体" panose="02010600040101010101" charset="-122"/>
              </a:rPr>
              <a:t>处于高增长区，融资较少</a:t>
            </a:r>
            <a:endParaRPr lang="zh-CN" altLang="en-US" sz="2800">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·Harper </a:t>
            </a:r>
            <a:r>
              <a:rPr lang="zh-CN" altLang="en-US" sz="2800">
                <a:solidFill>
                  <a:schemeClr val="tx1"/>
                </a:solidFill>
                <a:latin typeface="华文楷体" panose="02010600040101010101" charset="-122"/>
                <a:ea typeface="华文楷体" panose="02010600040101010101" charset="-122"/>
              </a:rPr>
              <a:t>的市场机会与挑战并存</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290560"/>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Dakotah Rice                                         Tushar Nair</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6" name="图片 5"/>
          <p:cNvPicPr/>
          <p:nvPr/>
        </p:nvPicPr>
        <p:blipFill>
          <a:blip r:embed="rId3"/>
          <a:stretch>
            <a:fillRect/>
          </a:stretch>
        </p:blipFill>
        <p:spPr>
          <a:xfrm>
            <a:off x="307975" y="189865"/>
            <a:ext cx="1615440" cy="1777365"/>
          </a:xfrm>
          <a:prstGeom prst="rect">
            <a:avLst/>
          </a:prstGeom>
        </p:spPr>
      </p:pic>
      <p:pic>
        <p:nvPicPr>
          <p:cNvPr id="12" name="图片 11"/>
          <p:cNvPicPr/>
          <p:nvPr/>
        </p:nvPicPr>
        <p:blipFill>
          <a:blip r:embed="rId4"/>
          <a:stretch>
            <a:fillRect/>
          </a:stretch>
        </p:blipFill>
        <p:spPr>
          <a:xfrm>
            <a:off x="764540" y="5412740"/>
            <a:ext cx="2249170" cy="2585085"/>
          </a:xfrm>
          <a:prstGeom prst="rect">
            <a:avLst/>
          </a:prstGeom>
        </p:spPr>
      </p:pic>
      <p:pic>
        <p:nvPicPr>
          <p:cNvPr id="13" name="图片 12"/>
          <p:cNvPicPr/>
          <p:nvPr/>
        </p:nvPicPr>
        <p:blipFill>
          <a:blip r:embed="rId5"/>
          <a:stretch>
            <a:fillRect/>
          </a:stretch>
        </p:blipFill>
        <p:spPr>
          <a:xfrm>
            <a:off x="4571365" y="5412740"/>
            <a:ext cx="2157095" cy="2585085"/>
          </a:xfrm>
          <a:prstGeom prst="rect">
            <a:avLst/>
          </a:prstGeom>
        </p:spPr>
      </p:pic>
      <p:pic>
        <p:nvPicPr>
          <p:cNvPr id="14" name="图片 13"/>
          <p:cNvPicPr>
            <a:picLocks noChangeAspect="1"/>
          </p:cNvPicPr>
          <p:nvPr/>
        </p:nvPicPr>
        <p:blipFill>
          <a:blip r:embed="rId6"/>
          <a:stretch>
            <a:fillRect/>
          </a:stretch>
        </p:blipFill>
        <p:spPr>
          <a:xfrm>
            <a:off x="8986520" y="2099310"/>
            <a:ext cx="8168640" cy="5501005"/>
          </a:xfrm>
          <a:prstGeom prst="rect">
            <a:avLst/>
          </a:prstGeom>
        </p:spPr>
      </p:pic>
      <p:pic>
        <p:nvPicPr>
          <p:cNvPr id="8" name="图片 7" descr="图片2"/>
          <p:cNvPicPr>
            <a:picLocks noChangeAspect="1"/>
          </p:cNvPicPr>
          <p:nvPr/>
        </p:nvPicPr>
        <p:blipFill>
          <a:blip r:embed="rId7"/>
          <a:stretch>
            <a:fillRect/>
          </a:stretch>
        </p:blipFill>
        <p:spPr>
          <a:xfrm>
            <a:off x="4846320" y="739140"/>
            <a:ext cx="1064260" cy="528955"/>
          </a:xfrm>
          <a:prstGeom prst="rect">
            <a:avLst/>
          </a:prstGeom>
        </p:spPr>
      </p:pic>
      <p:sp>
        <p:nvSpPr>
          <p:cNvPr id="16" name="文本框 15"/>
          <p:cNvSpPr txBox="1"/>
          <p:nvPr/>
        </p:nvSpPr>
        <p:spPr>
          <a:xfrm>
            <a:off x="2228850" y="1365885"/>
            <a:ext cx="6176010" cy="460375"/>
          </a:xfrm>
          <a:prstGeom prst="rect">
            <a:avLst/>
          </a:prstGeom>
          <a:noFill/>
        </p:spPr>
        <p:txBody>
          <a:bodyPr wrap="square" rtlCol="0">
            <a:spAutoFit/>
          </a:bodyPr>
          <a:p>
            <a:r>
              <a:rPr lang="en-US" altLang="zh-CN" sz="2000">
                <a:latin typeface="华文楷体" panose="02010600040101010101" charset="-122"/>
                <a:ea typeface="华文楷体" panose="02010600040101010101" charset="-122"/>
                <a:cs typeface="华文楷体" panose="02010600040101010101" charset="-122"/>
              </a:rPr>
              <a:t>                </a:t>
            </a:r>
            <a:r>
              <a:rPr lang="en-US" altLang="zh-CN" sz="2400">
                <a:latin typeface="华文楷体" panose="02010600040101010101" charset="-122"/>
                <a:ea typeface="华文楷体" panose="02010600040101010101" charset="-122"/>
                <a:cs typeface="华文楷体" panose="02010600040101010101" charset="-122"/>
              </a:rPr>
              <a:t>  </a:t>
            </a:r>
            <a:r>
              <a:rPr lang="zh-CN" altLang="en-US" sz="2400">
                <a:latin typeface="华文楷体" panose="02010600040101010101" charset="-122"/>
                <a:ea typeface="华文楷体" panose="02010600040101010101" charset="-122"/>
                <a:cs typeface="华文楷体" panose="02010600040101010101" charset="-122"/>
              </a:rPr>
              <a:t>种子轮</a:t>
            </a:r>
            <a:r>
              <a:rPr lang="en-US" altLang="zh-CN" sz="2400">
                <a:latin typeface="华文楷体" panose="02010600040101010101" charset="-122"/>
                <a:ea typeface="华文楷体" panose="02010600040101010101" charset="-122"/>
                <a:cs typeface="华文楷体" panose="02010600040101010101" charset="-122"/>
              </a:rPr>
              <a:t>GPT</a:t>
            </a:r>
            <a:r>
              <a:rPr lang="zh-CN" altLang="en-US" sz="2400">
                <a:latin typeface="华文楷体" panose="02010600040101010101" charset="-122"/>
                <a:ea typeface="华文楷体" panose="02010600040101010101" charset="-122"/>
                <a:cs typeface="华文楷体" panose="02010600040101010101" charset="-122"/>
              </a:rPr>
              <a:t>预计</a:t>
            </a:r>
            <a:r>
              <a:rPr lang="en-US" altLang="zh-CN" sz="2400">
                <a:latin typeface="华文楷体" panose="02010600040101010101" charset="-122"/>
                <a:ea typeface="华文楷体" panose="02010600040101010101" charset="-122"/>
                <a:cs typeface="华文楷体" panose="02010600040101010101" charset="-122"/>
              </a:rPr>
              <a:t>      </a:t>
            </a:r>
            <a:r>
              <a:rPr lang="zh-CN" altLang="en-US" sz="2400">
                <a:latin typeface="华文楷体" panose="02010600040101010101" charset="-122"/>
                <a:ea typeface="华文楷体" panose="02010600040101010101" charset="-122"/>
                <a:cs typeface="华文楷体" panose="02010600040101010101" charset="-122"/>
              </a:rPr>
              <a:t>当前预计</a:t>
            </a:r>
            <a:endParaRPr lang="zh-CN" altLang="en-US" sz="2400">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922020"/>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Arva AI</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900430"/>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前种子轮</a:t>
            </a:r>
            <a:r>
              <a:rPr lang="en-US" altLang="zh-CN" sz="2800">
                <a:latin typeface="华文楷体" panose="02010600040101010101" charset="-122"/>
                <a:ea typeface="华文楷体" panose="02010600040101010101" charset="-122"/>
                <a:cs typeface="华文楷体" panose="02010600040101010101" charset="-122"/>
              </a:rPr>
              <a:t> $45M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305050"/>
            <a:ext cx="7760335"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·Arva AI </a:t>
            </a:r>
            <a:r>
              <a:rPr lang="zh-CN" altLang="en-US" sz="2800">
                <a:latin typeface="华文楷体" panose="02010600040101010101" charset="-122"/>
                <a:ea typeface="华文楷体" panose="02010600040101010101" charset="-122"/>
              </a:rPr>
              <a:t>是一家为银行和金融科技公司打造的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驱动合规自动化平台，通过行业级的</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代理式</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代理</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自动化处理企业入驻时的</a:t>
            </a:r>
            <a:r>
              <a:rPr lang="en-US" altLang="zh-CN" sz="2800">
                <a:latin typeface="华文楷体" panose="02010600040101010101" charset="-122"/>
                <a:ea typeface="华文楷体" panose="02010600040101010101" charset="-122"/>
              </a:rPr>
              <a:t> KYB</a:t>
            </a:r>
            <a:r>
              <a:rPr lang="zh-CN" altLang="en-US" sz="2800">
                <a:latin typeface="华文楷体" panose="02010600040101010101" charset="-122"/>
                <a:ea typeface="华文楷体" panose="02010600040101010101" charset="-122"/>
              </a:rPr>
              <a:t>（了解您的企业）</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和</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反洗钱</a:t>
            </a:r>
            <a:r>
              <a:rPr lang="en-US" altLang="zh-CN" sz="2800">
                <a:latin typeface="华文楷体" panose="02010600040101010101" charset="-122"/>
                <a:ea typeface="华文楷体" panose="02010600040101010101" charset="-122"/>
              </a:rPr>
              <a:t>(AML)</a:t>
            </a:r>
            <a:r>
              <a:rPr lang="zh-CN" altLang="en-US" sz="2800">
                <a:latin typeface="华文楷体" panose="02010600040101010101" charset="-122"/>
                <a:ea typeface="华文楷体" panose="02010600040101010101" charset="-122"/>
              </a:rPr>
              <a:t>合规流程。</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“Power your financial crime compliance </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with enterprise-grade AI Agents”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284480"/>
            <a:ext cx="847471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Scale Asia Ventures</a:t>
            </a:r>
            <a:r>
              <a:rPr lang="zh-CN" altLang="en-US" sz="2800">
                <a:latin typeface="华文楷体" panose="02010600040101010101" charset="-122"/>
                <a:ea typeface="华文楷体" panose="02010600040101010101" charset="-122"/>
              </a:rPr>
              <a:t>（关注亚洲市场）、</a:t>
            </a:r>
            <a:r>
              <a:rPr lang="en-US" altLang="zh-CN" sz="2800">
                <a:latin typeface="华文楷体" panose="02010600040101010101" charset="-122"/>
                <a:ea typeface="华文楷体" panose="02010600040101010101" charset="-122"/>
              </a:rPr>
              <a:t>Gradient</a:t>
            </a:r>
            <a:r>
              <a:rPr lang="zh-CN" altLang="en-US" sz="2800">
                <a:latin typeface="华文楷体" panose="02010600040101010101" charset="-122"/>
                <a:ea typeface="华文楷体" panose="02010600040101010101" charset="-122"/>
              </a:rPr>
              <a:t>（专注深度学习与</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驱动）、</a:t>
            </a:r>
            <a:r>
              <a:rPr lang="en-US" altLang="zh-CN" sz="2800">
                <a:latin typeface="华文楷体" panose="02010600040101010101" charset="-122"/>
                <a:ea typeface="华文楷体" panose="02010600040101010101" charset="-122"/>
              </a:rPr>
              <a:t>Oxford Seed Fund</a:t>
            </a:r>
            <a:r>
              <a:rPr lang="zh-CN" altLang="en-US" sz="2800">
                <a:latin typeface="华文楷体" panose="02010600040101010101" charset="-122"/>
                <a:ea typeface="华文楷体" panose="02010600040101010101" charset="-122"/>
              </a:rPr>
              <a:t>（关注长远影响高科技）</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138366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·Arva AI </a:t>
            </a:r>
            <a:r>
              <a:rPr lang="zh-CN" altLang="en-US" sz="2800">
                <a:latin typeface="华文楷体" panose="02010600040101010101" charset="-122"/>
                <a:ea typeface="华文楷体" panose="02010600040101010101" charset="-122"/>
              </a:rPr>
              <a:t>融资相对较小，面临大规模竞争者</a:t>
            </a:r>
            <a:endParaRPr lang="zh-CN" altLang="en-US" sz="2800">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较短的运营年限显示潜在的高速成长</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290560"/>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Rhim Shah                                         Oli Wales</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10515" y="473075"/>
            <a:ext cx="1562735" cy="1437640"/>
          </a:xfrm>
          <a:prstGeom prst="rect">
            <a:avLst/>
          </a:prstGeom>
        </p:spPr>
      </p:pic>
      <p:pic>
        <p:nvPicPr>
          <p:cNvPr id="7" name="图片 6"/>
          <p:cNvPicPr/>
          <p:nvPr/>
        </p:nvPicPr>
        <p:blipFill>
          <a:blip r:embed="rId4"/>
          <a:stretch>
            <a:fillRect/>
          </a:stretch>
        </p:blipFill>
        <p:spPr>
          <a:xfrm>
            <a:off x="760730" y="5710555"/>
            <a:ext cx="2324735" cy="2422525"/>
          </a:xfrm>
          <a:prstGeom prst="rect">
            <a:avLst/>
          </a:prstGeom>
        </p:spPr>
      </p:pic>
      <p:pic>
        <p:nvPicPr>
          <p:cNvPr id="8" name="图片 7"/>
          <p:cNvPicPr/>
          <p:nvPr/>
        </p:nvPicPr>
        <p:blipFill>
          <a:blip r:embed="rId5"/>
          <a:stretch>
            <a:fillRect/>
          </a:stretch>
        </p:blipFill>
        <p:spPr>
          <a:xfrm>
            <a:off x="4559300" y="5710555"/>
            <a:ext cx="2249170" cy="2422525"/>
          </a:xfrm>
          <a:prstGeom prst="rect">
            <a:avLst/>
          </a:prstGeom>
        </p:spPr>
      </p:pic>
      <p:pic>
        <p:nvPicPr>
          <p:cNvPr id="11" name="图片 10"/>
          <p:cNvPicPr>
            <a:picLocks noChangeAspect="1"/>
          </p:cNvPicPr>
          <p:nvPr/>
        </p:nvPicPr>
        <p:blipFill>
          <a:blip r:embed="rId6"/>
          <a:stretch>
            <a:fillRect/>
          </a:stretch>
        </p:blipFill>
        <p:spPr>
          <a:xfrm>
            <a:off x="8985885" y="2561590"/>
            <a:ext cx="7882255" cy="52222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 74"/>
          <p:cNvSpPr/>
          <p:nvPr/>
        </p:nvSpPr>
        <p:spPr>
          <a:xfrm>
            <a:off x="0" y="0"/>
            <a:ext cx="17475200" cy="9753600"/>
          </a:xfrm>
          <a:prstGeom prst="rect">
            <a:avLst/>
          </a:prstGeom>
          <a:solidFill>
            <a:srgbClr val="F5F5EF">
              <a:alpha val="100000"/>
            </a:srgbClr>
          </a:solidFill>
          <a:ln w="0" cap="flat">
            <a:noFill/>
            <a:prstDash val="solid"/>
            <a:miter lim="0"/>
          </a:ln>
        </p:spPr>
        <p:txBody>
          <a:bodyPr rtlCol="0"/>
          <a:lstStyle/>
          <a:p>
            <a:pPr algn="ctr"/>
            <a:endParaRPr lang="zh-CN" altLang="en-US"/>
          </a:p>
        </p:txBody>
      </p:sp>
      <p:pic>
        <p:nvPicPr>
          <p:cNvPr id="76" name="picture 76"/>
          <p:cNvPicPr>
            <a:picLocks noChangeAspect="1"/>
          </p:cNvPicPr>
          <p:nvPr/>
        </p:nvPicPr>
        <p:blipFill>
          <a:blip r:embed="rId1"/>
          <a:stretch>
            <a:fillRect/>
          </a:stretch>
        </p:blipFill>
        <p:spPr>
          <a:xfrm rot="21600000">
            <a:off x="476256" y="1830662"/>
            <a:ext cx="7835880" cy="5410224"/>
          </a:xfrm>
          <a:prstGeom prst="rect">
            <a:avLst/>
          </a:prstGeom>
        </p:spPr>
      </p:pic>
      <p:sp>
        <p:nvSpPr>
          <p:cNvPr id="78" name="textbox 78"/>
          <p:cNvSpPr/>
          <p:nvPr/>
        </p:nvSpPr>
        <p:spPr>
          <a:xfrm>
            <a:off x="10299764" y="3770202"/>
            <a:ext cx="4533265" cy="3395345"/>
          </a:xfrm>
          <a:prstGeom prst="rect">
            <a:avLst/>
          </a:prstGeom>
          <a:noFill/>
          <a:ln w="0" cap="flat">
            <a:noFill/>
            <a:prstDash val="solid"/>
            <a:miter lim="0"/>
          </a:ln>
        </p:spPr>
        <p:txBody>
          <a:bodyPr vert="horz" wrap="square" lIns="0" tIns="0" rIns="0" bIns="0"/>
          <a:lstStyle/>
          <a:p>
            <a:pPr algn="l" rtl="0" eaLnBrk="0">
              <a:lnSpc>
                <a:spcPct val="63000"/>
              </a:lnSpc>
            </a:pPr>
            <a:endParaRPr sz="100" dirty="0">
              <a:latin typeface="Arial" panose="020B0604020202020204"/>
              <a:ea typeface="Arial" panose="020B0604020202020204"/>
              <a:cs typeface="Arial" panose="020B0604020202020204"/>
            </a:endParaRPr>
          </a:p>
          <a:p>
            <a:pPr algn="r" rtl="0" eaLnBrk="0">
              <a:lnSpc>
                <a:spcPct val="97000"/>
              </a:lnSpc>
            </a:pPr>
            <a:endParaRPr sz="4100" dirty="0">
              <a:latin typeface="黑体" panose="02010609060101010101" charset="-122"/>
              <a:ea typeface="黑体" panose="02010609060101010101" charset="-122"/>
              <a:cs typeface="黑体" panose="02010609060101010101" charset="-122"/>
            </a:endParaRPr>
          </a:p>
        </p:txBody>
      </p:sp>
      <p:sp>
        <p:nvSpPr>
          <p:cNvPr id="80" name="textbox 80"/>
          <p:cNvSpPr/>
          <p:nvPr/>
        </p:nvSpPr>
        <p:spPr>
          <a:xfrm>
            <a:off x="4803465" y="727894"/>
            <a:ext cx="7867015" cy="762634"/>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5100" dirty="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8737600" y="2738755"/>
            <a:ext cx="8460740" cy="3415030"/>
          </a:xfrm>
          <a:prstGeom prst="rect">
            <a:avLst/>
          </a:prstGeom>
          <a:noFill/>
        </p:spPr>
        <p:txBody>
          <a:bodyPr wrap="square" rtlCol="0">
            <a:spAutoFit/>
          </a:bodyPr>
          <a:p>
            <a:r>
              <a:rPr lang="en-US" altLang="zh-CN" sz="7200">
                <a:latin typeface="华文琥珀" panose="02010800040101010101" charset="-122"/>
                <a:ea typeface="华文琥珀" panose="02010800040101010101" charset="-122"/>
                <a:cs typeface="黑体" panose="02010609060101010101" charset="-122"/>
              </a:rPr>
              <a:t>03</a:t>
            </a:r>
            <a:endParaRPr lang="en-US" altLang="zh-CN" sz="7200">
              <a:latin typeface="华文琥珀" panose="02010800040101010101" charset="-122"/>
              <a:ea typeface="华文琥珀" panose="02010800040101010101" charset="-122"/>
              <a:cs typeface="黑体" panose="02010609060101010101" charset="-122"/>
            </a:endParaRPr>
          </a:p>
          <a:p>
            <a:r>
              <a:rPr lang="zh-CN" altLang="en-US" sz="7200">
                <a:latin typeface="华康行楷体 W5" panose="03000509000000000000" charset="-122"/>
                <a:ea typeface="华康行楷体 W5" panose="03000509000000000000" charset="-122"/>
                <a:cs typeface="黑体" panose="02010609060101010101" charset="-122"/>
              </a:rPr>
              <a:t>合成智能</a:t>
            </a:r>
            <a:endParaRPr lang="zh-CN" altLang="en-US" sz="7200">
              <a:latin typeface="黑体" panose="02010609060101010101" charset="-122"/>
              <a:ea typeface="黑体" panose="02010609060101010101" charset="-122"/>
              <a:cs typeface="黑体" panose="02010609060101010101" charset="-122"/>
            </a:endParaRPr>
          </a:p>
          <a:p>
            <a:r>
              <a:rPr lang="en-US" altLang="zh-CN" sz="7200">
                <a:latin typeface="Times New Roman" panose="02020603050405020304" charset="0"/>
                <a:ea typeface="黑体" panose="02010609060101010101" charset="-122"/>
                <a:cs typeface="Times New Roman" panose="02020603050405020304" charset="0"/>
              </a:rPr>
              <a:t>Synthetic Intelligence</a:t>
            </a:r>
            <a:endParaRPr lang="en-US" altLang="zh-CN" sz="7200">
              <a:latin typeface="Times New Roman" panose="02020603050405020304" charset="0"/>
              <a:ea typeface="黑体" panose="02010609060101010101" charset="-122"/>
              <a:cs typeface="Times New Roman" panose="02020603050405020304" charset="0"/>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 22"/>
          <p:cNvSpPr/>
          <p:nvPr/>
        </p:nvSpPr>
        <p:spPr>
          <a:xfrm>
            <a:off x="0" y="0"/>
            <a:ext cx="17475200" cy="9753600"/>
          </a:xfrm>
          <a:prstGeom prst="rect">
            <a:avLst/>
          </a:prstGeom>
          <a:solidFill>
            <a:srgbClr val="F5F2E7">
              <a:alpha val="100000"/>
            </a:srgbClr>
          </a:solidFill>
          <a:ln w="0" cap="flat">
            <a:noFill/>
            <a:prstDash val="solid"/>
            <a:miter lim="0"/>
          </a:ln>
        </p:spPr>
        <p:txBody>
          <a:bodyPr rtlCol="0"/>
          <a:lstStyle/>
          <a:p>
            <a:pPr algn="ctr"/>
            <a:endParaRPr lang="zh-CN" altLang="en-US"/>
          </a:p>
        </p:txBody>
      </p:sp>
      <p:pic>
        <p:nvPicPr>
          <p:cNvPr id="24" name="picture 24"/>
          <p:cNvPicPr>
            <a:picLocks noChangeAspect="1"/>
          </p:cNvPicPr>
          <p:nvPr/>
        </p:nvPicPr>
        <p:blipFill>
          <a:blip r:embed="rId1"/>
          <a:stretch>
            <a:fillRect/>
          </a:stretch>
        </p:blipFill>
        <p:spPr>
          <a:xfrm rot="21600000">
            <a:off x="12756" y="5410224"/>
            <a:ext cx="17449683" cy="3397178"/>
          </a:xfrm>
          <a:prstGeom prst="rect">
            <a:avLst/>
          </a:prstGeom>
        </p:spPr>
      </p:pic>
      <p:sp>
        <p:nvSpPr>
          <p:cNvPr id="26" name="textbox 26"/>
          <p:cNvSpPr/>
          <p:nvPr/>
        </p:nvSpPr>
        <p:spPr>
          <a:xfrm>
            <a:off x="1051301" y="1084581"/>
            <a:ext cx="13907135" cy="4269104"/>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2085340" algn="l" rtl="0" eaLnBrk="0">
              <a:lnSpc>
                <a:spcPct val="83000"/>
              </a:lnSpc>
              <a:spcBef>
                <a:spcPts val="1000"/>
              </a:spcBef>
            </a:pPr>
            <a:endParaRPr sz="5000" baseline="7000" dirty="0">
              <a:latin typeface="Arial" panose="020B0604020202020204"/>
              <a:ea typeface="Arial" panose="020B0604020202020204"/>
              <a:cs typeface="Arial" panose="020B0604020202020204"/>
            </a:endParaRPr>
          </a:p>
        </p:txBody>
      </p:sp>
      <p:sp>
        <p:nvSpPr>
          <p:cNvPr id="28" name="textbox 28"/>
          <p:cNvSpPr/>
          <p:nvPr/>
        </p:nvSpPr>
        <p:spPr>
          <a:xfrm>
            <a:off x="16097336" y="9481038"/>
            <a:ext cx="1263650" cy="189864"/>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3000"/>
              </a:lnSpc>
            </a:pPr>
            <a:endParaRPr sz="1300" dirty="0">
              <a:latin typeface="Arial" panose="020B0604020202020204"/>
              <a:ea typeface="Arial" panose="020B0604020202020204"/>
              <a:cs typeface="Arial" panose="020B0604020202020204"/>
            </a:endParaRPr>
          </a:p>
        </p:txBody>
      </p:sp>
      <p:sp>
        <p:nvSpPr>
          <p:cNvPr id="2" name="文本框 1"/>
          <p:cNvSpPr txBox="1"/>
          <p:nvPr/>
        </p:nvSpPr>
        <p:spPr>
          <a:xfrm>
            <a:off x="1165225" y="1471930"/>
            <a:ext cx="5098415" cy="3784600"/>
          </a:xfrm>
          <a:prstGeom prst="rect">
            <a:avLst/>
          </a:prstGeom>
          <a:noFill/>
        </p:spPr>
        <p:txBody>
          <a:bodyPr wrap="square" rtlCol="0">
            <a:spAutoFit/>
          </a:bodyPr>
          <a:p>
            <a:pPr algn="ctr"/>
            <a:r>
              <a:rPr lang="zh-CN" altLang="en-US" sz="8000">
                <a:latin typeface="华康行楷体 W5" panose="03000509000000000000" charset="-122"/>
                <a:ea typeface="华康行楷体 W5" panose="03000509000000000000" charset="-122"/>
                <a:cs typeface="华康行楷体 W5" panose="03000509000000000000" charset="-122"/>
              </a:rPr>
              <a:t>生成式</a:t>
            </a:r>
            <a:r>
              <a:rPr lang="en-US" altLang="zh-CN" sz="8000">
                <a:latin typeface="华康行楷体 W5" panose="03000509000000000000" charset="-122"/>
                <a:ea typeface="华康行楷体 W5" panose="03000509000000000000" charset="-122"/>
                <a:cs typeface="华康行楷体 W5" panose="03000509000000000000" charset="-122"/>
              </a:rPr>
              <a:t> </a:t>
            </a:r>
            <a:endParaRPr lang="en-US" altLang="zh-CN" sz="8000">
              <a:latin typeface="华康行楷体 W5" panose="03000509000000000000" charset="-122"/>
              <a:ea typeface="华康行楷体 W5" panose="03000509000000000000" charset="-122"/>
              <a:cs typeface="华康行楷体 W5" panose="03000509000000000000" charset="-122"/>
            </a:endParaRPr>
          </a:p>
          <a:p>
            <a:pPr algn="ctr"/>
            <a:r>
              <a:rPr lang="en-US" altLang="zh-CN" sz="8000">
                <a:latin typeface="华康行楷体 W5" panose="03000509000000000000" charset="-122"/>
                <a:ea typeface="华康行楷体 W5" panose="03000509000000000000" charset="-122"/>
                <a:cs typeface="华康行楷体 W5" panose="03000509000000000000" charset="-122"/>
              </a:rPr>
              <a:t>&amp; </a:t>
            </a:r>
            <a:endParaRPr lang="en-US" altLang="zh-CN" sz="8000">
              <a:latin typeface="华康行楷体 W5" panose="03000509000000000000" charset="-122"/>
              <a:ea typeface="华康行楷体 W5" panose="03000509000000000000" charset="-122"/>
              <a:cs typeface="华康行楷体 W5" panose="03000509000000000000" charset="-122"/>
            </a:endParaRPr>
          </a:p>
          <a:p>
            <a:pPr algn="ctr"/>
            <a:r>
              <a:rPr lang="zh-CN" altLang="en-US" sz="8000">
                <a:latin typeface="华康行楷体 W5" panose="03000509000000000000" charset="-122"/>
                <a:ea typeface="华康行楷体 W5" panose="03000509000000000000" charset="-122"/>
                <a:cs typeface="华康行楷体 W5" panose="03000509000000000000" charset="-122"/>
              </a:rPr>
              <a:t>多模态</a:t>
            </a:r>
            <a:endParaRPr lang="zh-CN" altLang="en-US" sz="8000">
              <a:latin typeface="华康行楷体 W5" panose="03000509000000000000" charset="-122"/>
              <a:ea typeface="华康行楷体 W5" panose="03000509000000000000" charset="-122"/>
              <a:cs typeface="华康行楷体 W5" panose="03000509000000000000" charset="-122"/>
            </a:endParaRPr>
          </a:p>
        </p:txBody>
      </p:sp>
      <p:sp>
        <p:nvSpPr>
          <p:cNvPr id="3" name="文本框 2"/>
          <p:cNvSpPr txBox="1"/>
          <p:nvPr/>
        </p:nvSpPr>
        <p:spPr>
          <a:xfrm>
            <a:off x="5811520" y="2649220"/>
            <a:ext cx="6589395" cy="1322070"/>
          </a:xfrm>
          <a:prstGeom prst="rect">
            <a:avLst/>
          </a:prstGeom>
          <a:noFill/>
        </p:spPr>
        <p:txBody>
          <a:bodyPr wrap="square" rtlCol="0">
            <a:spAutoFit/>
          </a:bodyPr>
          <a:p>
            <a:pPr algn="ctr"/>
            <a:r>
              <a:rPr lang="zh-CN" altLang="en-US" sz="8000">
                <a:latin typeface="华康行楷体 W5" panose="03000509000000000000" charset="-122"/>
                <a:ea typeface="华康行楷体 W5" panose="03000509000000000000" charset="-122"/>
                <a:cs typeface="华康行楷体 W5" panose="03000509000000000000" charset="-122"/>
              </a:rPr>
              <a:t>合成数据</a:t>
            </a:r>
            <a:endParaRPr lang="zh-CN" altLang="en-US" sz="8000">
              <a:latin typeface="华康行楷体 W5" panose="03000509000000000000" charset="-122"/>
              <a:ea typeface="华康行楷体 W5" panose="03000509000000000000" charset="-122"/>
              <a:cs typeface="华康行楷体 W5" panose="03000509000000000000" charset="-122"/>
            </a:endParaRPr>
          </a:p>
        </p:txBody>
      </p:sp>
      <p:sp>
        <p:nvSpPr>
          <p:cNvPr id="4" name="文本框 3"/>
          <p:cNvSpPr txBox="1"/>
          <p:nvPr/>
        </p:nvSpPr>
        <p:spPr>
          <a:xfrm>
            <a:off x="12260580" y="1569085"/>
            <a:ext cx="4404360" cy="3784600"/>
          </a:xfrm>
          <a:prstGeom prst="rect">
            <a:avLst/>
          </a:prstGeom>
          <a:noFill/>
        </p:spPr>
        <p:txBody>
          <a:bodyPr wrap="square" rtlCol="0">
            <a:spAutoFit/>
          </a:bodyPr>
          <a:p>
            <a:pPr lvl="0" algn="ctr">
              <a:buClrTx/>
              <a:buSzTx/>
              <a:buFontTx/>
            </a:pPr>
            <a:r>
              <a:rPr lang="zh-CN" altLang="en-US" sz="8000">
                <a:latin typeface="华康行楷体 W5" panose="03000509000000000000" charset="-122"/>
                <a:ea typeface="华康行楷体 W5" panose="03000509000000000000" charset="-122"/>
                <a:cs typeface="华康行楷体 W5" panose="03000509000000000000" charset="-122"/>
                <a:sym typeface="+mn-ea"/>
              </a:rPr>
              <a:t>创造、</a:t>
            </a:r>
            <a:endParaRPr lang="zh-CN" altLang="en-US" sz="8000">
              <a:latin typeface="华康行楷体 W5" panose="03000509000000000000" charset="-122"/>
              <a:ea typeface="华康行楷体 W5" panose="03000509000000000000" charset="-122"/>
              <a:cs typeface="华康行楷体 W5" panose="03000509000000000000" charset="-122"/>
              <a:sym typeface="+mn-ea"/>
            </a:endParaRPr>
          </a:p>
          <a:p>
            <a:pPr lvl="0" algn="ctr">
              <a:buClrTx/>
              <a:buSzTx/>
              <a:buFontTx/>
            </a:pPr>
            <a:r>
              <a:rPr lang="zh-CN" altLang="en-US" sz="8000">
                <a:latin typeface="华康行楷体 W5" panose="03000509000000000000" charset="-122"/>
                <a:ea typeface="华康行楷体 W5" panose="03000509000000000000" charset="-122"/>
                <a:cs typeface="华康行楷体 W5" panose="03000509000000000000" charset="-122"/>
                <a:sym typeface="+mn-ea"/>
              </a:rPr>
              <a:t>模拟并</a:t>
            </a:r>
            <a:endParaRPr lang="zh-CN" altLang="en-US" sz="8000">
              <a:latin typeface="华康行楷体 W5" panose="03000509000000000000" charset="-122"/>
              <a:ea typeface="华康行楷体 W5" panose="03000509000000000000" charset="-122"/>
              <a:cs typeface="华康行楷体 W5" panose="03000509000000000000" charset="-122"/>
              <a:sym typeface="+mn-ea"/>
            </a:endParaRPr>
          </a:p>
          <a:p>
            <a:pPr lvl="0" algn="ctr">
              <a:buClrTx/>
              <a:buSzTx/>
              <a:buFontTx/>
            </a:pPr>
            <a:r>
              <a:rPr lang="zh-CN" altLang="en-US" sz="8000">
                <a:latin typeface="华康行楷体 W5" panose="03000509000000000000" charset="-122"/>
                <a:ea typeface="华康行楷体 W5" panose="03000509000000000000" charset="-122"/>
                <a:cs typeface="华康行楷体 W5" panose="03000509000000000000" charset="-122"/>
                <a:sym typeface="+mn-ea"/>
              </a:rPr>
              <a:t>自我进化</a:t>
            </a:r>
            <a:endParaRPr lang="zh-CN" altLang="en-US" sz="8000">
              <a:latin typeface="华康行楷体 W5" panose="03000509000000000000" charset="-122"/>
              <a:ea typeface="华康行楷体 W5" panose="03000509000000000000" charset="-122"/>
              <a:cs typeface="华康行楷体 W5" panose="03000509000000000000" charset="-122"/>
              <a:sym typeface="+mn-ea"/>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165985" y="69786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Golpo</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69786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 $50M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305050"/>
            <a:ext cx="7760335" cy="439991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·Golpo </a:t>
            </a:r>
            <a:r>
              <a:rPr lang="zh-CN" altLang="en-US" sz="2800">
                <a:latin typeface="华文楷体" panose="02010600040101010101" charset="-122"/>
                <a:ea typeface="华文楷体" panose="02010600040101010101" charset="-122"/>
              </a:rPr>
              <a:t>是一个无代码</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视频生成平台，可将文字内容迅速转成专业白板风格解释视频和音频，广泛用于培训、营销与教育场景。用户通过简单输入文本或上传文档，就能在几分钟内生成：带视觉效果的解释视频、讲解内容清晰的音频，支持图像、布局、配音和字幕自动生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“AI-Powered Video Creation Tool</a:t>
            </a:r>
            <a:r>
              <a:rPr lang="zh-CN" altLang="en-US" sz="2800">
                <a:latin typeface="华文楷体" panose="02010600040101010101" charset="-122"/>
                <a:ea typeface="华文楷体" panose="02010600040101010101" charset="-122"/>
              </a:rPr>
              <a:t>，</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Text-to-Video AI Platform”</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9000490" y="2503170"/>
            <a:ext cx="847471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Emergence Capital</a:t>
            </a:r>
            <a:r>
              <a:rPr lang="zh-CN" altLang="en-US" sz="2800">
                <a:latin typeface="华文楷体" panose="02010600040101010101" charset="-122"/>
                <a:ea typeface="华文楷体" panose="02010600040101010101" charset="-122"/>
              </a:rPr>
              <a:t>（关注企业级软件、云计算）、</a:t>
            </a:r>
            <a:r>
              <a:rPr lang="en-US" altLang="zh-CN" sz="2800">
                <a:latin typeface="华文楷体" panose="02010600040101010101" charset="-122"/>
                <a:ea typeface="华文楷体" panose="02010600040101010101" charset="-122"/>
              </a:rPr>
              <a:t>BNVT Capital</a:t>
            </a:r>
            <a:r>
              <a:rPr lang="zh-CN" altLang="en-US" sz="2800">
                <a:latin typeface="华文楷体" panose="02010600040101010101" charset="-122"/>
                <a:ea typeface="华文楷体" panose="02010600040101010101" charset="-122"/>
              </a:rPr>
              <a:t>（专注</a:t>
            </a:r>
            <a:r>
              <a:rPr lang="zh-CN" sz="2800">
                <a:latin typeface="华文楷体" panose="02010600040101010101" charset="-122"/>
                <a:ea typeface="华文楷体" panose="02010600040101010101" charset="-122"/>
              </a:rPr>
              <a:t>区块链和去中心化</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8931275" y="5377815"/>
            <a:ext cx="7533640"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sz="2800">
                <a:latin typeface="华文楷体" panose="02010600040101010101" charset="-122"/>
                <a:ea typeface="华文楷体" panose="02010600040101010101" charset="-122"/>
              </a:rPr>
              <a:t>暂无同类公司比较分析</a:t>
            </a:r>
            <a:endParaRPr 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537845" y="8836660"/>
            <a:ext cx="74358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Shraman Kar                                          Shreyas Kar</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Co-founder </a:t>
            </a:r>
            <a:endParaRPr lang="en-US" altLang="zh-CN" sz="2000">
              <a:latin typeface="Times New Roman" panose="02020603050405020304" charset="0"/>
              <a:cs typeface="Times New Roman" panose="02020603050405020304" charset="0"/>
            </a:endParaRPr>
          </a:p>
        </p:txBody>
      </p:sp>
      <p:pic>
        <p:nvPicPr>
          <p:cNvPr id="6" name="图片 5"/>
          <p:cNvPicPr/>
          <p:nvPr/>
        </p:nvPicPr>
        <p:blipFill>
          <a:blip r:embed="rId3"/>
          <a:stretch>
            <a:fillRect/>
          </a:stretch>
        </p:blipFill>
        <p:spPr>
          <a:xfrm>
            <a:off x="206375" y="150495"/>
            <a:ext cx="1600200" cy="1616710"/>
          </a:xfrm>
          <a:prstGeom prst="rect">
            <a:avLst/>
          </a:prstGeom>
        </p:spPr>
      </p:pic>
      <p:pic>
        <p:nvPicPr>
          <p:cNvPr id="12" name="图片 11"/>
          <p:cNvPicPr/>
          <p:nvPr/>
        </p:nvPicPr>
        <p:blipFill>
          <a:blip r:embed="rId4"/>
          <a:stretch>
            <a:fillRect/>
          </a:stretch>
        </p:blipFill>
        <p:spPr>
          <a:xfrm>
            <a:off x="710565" y="6461125"/>
            <a:ext cx="2099310" cy="2374900"/>
          </a:xfrm>
          <a:prstGeom prst="rect">
            <a:avLst/>
          </a:prstGeom>
        </p:spPr>
      </p:pic>
      <p:pic>
        <p:nvPicPr>
          <p:cNvPr id="13" name="图片 12"/>
          <p:cNvPicPr/>
          <p:nvPr/>
        </p:nvPicPr>
        <p:blipFill>
          <a:blip r:embed="rId5"/>
          <a:stretch>
            <a:fillRect/>
          </a:stretch>
        </p:blipFill>
        <p:spPr>
          <a:xfrm>
            <a:off x="4308475" y="6461125"/>
            <a:ext cx="2316480" cy="23749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1732915" y="767080"/>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Reality Defender</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342130" y="767080"/>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a:t>
            </a:r>
            <a:r>
              <a:rPr lang="zh-CN" altLang="en-US" sz="2800">
                <a:latin typeface="华文楷体" panose="02010600040101010101" charset="-122"/>
                <a:ea typeface="华文楷体" panose="02010600040101010101" charset="-122"/>
                <a:cs typeface="华文楷体" panose="02010600040101010101" charset="-122"/>
              </a:rPr>
              <a:t>轮</a:t>
            </a:r>
            <a:r>
              <a:rPr lang="en-US" altLang="zh-CN" sz="2800">
                <a:latin typeface="华文楷体" panose="02010600040101010101" charset="-122"/>
                <a:ea typeface="华文楷体" panose="02010600040101010101" charset="-122"/>
                <a:cs typeface="华文楷体" panose="02010600040101010101" charset="-122"/>
              </a:rPr>
              <a:t> $115M</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305050"/>
            <a:ext cx="7760335"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·Reality Defender </a:t>
            </a:r>
            <a:r>
              <a:rPr lang="zh-CN" altLang="en-US" sz="2800">
                <a:latin typeface="华文楷体" panose="02010600040101010101" charset="-122"/>
                <a:ea typeface="华文楷体" panose="02010600040101010101" charset="-122"/>
              </a:rPr>
              <a:t>是一家提供</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驱动内容鉴别与安全防护</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的技术公司，其核心是帮助企业和平台</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检测、识别和应对伪造内容（</a:t>
            </a:r>
            <a:r>
              <a:rPr lang="en-US" altLang="zh-CN" sz="2800">
                <a:latin typeface="华文楷体" panose="02010600040101010101" charset="-122"/>
                <a:ea typeface="华文楷体" panose="02010600040101010101" charset="-122"/>
              </a:rPr>
              <a:t>deepfake </a:t>
            </a:r>
            <a:r>
              <a:rPr lang="zh-CN" altLang="en-US" sz="2800">
                <a:latin typeface="华文楷体" panose="02010600040101010101" charset="-122"/>
                <a:ea typeface="华文楷体" panose="02010600040101010101" charset="-122"/>
              </a:rPr>
              <a:t>和</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生成媒体），从而降低数字媒体被滥用的风险。</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“When Modern Detection Fell Short, We Built Something Better.”</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284480"/>
            <a:ext cx="8474710" cy="310769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A</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altLang="zh-CN" sz="2800">
                <a:latin typeface="华文楷体" panose="02010600040101010101" charset="-122"/>
                <a:ea typeface="华文楷体" panose="02010600040101010101" charset="-122"/>
              </a:rPr>
              <a:t>DCVC</a:t>
            </a:r>
            <a:r>
              <a:rPr lang="zh-CN" altLang="en-US" sz="2800">
                <a:latin typeface="华文楷体" panose="02010600040101010101" charset="-122"/>
                <a:ea typeface="华文楷体" panose="02010600040101010101" charset="-122"/>
              </a:rPr>
              <a:t>（专注于数据</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IBM Ventures</a:t>
            </a:r>
            <a:r>
              <a:rPr lang="zh-CN" altLang="en-US" sz="2800">
                <a:latin typeface="华文楷体" panose="02010600040101010101" charset="-122"/>
                <a:ea typeface="华文楷体" panose="02010600040101010101" charset="-122"/>
              </a:rPr>
              <a:t>（关注企业级技术、</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、云计算和大数据分析）、</a:t>
            </a:r>
            <a:r>
              <a:rPr lang="en-US" altLang="zh-CN" sz="2800">
                <a:latin typeface="华文楷体" panose="02010600040101010101" charset="-122"/>
                <a:ea typeface="华文楷体" panose="02010600040101010101" charset="-122"/>
              </a:rPr>
              <a:t>Accenture</a:t>
            </a:r>
            <a:r>
              <a:rPr lang="zh-CN" altLang="en-US" sz="2800">
                <a:latin typeface="华文楷体" panose="02010600040101010101" charset="-122"/>
                <a:ea typeface="华文楷体" panose="02010600040101010101" charset="-122"/>
              </a:rPr>
              <a:t>（专注关注</a:t>
            </a:r>
            <a:r>
              <a:rPr lang="en-US" altLang="zh-CN" sz="2800">
                <a:latin typeface="华文楷体" panose="02010600040101010101" charset="-122"/>
                <a:ea typeface="华文楷体" panose="02010600040101010101" charset="-122"/>
              </a:rPr>
              <a:t> AI</a:t>
            </a:r>
            <a:r>
              <a:rPr lang="zh-CN" altLang="en-US" sz="2800">
                <a:latin typeface="华文楷体" panose="02010600040101010101" charset="-122"/>
                <a:ea typeface="华文楷体" panose="02010600040101010101" charset="-122"/>
              </a:rPr>
              <a:t>、数据分析</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结合咨询业务）、</a:t>
            </a:r>
            <a:r>
              <a:rPr lang="en-US" altLang="zh-CN" sz="2800">
                <a:latin typeface="华文楷体" panose="02010600040101010101" charset="-122"/>
                <a:ea typeface="华文楷体" panose="02010600040101010101" charset="-122"/>
              </a:rPr>
              <a:t>Booz Allen Ventures</a:t>
            </a:r>
            <a:r>
              <a:rPr lang="zh-CN" altLang="en-US" sz="2800">
                <a:latin typeface="华文楷体" panose="02010600040101010101" charset="-122"/>
                <a:ea typeface="华文楷体" panose="02010600040101010101" charset="-122"/>
              </a:rPr>
              <a:t>（支持</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高技术创新</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和</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军事、政府服务</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179560" y="8039100"/>
            <a:ext cx="7533640" cy="138366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·Reality Defender </a:t>
            </a:r>
            <a:r>
              <a:rPr lang="zh-CN" altLang="en-US" sz="2800">
                <a:latin typeface="华文楷体" panose="02010600040101010101" charset="-122"/>
                <a:ea typeface="华文楷体" panose="02010600040101010101" charset="-122"/>
              </a:rPr>
              <a:t>面临强劲竞争，资金较少</a:t>
            </a:r>
            <a:endParaRPr lang="zh-CN" altLang="en-US" sz="2800">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技术创新方向明确，但需要更强资金支持</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0" y="8220075"/>
            <a:ext cx="9330690" cy="1014730"/>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Brian Levin            Ali Shahriyari             Gaurav Bharaj              Ben Colman                               </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CRO                Co-founder and CTO  Co-Founder &amp; Chief  Co-Founder and CEO</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of Research and Development</a:t>
            </a:r>
            <a:endParaRPr lang="en-US" altLang="zh-CN" sz="2000">
              <a:latin typeface="Times New Roman" panose="02020603050405020304" charset="0"/>
              <a:cs typeface="Times New Roman" panose="02020603050405020304" charset="0"/>
            </a:endParaRPr>
          </a:p>
        </p:txBody>
      </p:sp>
      <p:pic>
        <p:nvPicPr>
          <p:cNvPr id="12" name="图片 11"/>
          <p:cNvPicPr/>
          <p:nvPr/>
        </p:nvPicPr>
        <p:blipFill>
          <a:blip r:embed="rId3"/>
          <a:stretch>
            <a:fillRect/>
          </a:stretch>
        </p:blipFill>
        <p:spPr>
          <a:xfrm>
            <a:off x="108585" y="219710"/>
            <a:ext cx="1450975" cy="1616710"/>
          </a:xfrm>
          <a:prstGeom prst="rect">
            <a:avLst/>
          </a:prstGeom>
        </p:spPr>
      </p:pic>
      <p:pic>
        <p:nvPicPr>
          <p:cNvPr id="13" name="图片 12"/>
          <p:cNvPicPr/>
          <p:nvPr/>
        </p:nvPicPr>
        <p:blipFill>
          <a:blip r:embed="rId4"/>
          <a:stretch>
            <a:fillRect/>
          </a:stretch>
        </p:blipFill>
        <p:spPr>
          <a:xfrm>
            <a:off x="108585" y="5537835"/>
            <a:ext cx="1957070" cy="2343785"/>
          </a:xfrm>
          <a:prstGeom prst="rect">
            <a:avLst/>
          </a:prstGeom>
        </p:spPr>
      </p:pic>
      <p:pic>
        <p:nvPicPr>
          <p:cNvPr id="14" name="图片 13"/>
          <p:cNvPicPr/>
          <p:nvPr/>
        </p:nvPicPr>
        <p:blipFill>
          <a:blip r:embed="rId5"/>
          <a:stretch>
            <a:fillRect/>
          </a:stretch>
        </p:blipFill>
        <p:spPr>
          <a:xfrm>
            <a:off x="2190115" y="5537835"/>
            <a:ext cx="1967865" cy="2354580"/>
          </a:xfrm>
          <a:prstGeom prst="rect">
            <a:avLst/>
          </a:prstGeom>
        </p:spPr>
      </p:pic>
      <p:pic>
        <p:nvPicPr>
          <p:cNvPr id="16" name="图片 15"/>
          <p:cNvPicPr/>
          <p:nvPr/>
        </p:nvPicPr>
        <p:blipFill>
          <a:blip r:embed="rId6"/>
          <a:stretch>
            <a:fillRect/>
          </a:stretch>
        </p:blipFill>
        <p:spPr>
          <a:xfrm>
            <a:off x="4358640" y="5537835"/>
            <a:ext cx="1913255" cy="2354580"/>
          </a:xfrm>
          <a:prstGeom prst="rect">
            <a:avLst/>
          </a:prstGeom>
        </p:spPr>
      </p:pic>
      <p:pic>
        <p:nvPicPr>
          <p:cNvPr id="17" name="图片 16"/>
          <p:cNvPicPr/>
          <p:nvPr/>
        </p:nvPicPr>
        <p:blipFill>
          <a:blip r:embed="rId7"/>
          <a:stretch>
            <a:fillRect/>
          </a:stretch>
        </p:blipFill>
        <p:spPr>
          <a:xfrm>
            <a:off x="6649085" y="5537835"/>
            <a:ext cx="1880870" cy="2343785"/>
          </a:xfrm>
          <a:prstGeom prst="rect">
            <a:avLst/>
          </a:prstGeom>
        </p:spPr>
      </p:pic>
      <p:pic>
        <p:nvPicPr>
          <p:cNvPr id="19" name="图片 18"/>
          <p:cNvPicPr>
            <a:picLocks noChangeAspect="1"/>
          </p:cNvPicPr>
          <p:nvPr/>
        </p:nvPicPr>
        <p:blipFill>
          <a:blip r:embed="rId8"/>
          <a:stretch>
            <a:fillRect/>
          </a:stretch>
        </p:blipFill>
        <p:spPr>
          <a:xfrm>
            <a:off x="8917305" y="3305175"/>
            <a:ext cx="7795895" cy="47339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95313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Sonauto</a:t>
            </a:r>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65214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前种子轮</a:t>
            </a:r>
            <a:r>
              <a:rPr lang="en-US" altLang="zh-CN" sz="2800">
                <a:latin typeface="华文楷体" panose="02010600040101010101" charset="-122"/>
                <a:ea typeface="华文楷体" panose="02010600040101010101" charset="-122"/>
                <a:cs typeface="华文楷体" panose="02010600040101010101" charset="-122"/>
              </a:rPr>
              <a:t> $25M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2305050"/>
            <a:ext cx="7760335" cy="310769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·Sonauto AI </a:t>
            </a:r>
            <a:r>
              <a:rPr lang="zh-CN" altLang="en-US" sz="2800">
                <a:latin typeface="华文楷体" panose="02010600040101010101" charset="-122"/>
                <a:ea typeface="华文楷体" panose="02010600040101010101" charset="-122"/>
              </a:rPr>
              <a:t>是一个利用人工智能帮助用户自动创作音乐的生成平台，它让任何人都可以通过输入文字提示、歌词片段或旋律片段来生成完整的音乐作品。</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“Start Your Masterpiece.”</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284480"/>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参与的前种子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Pioneer Fund</a:t>
            </a:r>
            <a:endParaRPr lang="en-US" altLang="zh-CN"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138366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·Sonauto AI </a:t>
            </a:r>
            <a:r>
              <a:rPr lang="zh-CN" altLang="en-US" sz="2800">
                <a:latin typeface="华文楷体" panose="02010600040101010101" charset="-122"/>
                <a:ea typeface="华文楷体" panose="02010600040101010101" charset="-122"/>
              </a:rPr>
              <a:t>的融资较低，但处于高增长区</a:t>
            </a:r>
            <a:endParaRPr lang="zh-CN" altLang="en-US" sz="2800">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竞争者表现强劲，尤其是</a:t>
            </a:r>
            <a:r>
              <a:rPr lang="en-US" altLang="zh-CN" sz="2800">
                <a:solidFill>
                  <a:schemeClr val="tx1"/>
                </a:solidFill>
                <a:latin typeface="华文楷体" panose="02010600040101010101" charset="-122"/>
                <a:ea typeface="华文楷体" panose="02010600040101010101" charset="-122"/>
              </a:rPr>
              <a:t> Suno </a:t>
            </a:r>
            <a:r>
              <a:rPr lang="zh-CN" altLang="en-US" sz="2800">
                <a:solidFill>
                  <a:schemeClr val="tx1"/>
                </a:solidFill>
                <a:latin typeface="华文楷体" panose="02010600040101010101" charset="-122"/>
                <a:ea typeface="华文楷体" panose="02010600040101010101" charset="-122"/>
              </a:rPr>
              <a:t>和</a:t>
            </a:r>
            <a:r>
              <a:rPr lang="en-US" altLang="zh-CN" sz="2800">
                <a:solidFill>
                  <a:schemeClr val="tx1"/>
                </a:solidFill>
                <a:latin typeface="华文楷体" panose="02010600040101010101" charset="-122"/>
                <a:ea typeface="华文楷体" panose="02010600040101010101" charset="-122"/>
              </a:rPr>
              <a:t> Loudly</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29056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Hayden Housen                                       Ryan Tremblay</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CTO                          Founder and Cheif MLAIchemist</a:t>
            </a:r>
            <a:endParaRPr lang="en-US" altLang="zh-CN" sz="2000">
              <a:latin typeface="Times New Roman" panose="02020603050405020304" charset="0"/>
              <a:cs typeface="Times New Roman" panose="02020603050405020304" charset="0"/>
            </a:endParaRPr>
          </a:p>
        </p:txBody>
      </p:sp>
      <p:pic>
        <p:nvPicPr>
          <p:cNvPr id="6" name="图片 5"/>
          <p:cNvPicPr/>
          <p:nvPr/>
        </p:nvPicPr>
        <p:blipFill>
          <a:blip r:embed="rId3"/>
          <a:stretch>
            <a:fillRect/>
          </a:stretch>
        </p:blipFill>
        <p:spPr>
          <a:xfrm>
            <a:off x="243840" y="75565"/>
            <a:ext cx="1537335" cy="1805940"/>
          </a:xfrm>
          <a:prstGeom prst="rect">
            <a:avLst/>
          </a:prstGeom>
        </p:spPr>
      </p:pic>
      <p:pic>
        <p:nvPicPr>
          <p:cNvPr id="12" name="图片 11"/>
          <p:cNvPicPr/>
          <p:nvPr/>
        </p:nvPicPr>
        <p:blipFill>
          <a:blip r:embed="rId4"/>
          <a:stretch>
            <a:fillRect/>
          </a:stretch>
        </p:blipFill>
        <p:spPr>
          <a:xfrm>
            <a:off x="533400" y="5168900"/>
            <a:ext cx="2480310" cy="2712720"/>
          </a:xfrm>
          <a:prstGeom prst="rect">
            <a:avLst/>
          </a:prstGeom>
        </p:spPr>
      </p:pic>
      <p:pic>
        <p:nvPicPr>
          <p:cNvPr id="13" name="图片 12"/>
          <p:cNvPicPr/>
          <p:nvPr/>
        </p:nvPicPr>
        <p:blipFill>
          <a:blip r:embed="rId5"/>
          <a:stretch>
            <a:fillRect/>
          </a:stretch>
        </p:blipFill>
        <p:spPr>
          <a:xfrm>
            <a:off x="4675505" y="5168900"/>
            <a:ext cx="2648585" cy="2779395"/>
          </a:xfrm>
          <a:prstGeom prst="rect">
            <a:avLst/>
          </a:prstGeom>
        </p:spPr>
      </p:pic>
      <p:pic>
        <p:nvPicPr>
          <p:cNvPr id="14" name="图片 13"/>
          <p:cNvPicPr>
            <a:picLocks noChangeAspect="1"/>
          </p:cNvPicPr>
          <p:nvPr/>
        </p:nvPicPr>
        <p:blipFill>
          <a:blip r:embed="rId6"/>
          <a:stretch>
            <a:fillRect/>
          </a:stretch>
        </p:blipFill>
        <p:spPr>
          <a:xfrm>
            <a:off x="8914765" y="2218055"/>
            <a:ext cx="8125460" cy="55448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Solve Intelligence</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384675" y="63436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$12M              </a:t>
            </a:r>
            <a:r>
              <a:rPr lang="en-US" altLang="zh-CN" sz="2800">
                <a:latin typeface="华文楷体" panose="02010600040101010101" charset="-122"/>
                <a:ea typeface="华文楷体" panose="02010600040101010101" charset="-122"/>
                <a:cs typeface="华文楷体" panose="02010600040101010101" charset="-122"/>
              </a:rPr>
              <a:t>$350M</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·Solve Intelligence</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Solve IP</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是一家利用</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人工智能帮助专利撰写与知识产权管理</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的科技公司，其核心产品是一套面向专利律师、发明人和</a:t>
            </a:r>
            <a:r>
              <a:rPr lang="en-US" altLang="zh-CN" sz="2800">
                <a:latin typeface="华文楷体" panose="02010600040101010101" charset="-122"/>
                <a:ea typeface="华文楷体" panose="02010600040101010101" charset="-122"/>
              </a:rPr>
              <a:t> IP </a:t>
            </a:r>
            <a:r>
              <a:rPr lang="zh-CN" altLang="en-US" sz="2800">
                <a:latin typeface="华文楷体" panose="02010600040101010101" charset="-122"/>
                <a:ea typeface="华文楷体" panose="02010600040101010101" charset="-122"/>
              </a:rPr>
              <a:t>专业人士的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驱动写作与工作流工具，用来提高专利写作和专利流程的质量与效率。</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“AI for patents.”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284480"/>
            <a:ext cx="8474710" cy="267652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Translink Capital</a:t>
            </a:r>
            <a:r>
              <a:rPr lang="zh-CN" altLang="en-US" sz="2800">
                <a:latin typeface="华文楷体" panose="02010600040101010101" charset="-122"/>
                <a:ea typeface="华文楷体" panose="02010600040101010101" charset="-122"/>
              </a:rPr>
              <a:t>（专注跨境投资和亚洲市场）、</a:t>
            </a:r>
            <a:r>
              <a:rPr lang="en-US" altLang="zh-CN" sz="2800">
                <a:latin typeface="华文楷体" panose="02010600040101010101" charset="-122"/>
                <a:ea typeface="华文楷体" panose="02010600040101010101" charset="-122"/>
              </a:rPr>
              <a:t>Davidovs Venture Collective</a:t>
            </a:r>
            <a:r>
              <a:rPr lang="zh-CN" altLang="en-US" sz="2800">
                <a:latin typeface="华文楷体" panose="02010600040101010101" charset="-122"/>
                <a:ea typeface="华文楷体" panose="02010600040101010101" charset="-122"/>
              </a:rPr>
              <a:t>（关注跨行业投资、</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SAV</a:t>
            </a:r>
            <a:r>
              <a:rPr lang="zh-CN" altLang="en-US" sz="2800">
                <a:latin typeface="华文楷体" panose="02010600040101010101" charset="-122"/>
                <a:ea typeface="华文楷体" panose="02010600040101010101" charset="-122"/>
              </a:rPr>
              <a:t>（专注亚洲市场）</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相较于其他竞争者，</a:t>
            </a:r>
            <a:r>
              <a:rPr lang="en-US" altLang="zh-CN" sz="2800">
                <a:latin typeface="华文楷体" panose="02010600040101010101" charset="-122"/>
                <a:ea typeface="华文楷体" panose="02010600040101010101" charset="-122"/>
              </a:rPr>
              <a:t>Solve Intelligence </a:t>
            </a:r>
            <a:r>
              <a:rPr lang="zh-CN" altLang="en-US" sz="2800">
                <a:latin typeface="华文楷体" panose="02010600040101010101" charset="-122"/>
                <a:ea typeface="华文楷体" panose="02010600040101010101" charset="-122"/>
              </a:rPr>
              <a:t>更年轻且专注</a:t>
            </a:r>
            <a:endParaRPr lang="zh-CN" altLang="en-US" sz="2800">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·PatSnap </a:t>
            </a:r>
            <a:r>
              <a:rPr lang="zh-CN" altLang="en-US" sz="2800">
                <a:solidFill>
                  <a:schemeClr val="tx1"/>
                </a:solidFill>
                <a:latin typeface="华文楷体" panose="02010600040101010101" charset="-122"/>
                <a:ea typeface="华文楷体" panose="02010600040101010101" charset="-122"/>
              </a:rPr>
              <a:t>在竞争中占有主导地位，融资额高</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198120" y="8220075"/>
            <a:ext cx="8052435"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Chris Parsonson                    Angus Parsonson                  Sanj Ahilan</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Co-founder and CEO             Co-Founder and CTO      Co-Founder &amp; CRO </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10515" y="219710"/>
            <a:ext cx="1699260" cy="1681480"/>
          </a:xfrm>
          <a:prstGeom prst="rect">
            <a:avLst/>
          </a:prstGeom>
        </p:spPr>
      </p:pic>
      <p:pic>
        <p:nvPicPr>
          <p:cNvPr id="7" name="图片 6"/>
          <p:cNvPicPr/>
          <p:nvPr/>
        </p:nvPicPr>
        <p:blipFill>
          <a:blip r:embed="rId4"/>
          <a:stretch>
            <a:fillRect/>
          </a:stretch>
        </p:blipFill>
        <p:spPr>
          <a:xfrm>
            <a:off x="198120" y="5091430"/>
            <a:ext cx="2540635" cy="2790190"/>
          </a:xfrm>
          <a:prstGeom prst="rect">
            <a:avLst/>
          </a:prstGeom>
        </p:spPr>
      </p:pic>
      <p:pic>
        <p:nvPicPr>
          <p:cNvPr id="8" name="图片 7"/>
          <p:cNvPicPr/>
          <p:nvPr/>
        </p:nvPicPr>
        <p:blipFill>
          <a:blip r:embed="rId5"/>
          <a:stretch>
            <a:fillRect/>
          </a:stretch>
        </p:blipFill>
        <p:spPr>
          <a:xfrm>
            <a:off x="3131185" y="5168900"/>
            <a:ext cx="2357120" cy="2712720"/>
          </a:xfrm>
          <a:prstGeom prst="rect">
            <a:avLst/>
          </a:prstGeom>
        </p:spPr>
      </p:pic>
      <p:pic>
        <p:nvPicPr>
          <p:cNvPr id="11" name="图片 10"/>
          <p:cNvPicPr/>
          <p:nvPr/>
        </p:nvPicPr>
        <p:blipFill>
          <a:blip r:embed="rId6"/>
          <a:stretch>
            <a:fillRect/>
          </a:stretch>
        </p:blipFill>
        <p:spPr>
          <a:xfrm>
            <a:off x="5999480" y="5168900"/>
            <a:ext cx="2362835" cy="2712720"/>
          </a:xfrm>
          <a:prstGeom prst="rect">
            <a:avLst/>
          </a:prstGeom>
        </p:spPr>
      </p:pic>
      <p:pic>
        <p:nvPicPr>
          <p:cNvPr id="16" name="图片 15"/>
          <p:cNvPicPr>
            <a:picLocks noChangeAspect="1"/>
          </p:cNvPicPr>
          <p:nvPr/>
        </p:nvPicPr>
        <p:blipFill>
          <a:blip r:embed="rId7"/>
          <a:stretch>
            <a:fillRect/>
          </a:stretch>
        </p:blipFill>
        <p:spPr>
          <a:xfrm>
            <a:off x="9006205" y="3011805"/>
            <a:ext cx="7997825" cy="4819015"/>
          </a:xfrm>
          <a:prstGeom prst="rect">
            <a:avLst/>
          </a:prstGeom>
        </p:spPr>
      </p:pic>
      <p:pic>
        <p:nvPicPr>
          <p:cNvPr id="6" name="图片 5" descr="图片2"/>
          <p:cNvPicPr>
            <a:picLocks noChangeAspect="1"/>
          </p:cNvPicPr>
          <p:nvPr/>
        </p:nvPicPr>
        <p:blipFill>
          <a:blip r:embed="rId8"/>
          <a:stretch>
            <a:fillRect/>
          </a:stretch>
        </p:blipFill>
        <p:spPr>
          <a:xfrm>
            <a:off x="5596890" y="627380"/>
            <a:ext cx="1064260" cy="528955"/>
          </a:xfrm>
          <a:prstGeom prst="rect">
            <a:avLst/>
          </a:prstGeom>
        </p:spPr>
      </p:pic>
      <p:sp>
        <p:nvSpPr>
          <p:cNvPr id="12" name="文本框 11"/>
          <p:cNvSpPr txBox="1"/>
          <p:nvPr/>
        </p:nvSpPr>
        <p:spPr>
          <a:xfrm>
            <a:off x="3740785" y="1223010"/>
            <a:ext cx="5092700" cy="460375"/>
          </a:xfrm>
          <a:prstGeom prst="rect">
            <a:avLst/>
          </a:prstGeom>
          <a:noFill/>
        </p:spPr>
        <p:txBody>
          <a:bodyPr wrap="square" rtlCol="0">
            <a:spAutoFit/>
          </a:bodyPr>
          <a:p>
            <a:r>
              <a:rPr lang="zh-CN" altLang="en-US" sz="2400">
                <a:latin typeface="华文楷体" panose="02010600040101010101" charset="-122"/>
                <a:ea typeface="华文楷体" panose="02010600040101010101" charset="-122"/>
                <a:cs typeface="华文楷体" panose="02010600040101010101" charset="-122"/>
              </a:rPr>
              <a:t>种子轮估计（</a:t>
            </a:r>
            <a:r>
              <a:rPr lang="en-US" altLang="zh-CN" sz="2400">
                <a:latin typeface="华文楷体" panose="02010600040101010101" charset="-122"/>
                <a:ea typeface="华文楷体" panose="02010600040101010101" charset="-122"/>
                <a:cs typeface="华文楷体" panose="02010600040101010101" charset="-122"/>
              </a:rPr>
              <a:t>GPT</a:t>
            </a:r>
            <a:r>
              <a:rPr lang="zh-CN" altLang="en-US" sz="2400">
                <a:latin typeface="华文楷体" panose="02010600040101010101" charset="-122"/>
                <a:ea typeface="华文楷体" panose="02010600040101010101" charset="-122"/>
                <a:cs typeface="华文楷体" panose="02010600040101010101" charset="-122"/>
              </a:rPr>
              <a:t>）</a:t>
            </a:r>
            <a:r>
              <a:rPr lang="en-US" altLang="zh-CN" sz="2400">
                <a:latin typeface="华文楷体" panose="02010600040101010101" charset="-122"/>
                <a:ea typeface="华文楷体" panose="02010600040101010101" charset="-122"/>
                <a:cs typeface="华文楷体" panose="02010600040101010101" charset="-122"/>
              </a:rPr>
              <a:t>  </a:t>
            </a:r>
            <a:r>
              <a:rPr lang="zh-CN" altLang="en-US" sz="2400">
                <a:latin typeface="华文楷体" panose="02010600040101010101" charset="-122"/>
                <a:ea typeface="华文楷体" panose="02010600040101010101" charset="-122"/>
                <a:cs typeface="华文楷体" panose="02010600040101010101" charset="-122"/>
              </a:rPr>
              <a:t>当前估计</a:t>
            </a:r>
            <a:endParaRPr lang="zh-CN" altLang="en-US" sz="2400">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95313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Wanderboat AI</a:t>
            </a:r>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460240" y="63436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 $45M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180975" y="2061210"/>
            <a:ext cx="7760335"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·Wanderboat </a:t>
            </a:r>
            <a:r>
              <a:rPr lang="zh-CN" altLang="en-US" sz="2800">
                <a:latin typeface="华文楷体" panose="02010600040101010101" charset="-122"/>
                <a:ea typeface="华文楷体" panose="02010600040101010101" charset="-122"/>
              </a:rPr>
              <a:t>是一个智能</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旅行伴侣，通过对话和地图互动，帮助用户快速发现最值得去的景点、美食和活动，提供包含视频、图片与深度见解的个性化旅行推荐。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“Your everyday Al companion for getaway ideas.”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9000490" y="2922905"/>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Sequoia Capital</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UpHonest Capital</a:t>
            </a:r>
            <a:r>
              <a:rPr lang="zh-CN" altLang="en-US" sz="2800">
                <a:latin typeface="华文楷体" panose="02010600040101010101" charset="-122"/>
                <a:ea typeface="华文楷体" panose="02010600040101010101" charset="-122"/>
              </a:rPr>
              <a:t>（支持中美跨境创新企业）</a:t>
            </a:r>
            <a:endParaRPr lang="en-US" altLang="zh-CN" sz="2800">
              <a:latin typeface="华文楷体" panose="02010600040101010101" charset="-122"/>
              <a:ea typeface="华文楷体" panose="02010600040101010101" charset="-122"/>
            </a:endParaRPr>
          </a:p>
        </p:txBody>
      </p:sp>
      <p:sp>
        <p:nvSpPr>
          <p:cNvPr id="20" name="文本框 19"/>
          <p:cNvSpPr txBox="1"/>
          <p:nvPr/>
        </p:nvSpPr>
        <p:spPr>
          <a:xfrm>
            <a:off x="9000490" y="5045710"/>
            <a:ext cx="7533640" cy="95313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暂无同类公司比较分析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29056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Xiaochuan Ni                                  You Wu    </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Founder and CEO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113030" y="150495"/>
            <a:ext cx="1583690" cy="1584960"/>
          </a:xfrm>
          <a:prstGeom prst="rect">
            <a:avLst/>
          </a:prstGeom>
        </p:spPr>
      </p:pic>
      <p:pic>
        <p:nvPicPr>
          <p:cNvPr id="7" name="图片 6"/>
          <p:cNvPicPr/>
          <p:nvPr/>
        </p:nvPicPr>
        <p:blipFill>
          <a:blip r:embed="rId4"/>
          <a:stretch>
            <a:fillRect/>
          </a:stretch>
        </p:blipFill>
        <p:spPr>
          <a:xfrm>
            <a:off x="635000" y="5245100"/>
            <a:ext cx="2626995" cy="2936875"/>
          </a:xfrm>
          <a:prstGeom prst="rect">
            <a:avLst/>
          </a:prstGeom>
        </p:spPr>
      </p:pic>
      <p:pic>
        <p:nvPicPr>
          <p:cNvPr id="8" name="图片 7"/>
          <p:cNvPicPr/>
          <p:nvPr/>
        </p:nvPicPr>
        <p:blipFill>
          <a:blip r:embed="rId5"/>
          <a:stretch>
            <a:fillRect/>
          </a:stretch>
        </p:blipFill>
        <p:spPr>
          <a:xfrm>
            <a:off x="3686175" y="5245100"/>
            <a:ext cx="3074035" cy="29368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   M.AI</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713480" y="652145"/>
            <a:ext cx="5120005" cy="953135"/>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$50M</a:t>
            </a:r>
            <a:r>
              <a:rPr lang="en-US" altLang="zh-CN" sz="2800">
                <a:latin typeface="Times New Roman" panose="02020603050405020304" charset="0"/>
                <a:cs typeface="Times New Roman" panose="02020603050405020304" charset="0"/>
                <a:sym typeface="+mn-ea"/>
              </a:rPr>
              <a:t>                       $90M</a:t>
            </a:r>
            <a:endParaRPr lang="en-US" altLang="zh-CN" sz="2800">
              <a:latin typeface="Times New Roman" panose="02020603050405020304" charset="0"/>
              <a:cs typeface="Times New Roman" panose="02020603050405020304" charset="0"/>
            </a:endParaRPr>
          </a:p>
          <a:p>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180975" y="1753235"/>
            <a:ext cx="7760335"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·MAI </a:t>
            </a:r>
            <a:r>
              <a:rPr lang="zh-CN" altLang="en-US" sz="2800">
                <a:latin typeface="华文楷体" panose="02010600040101010101" charset="-122"/>
                <a:ea typeface="华文楷体" panose="02010600040101010101" charset="-122"/>
              </a:rPr>
              <a:t>是一家专注于用人工智能帮助企业自动化营销与广告投放的技术公司，其核心产品是</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营销</a:t>
            </a:r>
            <a:r>
              <a:rPr lang="en-US" altLang="zh-CN" sz="2800">
                <a:latin typeface="华文楷体" panose="02010600040101010101" charset="-122"/>
                <a:ea typeface="华文楷体" panose="02010600040101010101" charset="-122"/>
              </a:rPr>
              <a:t> AI Agent”</a:t>
            </a:r>
            <a:r>
              <a:rPr lang="zh-CN" altLang="en-US" sz="2800">
                <a:latin typeface="华文楷体" panose="02010600040101010101" charset="-122"/>
                <a:ea typeface="华文楷体" panose="02010600040101010101" charset="-122"/>
              </a:rPr>
              <a:t>。该产品通过</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自动执行营销人员的重复性与复杂工作，提升效果并最大化投资回报（</a:t>
            </a:r>
            <a:r>
              <a:rPr lang="en-US" altLang="zh-CN" sz="2800">
                <a:latin typeface="华文楷体" panose="02010600040101010101" charset="-122"/>
                <a:ea typeface="华文楷体" panose="02010600040101010101" charset="-122"/>
              </a:rPr>
              <a:t>ROI</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“AI agents that scale your Google Ads”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284480"/>
            <a:ext cx="8474710" cy="267652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altLang="zh-CN" sz="2800">
                <a:latin typeface="华文楷体" panose="02010600040101010101" charset="-122"/>
                <a:ea typeface="华文楷体" panose="02010600040101010101" charset="-122"/>
              </a:rPr>
              <a:t>UpHonest Capital</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Kleiner Perkins</a:t>
            </a:r>
            <a:r>
              <a:rPr lang="zh-CN" altLang="en-US" sz="2800">
                <a:latin typeface="华文楷体" panose="02010600040101010101" charset="-122"/>
                <a:ea typeface="华文楷体" panose="02010600040101010101" charset="-122"/>
              </a:rPr>
              <a:t>（前沿科技标杆）、</a:t>
            </a:r>
            <a:r>
              <a:rPr lang="en-US" altLang="zh-CN" sz="2800">
                <a:latin typeface="华文楷体" panose="02010600040101010101" charset="-122"/>
                <a:ea typeface="华文楷体" panose="02010600040101010101" charset="-122"/>
              </a:rPr>
              <a:t>Shanda Capital</a:t>
            </a:r>
            <a:r>
              <a:rPr lang="zh-CN" altLang="en-US" sz="2800">
                <a:latin typeface="华文楷体" panose="02010600040101010101" charset="-122"/>
                <a:ea typeface="华文楷体" panose="02010600040101010101" charset="-122"/>
              </a:rPr>
              <a:t>（中国</a:t>
            </a:r>
            <a:r>
              <a:rPr lang="en-US" altLang="zh-CN" sz="2800">
                <a:latin typeface="华文楷体" panose="02010600040101010101" charset="-122"/>
                <a:ea typeface="华文楷体" panose="02010600040101010101" charset="-122"/>
              </a:rPr>
              <a:t>Shanda Group</a:t>
            </a:r>
            <a:r>
              <a:rPr lang="zh-CN" altLang="en-US" sz="2800">
                <a:latin typeface="华文楷体" panose="02010600040101010101" charset="-122"/>
                <a:ea typeface="华文楷体" panose="02010600040101010101" charset="-122"/>
              </a:rPr>
              <a:t>旗下，专注互联网、娱乐）、</a:t>
            </a:r>
            <a:r>
              <a:rPr lang="en-US" altLang="zh-CN" sz="2800">
                <a:latin typeface="华文楷体" panose="02010600040101010101" charset="-122"/>
                <a:ea typeface="华文楷体" panose="02010600040101010101" charset="-122"/>
              </a:rPr>
              <a:t>Gaorong Capital</a:t>
            </a:r>
            <a:r>
              <a:rPr lang="zh-CN" altLang="en-US" sz="2800">
                <a:latin typeface="华文楷体" panose="02010600040101010101" charset="-122"/>
                <a:ea typeface="华文楷体" panose="02010600040101010101" charset="-122"/>
              </a:rPr>
              <a:t>（中美跨境，全球化视角）</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·M.AI</a:t>
            </a:r>
            <a:r>
              <a:rPr lang="zh-CN" altLang="en-US" sz="2800">
                <a:latin typeface="华文楷体" panose="02010600040101010101" charset="-122"/>
                <a:ea typeface="华文楷体" panose="02010600040101010101" charset="-122"/>
              </a:rPr>
              <a:t>是最早进入高增长区的公司之一</a:t>
            </a:r>
            <a:endParaRPr lang="zh-CN" altLang="en-US" sz="2800">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资本效率优于同区对手</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相对成熟平台的</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代际替代者</a:t>
            </a:r>
            <a:r>
              <a:rPr lang="en-US" altLang="zh-CN" sz="2800">
                <a:solidFill>
                  <a:schemeClr val="tx1"/>
                </a:solidFill>
                <a:latin typeface="华文楷体" panose="02010600040101010101" charset="-122"/>
                <a:ea typeface="华文楷体" panose="02010600040101010101" charset="-122"/>
              </a:rPr>
              <a:t>”</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2409825" y="8220075"/>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Yuchen Wu                                      </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Founder                       </a:t>
            </a:r>
            <a:endParaRPr lang="en-US" altLang="zh-CN" sz="2000">
              <a:latin typeface="Times New Roman" panose="02020603050405020304" charset="0"/>
              <a:cs typeface="Times New Roman" panose="02020603050405020304" charset="0"/>
            </a:endParaRPr>
          </a:p>
        </p:txBody>
      </p:sp>
      <p:sp>
        <p:nvSpPr>
          <p:cNvPr id="2" name="文本框 1"/>
          <p:cNvSpPr txBox="1"/>
          <p:nvPr/>
        </p:nvSpPr>
        <p:spPr>
          <a:xfrm>
            <a:off x="3578860" y="1255395"/>
            <a:ext cx="4568190" cy="398780"/>
          </a:xfrm>
          <a:prstGeom prst="rect">
            <a:avLst/>
          </a:prstGeom>
          <a:noFill/>
        </p:spPr>
        <p:txBody>
          <a:bodyPr wrap="square" rtlCol="0">
            <a:spAutoFit/>
          </a:bodyPr>
          <a:p>
            <a:r>
              <a:rPr lang="en-US" altLang="zh-CN"/>
              <a:t>   </a:t>
            </a:r>
            <a:r>
              <a:rPr lang="zh-CN" altLang="en-US" sz="2000">
                <a:latin typeface="华文楷体" panose="02010600040101010101" charset="-122"/>
                <a:ea typeface="华文楷体" panose="02010600040101010101" charset="-122"/>
              </a:rPr>
              <a:t>GPT预计 </a:t>
            </a:r>
            <a:r>
              <a:rPr lang="en-US" altLang="zh-CN"/>
              <a:t>                         </a:t>
            </a:r>
            <a:r>
              <a:rPr lang="zh-CN" altLang="en-US" sz="2000">
                <a:latin typeface="华文楷体" panose="02010600040101010101" charset="-122"/>
                <a:ea typeface="华文楷体" panose="02010600040101010101" charset="-122"/>
              </a:rPr>
              <a:t>下一轮预计</a:t>
            </a:r>
            <a:endParaRPr lang="zh-CN" altLang="en-US" sz="2000">
              <a:latin typeface="华文楷体" panose="02010600040101010101" charset="-122"/>
              <a:ea typeface="华文楷体" panose="02010600040101010101" charset="-122"/>
            </a:endParaRPr>
          </a:p>
        </p:txBody>
      </p:sp>
      <p:pic>
        <p:nvPicPr>
          <p:cNvPr id="8" name="图片 7" descr="图片2"/>
          <p:cNvPicPr>
            <a:picLocks noChangeAspect="1"/>
          </p:cNvPicPr>
          <p:nvPr/>
        </p:nvPicPr>
        <p:blipFill>
          <a:blip r:embed="rId3"/>
          <a:stretch>
            <a:fillRect/>
          </a:stretch>
        </p:blipFill>
        <p:spPr>
          <a:xfrm>
            <a:off x="5196840" y="627380"/>
            <a:ext cx="1064260" cy="528955"/>
          </a:xfrm>
          <a:prstGeom prst="rect">
            <a:avLst/>
          </a:prstGeom>
        </p:spPr>
      </p:pic>
      <p:pic>
        <p:nvPicPr>
          <p:cNvPr id="7" name="图片 6"/>
          <p:cNvPicPr>
            <a:picLocks noChangeAspect="1"/>
          </p:cNvPicPr>
          <p:nvPr/>
        </p:nvPicPr>
        <p:blipFill>
          <a:blip r:embed="rId4"/>
          <a:stretch>
            <a:fillRect/>
          </a:stretch>
        </p:blipFill>
        <p:spPr>
          <a:xfrm>
            <a:off x="-22225" y="284480"/>
            <a:ext cx="2098675" cy="1158875"/>
          </a:xfrm>
          <a:prstGeom prst="rect">
            <a:avLst/>
          </a:prstGeom>
        </p:spPr>
      </p:pic>
      <p:pic>
        <p:nvPicPr>
          <p:cNvPr id="16" name="图片 15"/>
          <p:cNvPicPr/>
          <p:nvPr/>
        </p:nvPicPr>
        <p:blipFill>
          <a:blip r:embed="rId5"/>
          <a:stretch>
            <a:fillRect/>
          </a:stretch>
        </p:blipFill>
        <p:spPr>
          <a:xfrm>
            <a:off x="2163445" y="4809490"/>
            <a:ext cx="2616835" cy="3072130"/>
          </a:xfrm>
          <a:prstGeom prst="rect">
            <a:avLst/>
          </a:prstGeom>
        </p:spPr>
      </p:pic>
      <p:pic>
        <p:nvPicPr>
          <p:cNvPr id="17" name="图片 16"/>
          <p:cNvPicPr>
            <a:picLocks noChangeAspect="1"/>
          </p:cNvPicPr>
          <p:nvPr/>
        </p:nvPicPr>
        <p:blipFill>
          <a:blip r:embed="rId6"/>
          <a:stretch>
            <a:fillRect/>
          </a:stretch>
        </p:blipFill>
        <p:spPr>
          <a:xfrm>
            <a:off x="9084310" y="2856865"/>
            <a:ext cx="7446645" cy="505396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dili</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242945" y="65214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$45M                      $75M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396938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·Dili </a:t>
            </a:r>
            <a:r>
              <a:rPr lang="zh-CN" altLang="en-US" sz="2800">
                <a:latin typeface="华文楷体" panose="02010600040101010101" charset="-122"/>
                <a:ea typeface="华文楷体" panose="02010600040101010101" charset="-122"/>
              </a:rPr>
              <a:t>是一个</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驱动的协作工具，专为</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私募股权和成长阶段的风险投资公司</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设计，帮助其自动化</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尽职调查</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过程。通过</a:t>
            </a:r>
            <a:r>
              <a:rPr lang="en-US" altLang="zh-CN" sz="2800">
                <a:latin typeface="华文楷体" panose="02010600040101010101" charset="-122"/>
                <a:ea typeface="华文楷体" panose="02010600040101010101" charset="-122"/>
              </a:rPr>
              <a:t> Dili</a:t>
            </a:r>
            <a:r>
              <a:rPr lang="zh-CN" altLang="en-US" sz="2800">
                <a:latin typeface="华文楷体" panose="02010600040101010101" charset="-122"/>
                <a:ea typeface="华文楷体" panose="02010600040101010101" charset="-122"/>
              </a:rPr>
              <a:t>，交易团队可以更高效地处理数据，节省时间，从而加快交易速度，进行更多的投资决策。</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“Simplify Compliance for</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Your Next Project.”</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284480"/>
            <a:ext cx="8474710" cy="267652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Singularity Capital</a:t>
            </a:r>
            <a:r>
              <a:rPr lang="zh-CN" altLang="en-US" sz="2800">
                <a:latin typeface="华文楷体" panose="02010600040101010101" charset="-122"/>
                <a:ea typeface="华文楷体" panose="02010600040101010101" charset="-122"/>
              </a:rPr>
              <a:t>（聚焦</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量子计算）、</a:t>
            </a:r>
            <a:r>
              <a:rPr lang="en-US" altLang="zh-CN" sz="2800">
                <a:latin typeface="华文楷体" panose="02010600040101010101" charset="-122"/>
                <a:ea typeface="华文楷体" panose="02010600040101010101" charset="-122"/>
              </a:rPr>
              <a:t>Rocketship.vc</a:t>
            </a:r>
            <a:r>
              <a:rPr lang="zh-CN" altLang="en-US" sz="2800">
                <a:latin typeface="华文楷体" panose="02010600040101010101" charset="-122"/>
                <a:ea typeface="华文楷体" panose="02010600040101010101" charset="-122"/>
              </a:rPr>
              <a:t>（聚焦技术驱动的初创公司）、</a:t>
            </a:r>
            <a:r>
              <a:rPr lang="en-US" altLang="zh-CN" sz="2800">
                <a:latin typeface="华文楷体" panose="02010600040101010101" charset="-122"/>
                <a:ea typeface="华文楷体" panose="02010600040101010101" charset="-122"/>
              </a:rPr>
              <a:t>Rebel Fund</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Allianz</a:t>
            </a:r>
            <a:r>
              <a:rPr lang="zh-CN" altLang="en-US" sz="2800">
                <a:latin typeface="华文楷体" panose="02010600040101010101" charset="-122"/>
                <a:ea typeface="华文楷体" panose="02010600040101010101" charset="-122"/>
              </a:rPr>
              <a:t>（全球领先的保险公司和金融服务集团）</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·Dili</a:t>
            </a:r>
            <a:r>
              <a:rPr lang="zh-CN" altLang="en-US" sz="2800">
                <a:solidFill>
                  <a:schemeClr val="tx1"/>
                </a:solidFill>
                <a:latin typeface="华文楷体" panose="02010600040101010101" charset="-122"/>
                <a:ea typeface="华文楷体" panose="02010600040101010101" charset="-122"/>
              </a:rPr>
              <a:t>早期阶段即进入高增长区间</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用</a:t>
            </a:r>
            <a:r>
              <a:rPr lang="en-US" altLang="zh-CN" sz="2800">
                <a:solidFill>
                  <a:schemeClr val="tx1"/>
                </a:solidFill>
                <a:latin typeface="华文楷体" panose="02010600040101010101" charset="-122"/>
                <a:ea typeface="华文楷体" panose="02010600040101010101" charset="-122"/>
              </a:rPr>
              <a:t> AI </a:t>
            </a:r>
            <a:r>
              <a:rPr lang="zh-CN" altLang="en-US" sz="2800">
                <a:solidFill>
                  <a:schemeClr val="tx1"/>
                </a:solidFill>
                <a:latin typeface="华文楷体" panose="02010600040101010101" charset="-122"/>
                <a:ea typeface="华文楷体" panose="02010600040101010101" charset="-122"/>
              </a:rPr>
              <a:t>重构</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重人力、低效率</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流程</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具备向平台型放大的潜力</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29056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Anand Chaturvedi                                    Brian Fernandez</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147955" y="150495"/>
            <a:ext cx="1595120" cy="1461135"/>
          </a:xfrm>
          <a:prstGeom prst="rect">
            <a:avLst/>
          </a:prstGeom>
        </p:spPr>
      </p:pic>
      <p:pic>
        <p:nvPicPr>
          <p:cNvPr id="7" name="图片 6"/>
          <p:cNvPicPr/>
          <p:nvPr/>
        </p:nvPicPr>
        <p:blipFill>
          <a:blip r:embed="rId4"/>
          <a:stretch>
            <a:fillRect/>
          </a:stretch>
        </p:blipFill>
        <p:spPr>
          <a:xfrm>
            <a:off x="869315" y="5656580"/>
            <a:ext cx="2210435" cy="2225040"/>
          </a:xfrm>
          <a:prstGeom prst="rect">
            <a:avLst/>
          </a:prstGeom>
        </p:spPr>
      </p:pic>
      <p:pic>
        <p:nvPicPr>
          <p:cNvPr id="8" name="图片 7"/>
          <p:cNvPicPr/>
          <p:nvPr/>
        </p:nvPicPr>
        <p:blipFill>
          <a:blip r:embed="rId5"/>
          <a:stretch>
            <a:fillRect/>
          </a:stretch>
        </p:blipFill>
        <p:spPr>
          <a:xfrm>
            <a:off x="4894580" y="5656580"/>
            <a:ext cx="2205990" cy="2310765"/>
          </a:xfrm>
          <a:prstGeom prst="rect">
            <a:avLst/>
          </a:prstGeom>
        </p:spPr>
      </p:pic>
      <p:pic>
        <p:nvPicPr>
          <p:cNvPr id="11" name="图片 10"/>
          <p:cNvPicPr>
            <a:picLocks noChangeAspect="1"/>
          </p:cNvPicPr>
          <p:nvPr/>
        </p:nvPicPr>
        <p:blipFill>
          <a:blip r:embed="rId6"/>
          <a:stretch>
            <a:fillRect/>
          </a:stretch>
        </p:blipFill>
        <p:spPr>
          <a:xfrm>
            <a:off x="9012555" y="2961005"/>
            <a:ext cx="7473950" cy="4936490"/>
          </a:xfrm>
          <a:prstGeom prst="rect">
            <a:avLst/>
          </a:prstGeom>
        </p:spPr>
      </p:pic>
      <p:pic>
        <p:nvPicPr>
          <p:cNvPr id="6" name="图片 5" descr="图片2"/>
          <p:cNvPicPr>
            <a:picLocks noChangeAspect="1"/>
          </p:cNvPicPr>
          <p:nvPr/>
        </p:nvPicPr>
        <p:blipFill>
          <a:blip r:embed="rId7"/>
          <a:stretch>
            <a:fillRect/>
          </a:stretch>
        </p:blipFill>
        <p:spPr>
          <a:xfrm>
            <a:off x="4694555" y="551815"/>
            <a:ext cx="1064260" cy="528955"/>
          </a:xfrm>
          <a:prstGeom prst="rect">
            <a:avLst/>
          </a:prstGeom>
        </p:spPr>
      </p:pic>
      <p:sp>
        <p:nvSpPr>
          <p:cNvPr id="12" name="文本框 11"/>
          <p:cNvSpPr txBox="1"/>
          <p:nvPr/>
        </p:nvSpPr>
        <p:spPr>
          <a:xfrm>
            <a:off x="2843530" y="1212215"/>
            <a:ext cx="5671185" cy="460375"/>
          </a:xfrm>
          <a:prstGeom prst="rect">
            <a:avLst/>
          </a:prstGeom>
          <a:noFill/>
        </p:spPr>
        <p:txBody>
          <a:bodyPr wrap="square" rtlCol="0">
            <a:spAutoFit/>
          </a:bodyPr>
          <a:p>
            <a:r>
              <a:rPr lang="zh-CN" altLang="en-US" sz="2400">
                <a:latin typeface="华文楷体" panose="02010600040101010101" charset="-122"/>
                <a:ea typeface="华文楷体" panose="02010600040101010101" charset="-122"/>
                <a:cs typeface="华文楷体" panose="02010600040101010101" charset="-122"/>
              </a:rPr>
              <a:t>种子轮</a:t>
            </a:r>
            <a:r>
              <a:rPr lang="zh-CN" altLang="en-US" sz="2400">
                <a:latin typeface="华文楷体" panose="02010600040101010101" charset="-122"/>
                <a:ea typeface="华文楷体" panose="02010600040101010101" charset="-122"/>
                <a:cs typeface="华文楷体" panose="02010600040101010101" charset="-122"/>
              </a:rPr>
              <a:t>估计（</a:t>
            </a:r>
            <a:r>
              <a:rPr lang="en-US" altLang="zh-CN" sz="2400">
                <a:latin typeface="华文楷体" panose="02010600040101010101" charset="-122"/>
                <a:ea typeface="华文楷体" panose="02010600040101010101" charset="-122"/>
                <a:cs typeface="华文楷体" panose="02010600040101010101" charset="-122"/>
              </a:rPr>
              <a:t>GPT</a:t>
            </a:r>
            <a:r>
              <a:rPr lang="zh-CN" altLang="en-US" sz="2400">
                <a:latin typeface="华文楷体" panose="02010600040101010101" charset="-122"/>
                <a:ea typeface="华文楷体" panose="02010600040101010101" charset="-122"/>
                <a:cs typeface="华文楷体" panose="02010600040101010101" charset="-122"/>
              </a:rPr>
              <a:t>）</a:t>
            </a:r>
            <a:r>
              <a:rPr lang="en-US" altLang="zh-CN" sz="2400">
                <a:latin typeface="华文楷体" panose="02010600040101010101" charset="-122"/>
                <a:ea typeface="华文楷体" panose="02010600040101010101" charset="-122"/>
                <a:cs typeface="华文楷体" panose="02010600040101010101" charset="-122"/>
              </a:rPr>
              <a:t>    </a:t>
            </a:r>
            <a:r>
              <a:rPr lang="zh-CN" altLang="en-US" sz="2400">
                <a:latin typeface="华文楷体" panose="02010600040101010101" charset="-122"/>
                <a:ea typeface="华文楷体" panose="02010600040101010101" charset="-122"/>
                <a:cs typeface="华文楷体" panose="02010600040101010101" charset="-122"/>
              </a:rPr>
              <a:t>当前估计</a:t>
            </a:r>
            <a:endParaRPr lang="zh-CN" altLang="en-US">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 74"/>
          <p:cNvSpPr/>
          <p:nvPr/>
        </p:nvSpPr>
        <p:spPr>
          <a:xfrm>
            <a:off x="0" y="0"/>
            <a:ext cx="17475200" cy="9753600"/>
          </a:xfrm>
          <a:prstGeom prst="rect">
            <a:avLst/>
          </a:prstGeom>
          <a:solidFill>
            <a:srgbClr val="F5F5EF">
              <a:alpha val="100000"/>
            </a:srgbClr>
          </a:solidFill>
          <a:ln w="0" cap="flat">
            <a:noFill/>
            <a:prstDash val="solid"/>
            <a:miter lim="0"/>
          </a:ln>
        </p:spPr>
        <p:txBody>
          <a:bodyPr rtlCol="0"/>
          <a:lstStyle/>
          <a:p>
            <a:pPr algn="ctr"/>
            <a:endParaRPr lang="zh-CN" altLang="en-US"/>
          </a:p>
        </p:txBody>
      </p:sp>
      <p:pic>
        <p:nvPicPr>
          <p:cNvPr id="76" name="picture 76"/>
          <p:cNvPicPr>
            <a:picLocks noChangeAspect="1"/>
          </p:cNvPicPr>
          <p:nvPr/>
        </p:nvPicPr>
        <p:blipFill>
          <a:blip r:embed="rId1"/>
          <a:stretch>
            <a:fillRect/>
          </a:stretch>
        </p:blipFill>
        <p:spPr>
          <a:xfrm rot="21600000">
            <a:off x="476256" y="1830662"/>
            <a:ext cx="7835880" cy="5410224"/>
          </a:xfrm>
          <a:prstGeom prst="rect">
            <a:avLst/>
          </a:prstGeom>
        </p:spPr>
      </p:pic>
      <p:sp>
        <p:nvSpPr>
          <p:cNvPr id="78" name="textbox 78"/>
          <p:cNvSpPr/>
          <p:nvPr/>
        </p:nvSpPr>
        <p:spPr>
          <a:xfrm>
            <a:off x="10299764" y="3770202"/>
            <a:ext cx="4533265" cy="3395345"/>
          </a:xfrm>
          <a:prstGeom prst="rect">
            <a:avLst/>
          </a:prstGeom>
          <a:noFill/>
          <a:ln w="0" cap="flat">
            <a:noFill/>
            <a:prstDash val="solid"/>
            <a:miter lim="0"/>
          </a:ln>
        </p:spPr>
        <p:txBody>
          <a:bodyPr vert="horz" wrap="square" lIns="0" tIns="0" rIns="0" bIns="0"/>
          <a:lstStyle/>
          <a:p>
            <a:pPr algn="l" rtl="0" eaLnBrk="0">
              <a:lnSpc>
                <a:spcPct val="63000"/>
              </a:lnSpc>
            </a:pPr>
            <a:endParaRPr sz="100" dirty="0">
              <a:latin typeface="Arial" panose="020B0604020202020204"/>
              <a:ea typeface="Arial" panose="020B0604020202020204"/>
              <a:cs typeface="Arial" panose="020B0604020202020204"/>
            </a:endParaRPr>
          </a:p>
          <a:p>
            <a:pPr algn="r" rtl="0" eaLnBrk="0">
              <a:lnSpc>
                <a:spcPct val="97000"/>
              </a:lnSpc>
            </a:pPr>
            <a:endParaRPr sz="4100" dirty="0">
              <a:latin typeface="黑体" panose="02010609060101010101" charset="-122"/>
              <a:ea typeface="黑体" panose="02010609060101010101" charset="-122"/>
              <a:cs typeface="黑体" panose="02010609060101010101" charset="-122"/>
            </a:endParaRPr>
          </a:p>
        </p:txBody>
      </p:sp>
      <p:sp>
        <p:nvSpPr>
          <p:cNvPr id="80" name="textbox 80"/>
          <p:cNvSpPr/>
          <p:nvPr/>
        </p:nvSpPr>
        <p:spPr>
          <a:xfrm>
            <a:off x="4803465" y="727894"/>
            <a:ext cx="7867015" cy="762634"/>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5100" dirty="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8737600" y="2738755"/>
            <a:ext cx="8106410" cy="3415030"/>
          </a:xfrm>
          <a:prstGeom prst="rect">
            <a:avLst/>
          </a:prstGeom>
          <a:noFill/>
        </p:spPr>
        <p:txBody>
          <a:bodyPr wrap="square" rtlCol="0">
            <a:spAutoFit/>
          </a:bodyPr>
          <a:p>
            <a:r>
              <a:rPr lang="en-US" altLang="zh-CN" sz="7200">
                <a:latin typeface="华文琥珀" panose="02010800040101010101" charset="-122"/>
                <a:ea typeface="华文琥珀" panose="02010800040101010101" charset="-122"/>
                <a:cs typeface="黑体" panose="02010609060101010101" charset="-122"/>
              </a:rPr>
              <a:t>04</a:t>
            </a:r>
            <a:endParaRPr lang="en-US" altLang="zh-CN" sz="7200">
              <a:latin typeface="华文琥珀" panose="02010800040101010101" charset="-122"/>
              <a:ea typeface="华文琥珀" panose="02010800040101010101" charset="-122"/>
              <a:cs typeface="黑体" panose="02010609060101010101" charset="-122"/>
            </a:endParaRPr>
          </a:p>
          <a:p>
            <a:r>
              <a:rPr lang="zh-CN" altLang="en-US" sz="7200">
                <a:latin typeface="华康行楷体 W5" panose="03000509000000000000" charset="-122"/>
                <a:ea typeface="华康行楷体 W5" panose="03000509000000000000" charset="-122"/>
                <a:cs typeface="黑体" panose="02010609060101010101" charset="-122"/>
              </a:rPr>
              <a:t>数据反馈闭环</a:t>
            </a:r>
            <a:endParaRPr lang="zh-CN" altLang="en-US" sz="7200">
              <a:latin typeface="华康行楷体 W5" panose="03000509000000000000" charset="-122"/>
              <a:ea typeface="华康行楷体 W5" panose="03000509000000000000" charset="-122"/>
              <a:cs typeface="黑体" panose="02010609060101010101" charset="-122"/>
            </a:endParaRPr>
          </a:p>
          <a:p>
            <a:r>
              <a:rPr lang="en-US" altLang="zh-CN" sz="7200">
                <a:latin typeface="Times New Roman" panose="02020603050405020304" charset="0"/>
                <a:ea typeface="黑体" panose="02010609060101010101" charset="-122"/>
                <a:cs typeface="Times New Roman" panose="02020603050405020304" charset="0"/>
              </a:rPr>
              <a:t>System Intelligence</a:t>
            </a:r>
            <a:endParaRPr lang="en-US" altLang="zh-CN" sz="7200">
              <a:latin typeface="Times New Roman" panose="02020603050405020304" charset="0"/>
              <a:ea typeface="黑体" panose="02010609060101010101" charset="-122"/>
              <a:cs typeface="Times New Roman" panose="02020603050405020304" charset="0"/>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 22"/>
          <p:cNvSpPr/>
          <p:nvPr/>
        </p:nvSpPr>
        <p:spPr>
          <a:xfrm>
            <a:off x="0" y="0"/>
            <a:ext cx="17475200" cy="9753600"/>
          </a:xfrm>
          <a:prstGeom prst="rect">
            <a:avLst/>
          </a:prstGeom>
          <a:solidFill>
            <a:srgbClr val="F5F2E7">
              <a:alpha val="100000"/>
            </a:srgbClr>
          </a:solidFill>
          <a:ln w="0" cap="flat">
            <a:noFill/>
            <a:prstDash val="solid"/>
            <a:miter lim="0"/>
          </a:ln>
        </p:spPr>
        <p:txBody>
          <a:bodyPr rtlCol="0"/>
          <a:lstStyle/>
          <a:p>
            <a:pPr algn="ctr"/>
            <a:endParaRPr lang="zh-CN" altLang="en-US"/>
          </a:p>
        </p:txBody>
      </p:sp>
      <p:pic>
        <p:nvPicPr>
          <p:cNvPr id="24" name="picture 24"/>
          <p:cNvPicPr>
            <a:picLocks noChangeAspect="1"/>
          </p:cNvPicPr>
          <p:nvPr/>
        </p:nvPicPr>
        <p:blipFill>
          <a:blip r:embed="rId1"/>
          <a:stretch>
            <a:fillRect/>
          </a:stretch>
        </p:blipFill>
        <p:spPr>
          <a:xfrm rot="21600000">
            <a:off x="12756" y="5410224"/>
            <a:ext cx="17449683" cy="3397178"/>
          </a:xfrm>
          <a:prstGeom prst="rect">
            <a:avLst/>
          </a:prstGeom>
        </p:spPr>
      </p:pic>
      <p:sp>
        <p:nvSpPr>
          <p:cNvPr id="26" name="textbox 26"/>
          <p:cNvSpPr/>
          <p:nvPr/>
        </p:nvSpPr>
        <p:spPr>
          <a:xfrm>
            <a:off x="1051301" y="1084581"/>
            <a:ext cx="13907135" cy="4269104"/>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2085340" algn="l" rtl="0" eaLnBrk="0">
              <a:lnSpc>
                <a:spcPct val="83000"/>
              </a:lnSpc>
              <a:spcBef>
                <a:spcPts val="1000"/>
              </a:spcBef>
            </a:pPr>
            <a:endParaRPr sz="5000" baseline="7000" dirty="0">
              <a:latin typeface="Arial" panose="020B0604020202020204"/>
              <a:ea typeface="Arial" panose="020B0604020202020204"/>
              <a:cs typeface="Arial" panose="020B0604020202020204"/>
            </a:endParaRPr>
          </a:p>
        </p:txBody>
      </p:sp>
      <p:sp>
        <p:nvSpPr>
          <p:cNvPr id="28" name="textbox 28"/>
          <p:cNvSpPr/>
          <p:nvPr/>
        </p:nvSpPr>
        <p:spPr>
          <a:xfrm>
            <a:off x="16097336" y="9481038"/>
            <a:ext cx="1263650" cy="189864"/>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3000"/>
              </a:lnSpc>
            </a:pPr>
            <a:endParaRPr sz="1300" dirty="0">
              <a:latin typeface="Arial" panose="020B0604020202020204"/>
              <a:ea typeface="Arial" panose="020B0604020202020204"/>
              <a:cs typeface="Arial" panose="020B0604020202020204"/>
            </a:endParaRPr>
          </a:p>
        </p:txBody>
      </p:sp>
      <p:sp>
        <p:nvSpPr>
          <p:cNvPr id="2" name="文本框 1"/>
          <p:cNvSpPr txBox="1"/>
          <p:nvPr/>
        </p:nvSpPr>
        <p:spPr>
          <a:xfrm>
            <a:off x="927100" y="1942465"/>
            <a:ext cx="5098415" cy="2553335"/>
          </a:xfrm>
          <a:prstGeom prst="rect">
            <a:avLst/>
          </a:prstGeom>
          <a:noFill/>
        </p:spPr>
        <p:txBody>
          <a:bodyPr wrap="square" rtlCol="0">
            <a:spAutoFit/>
          </a:bodyPr>
          <a:p>
            <a:pPr algn="ctr"/>
            <a:r>
              <a:rPr lang="zh-CN" altLang="en-US" sz="8000">
                <a:latin typeface="华康行楷体 W5" panose="03000509000000000000" charset="-122"/>
                <a:ea typeface="华康行楷体 W5" panose="03000509000000000000" charset="-122"/>
                <a:cs typeface="华康行楷体 W5" panose="03000509000000000000" charset="-122"/>
              </a:rPr>
              <a:t>现实的</a:t>
            </a:r>
            <a:endParaRPr lang="zh-CN" altLang="en-US" sz="8000">
              <a:latin typeface="华康行楷体 W5" panose="03000509000000000000" charset="-122"/>
              <a:ea typeface="华康行楷体 W5" panose="03000509000000000000" charset="-122"/>
              <a:cs typeface="华康行楷体 W5" panose="03000509000000000000" charset="-122"/>
            </a:endParaRPr>
          </a:p>
          <a:p>
            <a:pPr algn="ctr"/>
            <a:r>
              <a:rPr lang="zh-CN" altLang="en-US" sz="8000">
                <a:latin typeface="华康行楷体 W5" panose="03000509000000000000" charset="-122"/>
                <a:ea typeface="华康行楷体 W5" panose="03000509000000000000" charset="-122"/>
                <a:cs typeface="华康行楷体 W5" panose="03000509000000000000" charset="-122"/>
              </a:rPr>
              <a:t>基础设施</a:t>
            </a:r>
            <a:endParaRPr lang="zh-CN" altLang="en-US" sz="8000">
              <a:latin typeface="华康行楷体 W5" panose="03000509000000000000" charset="-122"/>
              <a:ea typeface="华康行楷体 W5" panose="03000509000000000000" charset="-122"/>
              <a:cs typeface="华康行楷体 W5" panose="03000509000000000000" charset="-122"/>
            </a:endParaRPr>
          </a:p>
        </p:txBody>
      </p:sp>
      <p:sp>
        <p:nvSpPr>
          <p:cNvPr id="3" name="文本框 2"/>
          <p:cNvSpPr txBox="1"/>
          <p:nvPr/>
        </p:nvSpPr>
        <p:spPr>
          <a:xfrm>
            <a:off x="5671185" y="1942465"/>
            <a:ext cx="6589395" cy="2553335"/>
          </a:xfrm>
          <a:prstGeom prst="rect">
            <a:avLst/>
          </a:prstGeom>
          <a:noFill/>
        </p:spPr>
        <p:txBody>
          <a:bodyPr wrap="square" rtlCol="0">
            <a:spAutoFit/>
          </a:bodyPr>
          <a:p>
            <a:pPr algn="ctr"/>
            <a:r>
              <a:rPr lang="zh-CN" altLang="en-US" sz="8000">
                <a:latin typeface="华康行楷体 W5" panose="03000509000000000000" charset="-122"/>
                <a:ea typeface="华康行楷体 W5" panose="03000509000000000000" charset="-122"/>
                <a:cs typeface="华康行楷体 W5" panose="03000509000000000000" charset="-122"/>
              </a:rPr>
              <a:t>连接数字世界与物理世界</a:t>
            </a:r>
            <a:endParaRPr lang="zh-CN" altLang="en-US" sz="8000">
              <a:latin typeface="华康行楷体 W5" panose="03000509000000000000" charset="-122"/>
              <a:ea typeface="华康行楷体 W5" panose="03000509000000000000" charset="-122"/>
              <a:cs typeface="华康行楷体 W5" panose="03000509000000000000" charset="-122"/>
            </a:endParaRPr>
          </a:p>
        </p:txBody>
      </p:sp>
      <p:sp>
        <p:nvSpPr>
          <p:cNvPr id="4" name="文本框 3"/>
          <p:cNvSpPr txBox="1"/>
          <p:nvPr/>
        </p:nvSpPr>
        <p:spPr>
          <a:xfrm>
            <a:off x="12260580" y="1569085"/>
            <a:ext cx="4404360" cy="3784600"/>
          </a:xfrm>
          <a:prstGeom prst="rect">
            <a:avLst/>
          </a:prstGeom>
          <a:noFill/>
        </p:spPr>
        <p:txBody>
          <a:bodyPr wrap="square" rtlCol="0">
            <a:spAutoFit/>
          </a:bodyPr>
          <a:p>
            <a:pPr lvl="0" algn="ctr">
              <a:buClrTx/>
              <a:buSzTx/>
              <a:buFontTx/>
            </a:pPr>
            <a:r>
              <a:rPr lang="zh-CN" altLang="en-US" sz="8000">
                <a:latin typeface="华康行楷体 W5" panose="03000509000000000000" charset="-122"/>
                <a:ea typeface="华康行楷体 W5" panose="03000509000000000000" charset="-122"/>
                <a:cs typeface="华康行楷体 W5" panose="03000509000000000000" charset="-122"/>
                <a:sym typeface="+mn-ea"/>
              </a:rPr>
              <a:t>专有数据护城河的系统</a:t>
            </a:r>
            <a:endParaRPr lang="zh-CN" altLang="en-US" sz="8000">
              <a:latin typeface="华康行楷体 W5" panose="03000509000000000000" charset="-122"/>
              <a:ea typeface="华康行楷体 W5" panose="03000509000000000000" charset="-122"/>
              <a:cs typeface="华康行楷体 W5" panose="03000509000000000000" charset="-122"/>
              <a:sym typeface="+mn-ea"/>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Aether</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242945" y="65214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 $45M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396938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·Aether Energy </a:t>
            </a:r>
            <a:r>
              <a:rPr lang="zh-CN" altLang="en-US" sz="2800">
                <a:latin typeface="华文楷体" panose="02010600040101010101" charset="-122"/>
                <a:ea typeface="华文楷体" panose="02010600040101010101" charset="-122"/>
              </a:rPr>
              <a:t>是一个</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驱动的端到端平台，专为屋顶太阳能安装商设计，提供从融资、设计到项目管理的全方位解决方案。其核心功能包括低成本太阳能项目融资、</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辅助设计工具、项目管理和工作流优化，以及定制化太阳能提案生成器，旨在提高效率、降低成本并提升销售转化。</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“AI Sales Platform for Home Services.”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2397760"/>
            <a:ext cx="8474710"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noa</a:t>
            </a:r>
            <a:r>
              <a:rPr lang="zh-CN" altLang="en-US" sz="2800">
                <a:latin typeface="华文楷体" panose="02010600040101010101" charset="-122"/>
                <a:ea typeface="华文楷体" panose="02010600040101010101" charset="-122"/>
              </a:rPr>
              <a:t>（专注于气候、能源与可持续发展方向）、</a:t>
            </a:r>
            <a:r>
              <a:rPr lang="en-US" altLang="zh-CN" sz="2800">
                <a:latin typeface="华文楷体" panose="02010600040101010101" charset="-122"/>
                <a:ea typeface="华文楷体" panose="02010600040101010101" charset="-122"/>
              </a:rPr>
              <a:t>Collaborative Fund</a:t>
            </a:r>
            <a:r>
              <a:rPr lang="zh-CN" altLang="en-US" sz="2800">
                <a:latin typeface="华文楷体" panose="02010600040101010101" charset="-122"/>
                <a:ea typeface="华文楷体" panose="02010600040101010101" charset="-122"/>
              </a:rPr>
              <a:t>（聚焦可持续消费、气候、健康与未来生活方式）</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暂无同类公司比较分析</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521970"/>
          </a:xfrm>
          <a:prstGeom prst="rect">
            <a:avLst/>
          </a:prstGeom>
          <a:noFill/>
        </p:spPr>
        <p:txBody>
          <a:bodyPr wrap="square" rtlCol="0">
            <a:spAutoFit/>
          </a:bodyPr>
          <a:p>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29056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Zayne Sagar                                              Shelby Bons</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6" name="图片 5"/>
          <p:cNvPicPr/>
          <p:nvPr/>
        </p:nvPicPr>
        <p:blipFill>
          <a:blip r:embed="rId3"/>
          <a:stretch>
            <a:fillRect/>
          </a:stretch>
        </p:blipFill>
        <p:spPr>
          <a:xfrm>
            <a:off x="180340" y="150495"/>
            <a:ext cx="1410970" cy="1345565"/>
          </a:xfrm>
          <a:prstGeom prst="rect">
            <a:avLst/>
          </a:prstGeom>
        </p:spPr>
      </p:pic>
      <p:pic>
        <p:nvPicPr>
          <p:cNvPr id="12" name="图片 11"/>
          <p:cNvPicPr/>
          <p:nvPr/>
        </p:nvPicPr>
        <p:blipFill>
          <a:blip r:embed="rId4"/>
          <a:stretch>
            <a:fillRect/>
          </a:stretch>
        </p:blipFill>
        <p:spPr>
          <a:xfrm>
            <a:off x="635000" y="5612765"/>
            <a:ext cx="2378075" cy="2454910"/>
          </a:xfrm>
          <a:prstGeom prst="rect">
            <a:avLst/>
          </a:prstGeom>
        </p:spPr>
      </p:pic>
      <p:pic>
        <p:nvPicPr>
          <p:cNvPr id="13" name="图片 12"/>
          <p:cNvPicPr/>
          <p:nvPr/>
        </p:nvPicPr>
        <p:blipFill>
          <a:blip r:embed="rId5"/>
          <a:stretch>
            <a:fillRect/>
          </a:stretch>
        </p:blipFill>
        <p:spPr>
          <a:xfrm>
            <a:off x="4906010" y="5612765"/>
            <a:ext cx="2411730" cy="245491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Superunit  </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556635" y="63436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$12M </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483108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·Superunit </a:t>
            </a:r>
            <a:r>
              <a:rPr lang="zh-CN" altLang="en-US" sz="2800">
                <a:latin typeface="华文楷体" panose="02010600040101010101" charset="-122"/>
                <a:ea typeface="华文楷体" panose="02010600040101010101" charset="-122"/>
              </a:rPr>
              <a:t>是一家以</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为核心的企业级自动化平台，主要通过</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代理替代人工流程，帮助企业更快、更低成本地完成雇佣与收入核验等高摩擦业务。它利用</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进行大规模外呼与信息核实，并通过</a:t>
            </a:r>
            <a:r>
              <a:rPr lang="en-US" altLang="zh-CN" sz="2800">
                <a:latin typeface="华文楷体" panose="02010600040101010101" charset="-122"/>
                <a:ea typeface="华文楷体" panose="02010600040101010101" charset="-122"/>
              </a:rPr>
              <a:t> API </a:t>
            </a:r>
            <a:r>
              <a:rPr lang="zh-CN" altLang="en-US" sz="2800">
                <a:latin typeface="华文楷体" panose="02010600040101010101" charset="-122"/>
                <a:ea typeface="华文楷体" panose="02010600040101010101" charset="-122"/>
              </a:rPr>
              <a:t>将结果直接接入客户系统，同时将同样的</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自动化能力延伸到制造业和零售业的成本核算场景</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“Automate Manual Employment + Income Verifications with 24/7 AI Power.”</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634365"/>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参与的前种子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sz="2800">
                <a:latin typeface="华文楷体" panose="02010600040101010101" charset="-122"/>
                <a:ea typeface="华文楷体" panose="02010600040101010101" charset="-122"/>
              </a:rPr>
              <a:t>Superunit</a:t>
            </a:r>
            <a:r>
              <a:rPr lang="zh-CN" altLang="en-US" sz="2800">
                <a:latin typeface="华文楷体" panose="02010600040101010101" charset="-122"/>
                <a:ea typeface="华文楷体" panose="02010600040101010101" charset="-122"/>
              </a:rPr>
              <a:t>处于</a:t>
            </a:r>
            <a:r>
              <a:rPr lang="zh-CN" altLang="en-US" sz="2800">
                <a:solidFill>
                  <a:schemeClr val="tx1"/>
                </a:solidFill>
                <a:latin typeface="华文楷体" panose="02010600040101010101" charset="-122"/>
                <a:ea typeface="华文楷体" panose="02010600040101010101" charset="-122"/>
              </a:rPr>
              <a:t>极早期但增长评分最高</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回报弹性最大的一档标的</a:t>
            </a:r>
            <a:endParaRPr lang="zh-CN" altLang="en-US" sz="2800">
              <a:solidFill>
                <a:schemeClr val="tx1"/>
              </a:solidFill>
              <a:latin typeface="华文楷体" panose="02010600040101010101" charset="-122"/>
              <a:ea typeface="华文楷体" panose="02010600040101010101" charset="-122"/>
            </a:endParaRPr>
          </a:p>
          <a:p>
            <a:r>
              <a:rPr lang="zh-CN" altLang="en-US" sz="2800">
                <a:solidFill>
                  <a:schemeClr val="tx1"/>
                </a:solidFill>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以效率型</a:t>
            </a:r>
            <a:r>
              <a:rPr lang="en-US" altLang="zh-CN" sz="2800">
                <a:solidFill>
                  <a:schemeClr val="tx1"/>
                </a:solidFill>
                <a:latin typeface="华文楷体" panose="02010600040101010101" charset="-122"/>
                <a:ea typeface="华文楷体" panose="02010600040101010101" charset="-122"/>
              </a:rPr>
              <a:t> AI </a:t>
            </a:r>
            <a:r>
              <a:rPr lang="zh-CN" altLang="en-US" sz="2800">
                <a:solidFill>
                  <a:schemeClr val="tx1"/>
                </a:solidFill>
                <a:latin typeface="华文楷体" panose="02010600040101010101" charset="-122"/>
                <a:ea typeface="华文楷体" panose="02010600040101010101" charset="-122"/>
              </a:rPr>
              <a:t>撬动传统大市场</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461645" y="882904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Peter Marler                                              Zach Flaherty</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6" name="图片 5"/>
          <p:cNvPicPr/>
          <p:nvPr/>
        </p:nvPicPr>
        <p:blipFill>
          <a:blip r:embed="rId3"/>
          <a:stretch>
            <a:fillRect/>
          </a:stretch>
        </p:blipFill>
        <p:spPr>
          <a:xfrm>
            <a:off x="193675" y="150495"/>
            <a:ext cx="1508760" cy="1324610"/>
          </a:xfrm>
          <a:prstGeom prst="rect">
            <a:avLst/>
          </a:prstGeom>
        </p:spPr>
      </p:pic>
      <p:pic>
        <p:nvPicPr>
          <p:cNvPr id="12" name="图片 11"/>
          <p:cNvPicPr/>
          <p:nvPr/>
        </p:nvPicPr>
        <p:blipFill>
          <a:blip r:embed="rId4"/>
          <a:stretch>
            <a:fillRect/>
          </a:stretch>
        </p:blipFill>
        <p:spPr>
          <a:xfrm>
            <a:off x="609600" y="6403340"/>
            <a:ext cx="2183765" cy="2227580"/>
          </a:xfrm>
          <a:prstGeom prst="rect">
            <a:avLst/>
          </a:prstGeom>
        </p:spPr>
      </p:pic>
      <p:pic>
        <p:nvPicPr>
          <p:cNvPr id="13" name="图片 12"/>
          <p:cNvPicPr/>
          <p:nvPr/>
        </p:nvPicPr>
        <p:blipFill>
          <a:blip r:embed="rId5"/>
          <a:stretch>
            <a:fillRect/>
          </a:stretch>
        </p:blipFill>
        <p:spPr>
          <a:xfrm>
            <a:off x="4776470" y="6403340"/>
            <a:ext cx="2240280" cy="2227580"/>
          </a:xfrm>
          <a:prstGeom prst="rect">
            <a:avLst/>
          </a:prstGeom>
        </p:spPr>
      </p:pic>
      <p:pic>
        <p:nvPicPr>
          <p:cNvPr id="14" name="图片 13"/>
          <p:cNvPicPr>
            <a:picLocks noChangeAspect="1"/>
          </p:cNvPicPr>
          <p:nvPr/>
        </p:nvPicPr>
        <p:blipFill>
          <a:blip r:embed="rId6"/>
          <a:stretch>
            <a:fillRect/>
          </a:stretch>
        </p:blipFill>
        <p:spPr>
          <a:xfrm>
            <a:off x="8999855" y="2195830"/>
            <a:ext cx="7926070" cy="536130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95313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Maxinsights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879850" y="65214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 $15M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439991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·Max Insights </a:t>
            </a:r>
            <a:r>
              <a:rPr lang="zh-CN" altLang="en-US" sz="2800">
                <a:latin typeface="华文楷体" panose="02010600040101010101" charset="-122"/>
                <a:ea typeface="华文楷体" panose="02010600040101010101" charset="-122"/>
              </a:rPr>
              <a:t>是一家专注于具身智能（</a:t>
            </a:r>
            <a:r>
              <a:rPr lang="en-US" altLang="zh-CN" sz="2800">
                <a:latin typeface="华文楷体" panose="02010600040101010101" charset="-122"/>
                <a:ea typeface="华文楷体" panose="02010600040101010101" charset="-122"/>
              </a:rPr>
              <a:t>Embodied AI</a:t>
            </a:r>
            <a:r>
              <a:rPr lang="zh-CN" altLang="en-US" sz="2800">
                <a:latin typeface="华文楷体" panose="02010600040101010101" charset="-122"/>
                <a:ea typeface="华文楷体" panose="02010600040101010101" charset="-122"/>
              </a:rPr>
              <a:t>）数据解决方案的科技公司，致力于为物理世界中的智能体（如机器人、自动化设备等）提供高质量、全球规模的数据支持与解决方案，以加速</a:t>
            </a:r>
            <a:r>
              <a:rPr lang="en-US" altLang="zh-CN" sz="2800">
                <a:latin typeface="华文楷体" panose="02010600040101010101" charset="-122"/>
                <a:ea typeface="华文楷体" panose="02010600040101010101" charset="-122"/>
              </a:rPr>
              <a:t> Embodied AI </a:t>
            </a:r>
            <a:r>
              <a:rPr lang="zh-CN" altLang="en-US" sz="2800">
                <a:latin typeface="华文楷体" panose="02010600040101010101" charset="-122"/>
                <a:ea typeface="华文楷体" panose="02010600040101010101" charset="-122"/>
              </a:rPr>
              <a:t>的开发与应用落地。</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“Our mission is to accelerate the adoption of Physical AI by delivering unmatched data quality at a global scale.”</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920480" y="3578860"/>
            <a:ext cx="8474710" cy="95313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zh-CN" sz="2800">
                <a:latin typeface="华文楷体" panose="02010600040101010101" charset="-122"/>
                <a:ea typeface="华文楷体" panose="02010600040101010101" charset="-122"/>
              </a:rPr>
              <a:t>暂未披露</a:t>
            </a:r>
            <a:endParaRPr lang="zh-CN" sz="2800">
              <a:latin typeface="华文楷体" panose="02010600040101010101" charset="-122"/>
              <a:ea typeface="华文楷体" panose="02010600040101010101" charset="-122"/>
            </a:endParaRPr>
          </a:p>
        </p:txBody>
      </p:sp>
      <p:sp>
        <p:nvSpPr>
          <p:cNvPr id="20" name="文本框 19"/>
          <p:cNvSpPr txBox="1"/>
          <p:nvPr/>
        </p:nvSpPr>
        <p:spPr>
          <a:xfrm>
            <a:off x="8999855" y="4732020"/>
            <a:ext cx="7533640" cy="521970"/>
          </a:xfrm>
          <a:prstGeom prst="rect">
            <a:avLst/>
          </a:prstGeom>
          <a:noFill/>
        </p:spPr>
        <p:txBody>
          <a:bodyPr wrap="square" rtlCol="0">
            <a:spAutoFit/>
          </a:bodyPr>
          <a:p>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暂无同类公司比较分析</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2994660" y="882904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Yuguang Yuan </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Founder</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83540" y="150495"/>
            <a:ext cx="1497965" cy="1454785"/>
          </a:xfrm>
          <a:prstGeom prst="rect">
            <a:avLst/>
          </a:prstGeom>
        </p:spPr>
      </p:pic>
      <p:pic>
        <p:nvPicPr>
          <p:cNvPr id="7" name="图片 6"/>
          <p:cNvPicPr/>
          <p:nvPr/>
        </p:nvPicPr>
        <p:blipFill>
          <a:blip r:embed="rId4"/>
          <a:stretch>
            <a:fillRect/>
          </a:stretch>
        </p:blipFill>
        <p:spPr>
          <a:xfrm>
            <a:off x="2723515" y="6146800"/>
            <a:ext cx="2273300" cy="226250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Ridge Security</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097655" y="65214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a:t>
            </a:r>
            <a:r>
              <a:rPr lang="zh-CN" altLang="en-US" sz="2800">
                <a:latin typeface="华文楷体" panose="02010600040101010101" charset="-122"/>
                <a:ea typeface="华文楷体" panose="02010600040101010101" charset="-122"/>
                <a:cs typeface="华文楷体" panose="02010600040101010101" charset="-122"/>
              </a:rPr>
              <a:t>轮</a:t>
            </a:r>
            <a:r>
              <a:rPr lang="en-US" altLang="zh-CN" sz="2800">
                <a:latin typeface="华文楷体" panose="02010600040101010101" charset="-122"/>
                <a:ea typeface="华文楷体" panose="02010600040101010101" charset="-122"/>
                <a:cs typeface="华文楷体" panose="02010600040101010101" charset="-122"/>
              </a:rPr>
              <a:t> $120M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·Ridge Security </a:t>
            </a:r>
            <a:r>
              <a:rPr lang="zh-CN" altLang="en-US" sz="2800">
                <a:latin typeface="华文楷体" panose="02010600040101010101" charset="-122"/>
                <a:ea typeface="华文楷体" panose="02010600040101010101" charset="-122"/>
              </a:rPr>
              <a:t>用</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自动化渗透测试与实时策略控制，帮助企业持续发现弱点、评估风险并以零信任方式保护关键工作负载，从而提升整体安全态势。</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“The Next Evolution In Security Validation”</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634365"/>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A</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altLang="zh-CN" sz="2800">
                <a:latin typeface="华文楷体" panose="02010600040101010101" charset="-122"/>
                <a:ea typeface="华文楷体" panose="02010600040101010101" charset="-122"/>
              </a:rPr>
              <a:t>TSVC</a:t>
            </a:r>
            <a:r>
              <a:rPr lang="zh-CN" altLang="en-US" sz="2800">
                <a:latin typeface="华文楷体" panose="02010600040101010101" charset="-122"/>
                <a:ea typeface="华文楷体" panose="02010600040101010101" charset="-122"/>
              </a:rPr>
              <a:t>（专注深科技，人工智能、</a:t>
            </a:r>
            <a:r>
              <a:rPr lang="en-US" altLang="zh-CN" sz="2800">
                <a:latin typeface="华文楷体" panose="02010600040101010101" charset="-122"/>
                <a:ea typeface="华文楷体" panose="02010600040101010101" charset="-122"/>
              </a:rPr>
              <a:t>SaaS</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AI </a:t>
            </a:r>
            <a:r>
              <a:rPr lang="zh-CN" altLang="en-US" sz="2800">
                <a:latin typeface="华文楷体" panose="02010600040101010101" charset="-122"/>
                <a:ea typeface="华文楷体" panose="02010600040101010101" charset="-122"/>
              </a:rPr>
              <a:t>芯片、</a:t>
            </a:r>
            <a:r>
              <a:rPr lang="en-US" altLang="zh-CN" sz="2800">
                <a:latin typeface="华文楷体" panose="02010600040101010101" charset="-122"/>
                <a:ea typeface="华文楷体" panose="02010600040101010101" charset="-122"/>
              </a:rPr>
              <a:t>FinTech</a:t>
            </a:r>
            <a:r>
              <a:rPr lang="zh-CN" altLang="en-US" sz="2800">
                <a:latin typeface="华文楷体" panose="02010600040101010101" charset="-122"/>
                <a:ea typeface="华文楷体" panose="02010600040101010101" charset="-122"/>
              </a:rPr>
              <a:t>等等）</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·Ridge Security</a:t>
            </a:r>
            <a:r>
              <a:rPr lang="zh-CN" altLang="en-US" sz="2800">
                <a:latin typeface="华文楷体" panose="02010600040101010101" charset="-122"/>
                <a:ea typeface="华文楷体" panose="02010600040101010101" charset="-122"/>
              </a:rPr>
              <a:t>呈现</a:t>
            </a:r>
            <a:r>
              <a:rPr lang="zh-CN" altLang="en-US" sz="2800">
                <a:solidFill>
                  <a:schemeClr val="tx1"/>
                </a:solidFill>
                <a:latin typeface="华文楷体" panose="02010600040101010101" charset="-122"/>
                <a:ea typeface="华文楷体" panose="02010600040101010101" charset="-122"/>
              </a:rPr>
              <a:t>低资本</a:t>
            </a:r>
            <a:r>
              <a:rPr lang="en-US" altLang="zh-CN" sz="2800">
                <a:solidFill>
                  <a:schemeClr val="tx1"/>
                </a:solidFill>
                <a:latin typeface="华文楷体" panose="02010600040101010101" charset="-122"/>
                <a:ea typeface="华文楷体" panose="02010600040101010101" charset="-122"/>
              </a:rPr>
              <a:t> </a:t>
            </a:r>
            <a:r>
              <a:rPr lang="en-US" altLang="en-US" sz="2800">
                <a:solidFill>
                  <a:schemeClr val="tx1"/>
                </a:solidFill>
                <a:latin typeface="华文楷体" panose="02010600040101010101" charset="-122"/>
                <a:ea typeface="华文楷体" panose="02010600040101010101" charset="-122"/>
              </a:rPr>
              <a:t>×</a:t>
            </a:r>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高成长</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用自动化替代</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重人力安全</a:t>
            </a:r>
            <a:r>
              <a:rPr lang="en-US" altLang="zh-CN" sz="2800">
                <a:solidFill>
                  <a:schemeClr val="tx1"/>
                </a:solidFill>
                <a:latin typeface="华文楷体" panose="02010600040101010101" charset="-122"/>
                <a:ea typeface="华文楷体" panose="02010600040101010101" charset="-122"/>
              </a:rPr>
              <a:t>”</a:t>
            </a:r>
            <a:endParaRPr lang="zh-CN" altLang="en-US" sz="2800">
              <a:solidFill>
                <a:schemeClr val="tx1"/>
              </a:solidFill>
              <a:latin typeface="华文楷体" panose="02010600040101010101" charset="-122"/>
              <a:ea typeface="华文楷体" panose="02010600040101010101" charset="-122"/>
            </a:endParaRPr>
          </a:p>
          <a:p>
            <a:r>
              <a:rPr lang="zh-CN" altLang="en-US" sz="2800">
                <a:solidFill>
                  <a:schemeClr val="tx1"/>
                </a:solidFill>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回报弹性优于成熟对手</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310515" y="882904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Lydia Zhang                                             Nick (Ning) Mo</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President                            Co-founder and CEO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10515" y="306070"/>
            <a:ext cx="1573530" cy="1552575"/>
          </a:xfrm>
          <a:prstGeom prst="rect">
            <a:avLst/>
          </a:prstGeom>
        </p:spPr>
      </p:pic>
      <p:pic>
        <p:nvPicPr>
          <p:cNvPr id="11" name="图片 10"/>
          <p:cNvPicPr>
            <a:picLocks noChangeAspect="1"/>
          </p:cNvPicPr>
          <p:nvPr/>
        </p:nvPicPr>
        <p:blipFill>
          <a:blip r:embed="rId4"/>
          <a:stretch>
            <a:fillRect/>
          </a:stretch>
        </p:blipFill>
        <p:spPr>
          <a:xfrm>
            <a:off x="224155" y="5375275"/>
            <a:ext cx="3227070" cy="3189605"/>
          </a:xfrm>
          <a:prstGeom prst="rect">
            <a:avLst/>
          </a:prstGeom>
        </p:spPr>
      </p:pic>
      <p:pic>
        <p:nvPicPr>
          <p:cNvPr id="16" name="图片 15"/>
          <p:cNvPicPr/>
          <p:nvPr/>
        </p:nvPicPr>
        <p:blipFill>
          <a:blip r:embed="rId5"/>
          <a:stretch>
            <a:fillRect/>
          </a:stretch>
        </p:blipFill>
        <p:spPr>
          <a:xfrm>
            <a:off x="4689475" y="5375275"/>
            <a:ext cx="2780665" cy="3188970"/>
          </a:xfrm>
          <a:prstGeom prst="rect">
            <a:avLst/>
          </a:prstGeom>
        </p:spPr>
      </p:pic>
      <p:pic>
        <p:nvPicPr>
          <p:cNvPr id="17" name="图片 16"/>
          <p:cNvPicPr>
            <a:picLocks noChangeAspect="1"/>
          </p:cNvPicPr>
          <p:nvPr/>
        </p:nvPicPr>
        <p:blipFill>
          <a:blip r:embed="rId6"/>
          <a:stretch>
            <a:fillRect/>
          </a:stretch>
        </p:blipFill>
        <p:spPr>
          <a:xfrm>
            <a:off x="8917940" y="2449195"/>
            <a:ext cx="8074660" cy="524002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Revision Dojo</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097655" y="65214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$40M                       $250M</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396938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·Revision Dojo </a:t>
            </a:r>
            <a:r>
              <a:rPr lang="zh-CN" altLang="en-US" sz="2800">
                <a:latin typeface="华文楷体" panose="02010600040101010101" charset="-122"/>
                <a:ea typeface="华文楷体" panose="02010600040101010101" charset="-122"/>
              </a:rPr>
              <a:t>是一个</a:t>
            </a:r>
            <a:r>
              <a:rPr lang="en-US" altLang="zh-CN" sz="2800">
                <a:latin typeface="华文楷体" panose="02010600040101010101" charset="-122"/>
                <a:ea typeface="华文楷体" panose="02010600040101010101" charset="-122"/>
              </a:rPr>
              <a:t>AI </a:t>
            </a:r>
            <a:r>
              <a:rPr lang="zh-CN" altLang="en-US" sz="2800">
                <a:latin typeface="华文楷体" panose="02010600040101010101" charset="-122"/>
                <a:ea typeface="华文楷体" panose="02010600040101010101" charset="-122"/>
              </a:rPr>
              <a:t>驱动的学习与备考平台，主要面向国际文凭（</a:t>
            </a:r>
            <a:r>
              <a:rPr lang="en-US" altLang="zh-CN" sz="2800">
                <a:latin typeface="华文楷体" panose="02010600040101010101" charset="-122"/>
                <a:ea typeface="华文楷体" panose="02010600040101010101" charset="-122"/>
              </a:rPr>
              <a:t>IB</a:t>
            </a:r>
            <a:r>
              <a:rPr lang="zh-CN" altLang="en-US" sz="2800">
                <a:latin typeface="华文楷体" panose="02010600040101010101" charset="-122"/>
                <a:ea typeface="华文楷体" panose="02010600040101010101" charset="-122"/>
              </a:rPr>
              <a:t>）等高强度考试的学生，提供题库、笔记、闪卡、模考试题和一个智能</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学习助手来个性化辅导、自动评分及即时反馈，帮助学生更高效地准备考试。</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“Expert-Written Exam Prep, All in One Place.”</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634365"/>
            <a:ext cx="847471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A</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Goodwater Capital</a:t>
            </a:r>
            <a:r>
              <a:rPr lang="zh-CN" altLang="en-US" sz="2800">
                <a:latin typeface="华文楷体" panose="02010600040101010101" charset="-122"/>
                <a:ea typeface="华文楷体" panose="02010600040101010101" charset="-122"/>
              </a:rPr>
              <a:t>（专注消费互联网与应用层）、</a:t>
            </a:r>
            <a:r>
              <a:rPr lang="en-US" altLang="zh-CN" sz="2800">
                <a:latin typeface="华文楷体" panose="02010600040101010101" charset="-122"/>
                <a:ea typeface="华文楷体" panose="02010600040101010101" charset="-122"/>
              </a:rPr>
              <a:t>Ryan Merket</a:t>
            </a:r>
            <a:r>
              <a:rPr lang="zh-CN" altLang="en-US" sz="2800">
                <a:latin typeface="华文楷体" panose="02010600040101010101" charset="-122"/>
                <a:ea typeface="华文楷体" panose="02010600040101010101" charset="-122"/>
              </a:rPr>
              <a:t>（个人投资人、</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、开发者工具和早期</a:t>
            </a:r>
            <a:r>
              <a:rPr lang="en-US" altLang="zh-CN" sz="2800">
                <a:latin typeface="华文楷体" panose="02010600040101010101" charset="-122"/>
                <a:ea typeface="华文楷体" panose="02010600040101010101" charset="-122"/>
              </a:rPr>
              <a:t> SaaS</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7881620"/>
            <a:ext cx="753364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latin typeface="华文楷体" panose="02010600040101010101" charset="-122"/>
                <a:ea typeface="华文楷体" panose="02010600040101010101" charset="-122"/>
                <a:sym typeface="+mn-ea"/>
              </a:rPr>
              <a:t>Revision Dojo</a:t>
            </a:r>
            <a:r>
              <a:rPr lang="zh-CN" altLang="en-US" sz="2800">
                <a:solidFill>
                  <a:schemeClr val="tx1"/>
                </a:solidFill>
                <a:latin typeface="华文楷体" panose="02010600040101010101" charset="-122"/>
                <a:ea typeface="华文楷体" panose="02010600040101010101" charset="-122"/>
              </a:rPr>
              <a:t>极低资本进入高增长区</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与传统教育平台形成阶段错位</a:t>
            </a:r>
            <a:endParaRPr lang="zh-CN" altLang="en-US" sz="2800">
              <a:solidFill>
                <a:schemeClr val="tx1"/>
              </a:solidFill>
              <a:latin typeface="华文楷体" panose="02010600040101010101" charset="-122"/>
              <a:ea typeface="华文楷体" panose="02010600040101010101" charset="-122"/>
            </a:endParaRPr>
          </a:p>
          <a:p>
            <a:r>
              <a:rPr lang="zh-CN" altLang="en-US" sz="2800">
                <a:solidFill>
                  <a:schemeClr val="tx1"/>
                </a:solidFill>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具备</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工具</a:t>
            </a:r>
            <a:r>
              <a:rPr lang="en-US" altLang="en-US"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平台</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的上行空间</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82904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Bowen Liu                                                 Michael Tong</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6" name="图片 5"/>
          <p:cNvPicPr/>
          <p:nvPr/>
        </p:nvPicPr>
        <p:blipFill>
          <a:blip r:embed="rId3"/>
          <a:stretch>
            <a:fillRect/>
          </a:stretch>
        </p:blipFill>
        <p:spPr>
          <a:xfrm>
            <a:off x="310515" y="150495"/>
            <a:ext cx="1606550" cy="1595120"/>
          </a:xfrm>
          <a:prstGeom prst="rect">
            <a:avLst/>
          </a:prstGeom>
        </p:spPr>
      </p:pic>
      <p:pic>
        <p:nvPicPr>
          <p:cNvPr id="7" name="图片 6"/>
          <p:cNvPicPr/>
          <p:nvPr/>
        </p:nvPicPr>
        <p:blipFill>
          <a:blip r:embed="rId4"/>
          <a:stretch>
            <a:fillRect/>
          </a:stretch>
        </p:blipFill>
        <p:spPr>
          <a:xfrm>
            <a:off x="708660" y="5634990"/>
            <a:ext cx="2540635" cy="2919730"/>
          </a:xfrm>
          <a:prstGeom prst="rect">
            <a:avLst/>
          </a:prstGeom>
        </p:spPr>
      </p:pic>
      <p:pic>
        <p:nvPicPr>
          <p:cNvPr id="8" name="图片 7"/>
          <p:cNvPicPr/>
          <p:nvPr/>
        </p:nvPicPr>
        <p:blipFill>
          <a:blip r:embed="rId5"/>
          <a:stretch>
            <a:fillRect/>
          </a:stretch>
        </p:blipFill>
        <p:spPr>
          <a:xfrm>
            <a:off x="4538345" y="5634990"/>
            <a:ext cx="2670810" cy="2823210"/>
          </a:xfrm>
          <a:prstGeom prst="rect">
            <a:avLst/>
          </a:prstGeom>
        </p:spPr>
      </p:pic>
      <p:pic>
        <p:nvPicPr>
          <p:cNvPr id="12" name="图片 11"/>
          <p:cNvPicPr>
            <a:picLocks noChangeAspect="1"/>
          </p:cNvPicPr>
          <p:nvPr/>
        </p:nvPicPr>
        <p:blipFill>
          <a:blip r:embed="rId6"/>
          <a:stretch>
            <a:fillRect/>
          </a:stretch>
        </p:blipFill>
        <p:spPr>
          <a:xfrm>
            <a:off x="9002395" y="2819400"/>
            <a:ext cx="8054340" cy="5062220"/>
          </a:xfrm>
          <a:prstGeom prst="rect">
            <a:avLst/>
          </a:prstGeom>
        </p:spPr>
      </p:pic>
      <p:pic>
        <p:nvPicPr>
          <p:cNvPr id="2" name="图片 1" descr="图片2"/>
          <p:cNvPicPr>
            <a:picLocks noChangeAspect="1"/>
          </p:cNvPicPr>
          <p:nvPr/>
        </p:nvPicPr>
        <p:blipFill>
          <a:blip r:embed="rId7"/>
          <a:stretch>
            <a:fillRect/>
          </a:stretch>
        </p:blipFill>
        <p:spPr>
          <a:xfrm>
            <a:off x="5748655" y="540385"/>
            <a:ext cx="1064260" cy="528955"/>
          </a:xfrm>
          <a:prstGeom prst="rect">
            <a:avLst/>
          </a:prstGeom>
        </p:spPr>
      </p:pic>
      <p:sp>
        <p:nvSpPr>
          <p:cNvPr id="11" name="文本框 10"/>
          <p:cNvSpPr txBox="1"/>
          <p:nvPr/>
        </p:nvSpPr>
        <p:spPr>
          <a:xfrm>
            <a:off x="3387090" y="1247140"/>
            <a:ext cx="5446395" cy="460375"/>
          </a:xfrm>
          <a:prstGeom prst="rect">
            <a:avLst/>
          </a:prstGeom>
          <a:noFill/>
        </p:spPr>
        <p:txBody>
          <a:bodyPr wrap="square" rtlCol="0">
            <a:spAutoFit/>
          </a:bodyPr>
          <a:p>
            <a:r>
              <a:rPr lang="zh-CN" altLang="en-US" sz="2400">
                <a:latin typeface="华文楷体" panose="02010600040101010101" charset="-122"/>
                <a:ea typeface="华文楷体" panose="02010600040101010101" charset="-122"/>
                <a:cs typeface="华文楷体" panose="02010600040101010101" charset="-122"/>
              </a:rPr>
              <a:t>种</a:t>
            </a:r>
            <a:r>
              <a:rPr lang="zh-CN" altLang="en-US" sz="2400">
                <a:latin typeface="华文楷体" panose="02010600040101010101" charset="-122"/>
                <a:ea typeface="华文楷体" panose="02010600040101010101" charset="-122"/>
                <a:cs typeface="华文楷体" panose="02010600040101010101" charset="-122"/>
              </a:rPr>
              <a:t>子轮估计（</a:t>
            </a:r>
            <a:r>
              <a:rPr lang="en-US" altLang="zh-CN" sz="2400">
                <a:latin typeface="华文楷体" panose="02010600040101010101" charset="-122"/>
                <a:ea typeface="华文楷体" panose="02010600040101010101" charset="-122"/>
                <a:cs typeface="华文楷体" panose="02010600040101010101" charset="-122"/>
              </a:rPr>
              <a:t>GPT</a:t>
            </a:r>
            <a:r>
              <a:rPr lang="zh-CN" altLang="en-US" sz="2400">
                <a:latin typeface="华文楷体" panose="02010600040101010101" charset="-122"/>
                <a:ea typeface="华文楷体" panose="02010600040101010101" charset="-122"/>
                <a:cs typeface="华文楷体" panose="02010600040101010101" charset="-122"/>
              </a:rPr>
              <a:t>）</a:t>
            </a:r>
            <a:r>
              <a:rPr lang="en-US" altLang="zh-CN" sz="2400">
                <a:latin typeface="华文楷体" panose="02010600040101010101" charset="-122"/>
                <a:ea typeface="华文楷体" panose="02010600040101010101" charset="-122"/>
                <a:cs typeface="华文楷体" panose="02010600040101010101" charset="-122"/>
              </a:rPr>
              <a:t>               </a:t>
            </a:r>
            <a:r>
              <a:rPr lang="zh-CN" altLang="en-US" sz="2400">
                <a:latin typeface="华文楷体" panose="02010600040101010101" charset="-122"/>
                <a:ea typeface="华文楷体" panose="02010600040101010101" charset="-122"/>
                <a:cs typeface="华文楷体" panose="02010600040101010101" charset="-122"/>
              </a:rPr>
              <a:t>当前估计</a:t>
            </a:r>
            <a:endParaRPr lang="zh-CN" altLang="en-US" sz="2400">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1977390" y="63436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Motives AI</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097655" y="65214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前种子轮</a:t>
            </a:r>
            <a:r>
              <a:rPr lang="en-US" altLang="zh-CN" sz="2800">
                <a:latin typeface="华文楷体" panose="02010600040101010101" charset="-122"/>
                <a:ea typeface="华文楷体" panose="02010600040101010101" charset="-122"/>
                <a:cs typeface="华文楷体" panose="02010600040101010101" charset="-122"/>
              </a:rPr>
              <a:t> $40M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278130" y="1577340"/>
            <a:ext cx="7760335" cy="396938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·Motives AI </a:t>
            </a:r>
            <a:r>
              <a:rPr lang="zh-CN" altLang="en-US" sz="2800">
                <a:latin typeface="华文楷体" panose="02010600040101010101" charset="-122"/>
                <a:ea typeface="华文楷体" panose="02010600040101010101" charset="-122"/>
              </a:rPr>
              <a:t>是一家</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驱动的定性消费者研究平台，通过自动设计、招募并执行视频访谈，然后利用</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分析受访者反馈，为品牌和营销团队快速提供可执行的消费者洞察，通常在几天内完成传统定性研究需要数周的工作。</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“Real qual, really fast for</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consumer-obsessed brands.”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919845" y="1966595"/>
            <a:ext cx="847471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参与的前种子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Oxonian Ventures</a:t>
            </a:r>
            <a:r>
              <a:rPr lang="zh-CN" altLang="en-US" sz="2800">
                <a:latin typeface="华文楷体" panose="02010600040101010101" charset="-122"/>
                <a:ea typeface="华文楷体" panose="02010600040101010101" charset="-122"/>
              </a:rPr>
              <a:t>（牛津背景，深科技）、</a:t>
            </a:r>
            <a:r>
              <a:rPr lang="en-US" altLang="zh-CN" sz="2800">
                <a:latin typeface="华文楷体" panose="02010600040101010101" charset="-122"/>
                <a:ea typeface="华文楷体" panose="02010600040101010101" charset="-122"/>
              </a:rPr>
              <a:t>Davidovs Venture Collective</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、消费科技和新兴商业模式</a:t>
            </a:r>
            <a:r>
              <a:rPr lang="zh-CN" altLang="en-US" sz="2800">
                <a:latin typeface="华文楷体" panose="02010600040101010101" charset="-122"/>
                <a:ea typeface="华文楷体" panose="02010600040101010101" charset="-122"/>
              </a:rPr>
              <a:t>）</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8997315" y="4211955"/>
            <a:ext cx="7533640" cy="95313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暂无同类公司比较分析</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310515" y="882904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Sean Conley                                              Sam Stoll</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429895" y="150495"/>
            <a:ext cx="1421765" cy="1338580"/>
          </a:xfrm>
          <a:prstGeom prst="rect">
            <a:avLst/>
          </a:prstGeom>
        </p:spPr>
      </p:pic>
      <p:pic>
        <p:nvPicPr>
          <p:cNvPr id="13" name="图片 12"/>
          <p:cNvPicPr/>
          <p:nvPr/>
        </p:nvPicPr>
        <p:blipFill>
          <a:blip r:embed="rId4"/>
          <a:stretch>
            <a:fillRect/>
          </a:stretch>
        </p:blipFill>
        <p:spPr>
          <a:xfrm>
            <a:off x="501015" y="5364480"/>
            <a:ext cx="2616200" cy="3028315"/>
          </a:xfrm>
          <a:prstGeom prst="rect">
            <a:avLst/>
          </a:prstGeom>
        </p:spPr>
      </p:pic>
      <p:pic>
        <p:nvPicPr>
          <p:cNvPr id="14" name="图片 13"/>
          <p:cNvPicPr/>
          <p:nvPr/>
        </p:nvPicPr>
        <p:blipFill>
          <a:blip r:embed="rId5"/>
          <a:stretch>
            <a:fillRect/>
          </a:stretch>
        </p:blipFill>
        <p:spPr>
          <a:xfrm>
            <a:off x="4505960" y="5364480"/>
            <a:ext cx="2519680" cy="302831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VideoTutor</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097655" y="65214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 $120M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353822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·VideoTutor </a:t>
            </a:r>
            <a:r>
              <a:rPr lang="zh-CN" altLang="en-US" sz="2800">
                <a:latin typeface="华文楷体" panose="02010600040101010101" charset="-122"/>
                <a:ea typeface="华文楷体" panose="02010600040101010101" charset="-122"/>
              </a:rPr>
              <a:t>是一个基于</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人工智能的教育平台，通过</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将用户提出的学习问题即时转换成</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个性化、带动画和语音讲解的教学视频，帮助学生更直观地理解复杂概念和解题步骤，覆盖</a:t>
            </a:r>
            <a:r>
              <a:rPr lang="en-US" altLang="zh-CN" sz="2800">
                <a:latin typeface="华文楷体" panose="02010600040101010101" charset="-122"/>
                <a:ea typeface="华文楷体" panose="02010600040101010101" charset="-122"/>
              </a:rPr>
              <a:t> K-12</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SAT/AP</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STEM </a:t>
            </a:r>
            <a:r>
              <a:rPr lang="zh-CN" altLang="en-US" sz="2800">
                <a:latin typeface="华文楷体" panose="02010600040101010101" charset="-122"/>
                <a:ea typeface="华文楷体" panose="02010600040101010101" charset="-122"/>
              </a:rPr>
              <a:t>和语言学习等场景。</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数学更直观，</a:t>
            </a:r>
            <a:r>
              <a:rPr lang="en-US" altLang="zh-CN" sz="2800">
                <a:latin typeface="华文楷体" panose="02010600040101010101" charset="-122"/>
                <a:ea typeface="华文楷体" panose="02010600040101010101" charset="-122"/>
              </a:rPr>
              <a:t> </a:t>
            </a:r>
            <a:r>
              <a:rPr lang="zh-CN" altLang="en-US" sz="2800">
                <a:latin typeface="华文楷体" panose="02010600040101010101" charset="-122"/>
                <a:ea typeface="华文楷体" panose="02010600040101010101" charset="-122"/>
              </a:rPr>
              <a:t>思路一目了然</a:t>
            </a:r>
            <a:r>
              <a:rPr lang="en-US" altLang="zh-CN" sz="2800">
                <a:latin typeface="华文楷体" panose="02010600040101010101" charset="-122"/>
                <a:ea typeface="华文楷体" panose="02010600040101010101" charset="-122"/>
              </a:rPr>
              <a:t>”</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930640" y="2409190"/>
            <a:ext cx="847471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参与的种子</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altLang="zh-CN" sz="2800">
                <a:latin typeface="华文楷体" panose="02010600040101010101" charset="-122"/>
                <a:ea typeface="华文楷体" panose="02010600040101010101" charset="-122"/>
              </a:rPr>
              <a:t>YZi Labs</a:t>
            </a:r>
            <a:r>
              <a:rPr lang="zh-CN" altLang="en-US" sz="2800">
                <a:latin typeface="华文楷体" panose="02010600040101010101" charset="-122"/>
                <a:ea typeface="华文楷体" panose="02010600040101010101" charset="-122"/>
              </a:rPr>
              <a:t>（区块链、</a:t>
            </a:r>
            <a:r>
              <a:rPr lang="en-US" altLang="zh-CN" sz="2800">
                <a:latin typeface="华文楷体" panose="02010600040101010101" charset="-122"/>
                <a:ea typeface="华文楷体" panose="02010600040101010101" charset="-122"/>
              </a:rPr>
              <a:t>Web3</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AI </a:t>
            </a:r>
            <a:r>
              <a:rPr lang="zh-CN" altLang="en-US" sz="2800">
                <a:latin typeface="华文楷体" panose="02010600040101010101" charset="-122"/>
                <a:ea typeface="华文楷体" panose="02010600040101010101" charset="-122"/>
              </a:rPr>
              <a:t>与基础设施）、</a:t>
            </a:r>
            <a:r>
              <a:rPr lang="en-US" altLang="zh-CN" sz="2800">
                <a:latin typeface="华文楷体" panose="02010600040101010101" charset="-122"/>
                <a:ea typeface="华文楷体" panose="02010600040101010101" charset="-122"/>
              </a:rPr>
              <a:t>Jinqiu Fund</a:t>
            </a:r>
            <a:r>
              <a:rPr lang="zh-CN" altLang="en-US" sz="2800">
                <a:latin typeface="华文楷体" panose="02010600040101010101" charset="-122"/>
                <a:ea typeface="华文楷体" panose="02010600040101010101" charset="-122"/>
              </a:rPr>
              <a:t>（锦秋基金）、</a:t>
            </a:r>
            <a:r>
              <a:rPr lang="en-US" altLang="zh-CN" sz="2800">
                <a:latin typeface="华文楷体" panose="02010600040101010101" charset="-122"/>
                <a:ea typeface="华文楷体" panose="02010600040101010101" charset="-122"/>
              </a:rPr>
              <a:t>Baidu Ventures</a:t>
            </a:r>
            <a:r>
              <a:rPr lang="zh-CN" altLang="en-US" sz="2800">
                <a:latin typeface="华文楷体" panose="02010600040101010101" charset="-122"/>
                <a:ea typeface="华文楷体" panose="02010600040101010101" charset="-122"/>
              </a:rPr>
              <a:t>（百度风投）</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9084310" y="4831080"/>
            <a:ext cx="7533640"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暂无同类公司比较分析</a:t>
            </a:r>
            <a:endParaRPr lang="zh-CN" altLang="en-US"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82904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Kai  Zhao                                               James Zhan</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189230" y="150495"/>
            <a:ext cx="1659255" cy="1606550"/>
          </a:xfrm>
          <a:prstGeom prst="rect">
            <a:avLst/>
          </a:prstGeom>
        </p:spPr>
      </p:pic>
      <p:pic>
        <p:nvPicPr>
          <p:cNvPr id="11" name="图片 10"/>
          <p:cNvPicPr/>
          <p:nvPr/>
        </p:nvPicPr>
        <p:blipFill>
          <a:blip r:embed="rId4"/>
          <a:stretch>
            <a:fillRect/>
          </a:stretch>
        </p:blipFill>
        <p:spPr>
          <a:xfrm>
            <a:off x="570230" y="5379085"/>
            <a:ext cx="2868295" cy="2965450"/>
          </a:xfrm>
          <a:prstGeom prst="rect">
            <a:avLst/>
          </a:prstGeom>
        </p:spPr>
      </p:pic>
      <p:pic>
        <p:nvPicPr>
          <p:cNvPr id="13" name="图片 12"/>
          <p:cNvPicPr/>
          <p:nvPr/>
        </p:nvPicPr>
        <p:blipFill>
          <a:blip r:embed="rId5"/>
          <a:stretch>
            <a:fillRect/>
          </a:stretch>
        </p:blipFill>
        <p:spPr>
          <a:xfrm>
            <a:off x="4162425" y="5353050"/>
            <a:ext cx="3368040" cy="299148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52197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Femtosense</a:t>
            </a:r>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097655" y="65214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439991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·Femtosense</a:t>
            </a:r>
            <a:r>
              <a:rPr lang="zh-CN" altLang="en-US" sz="2800">
                <a:latin typeface="华文楷体" panose="02010600040101010101" charset="-122"/>
                <a:ea typeface="华文楷体" panose="02010600040101010101" charset="-122"/>
              </a:rPr>
              <a:t>是一家专注于实时边缘部署的稀疏</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技术公司，提供一整套高效嵌入式</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解决方案，包括稀疏神经网络模型、稀疏感知</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加速器（</a:t>
            </a:r>
            <a:r>
              <a:rPr lang="en-US" altLang="zh-CN" sz="2800">
                <a:latin typeface="华文楷体" panose="02010600040101010101" charset="-122"/>
                <a:ea typeface="华文楷体" panose="02010600040101010101" charset="-122"/>
              </a:rPr>
              <a:t>Sparse Processing Unit</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SPU</a:t>
            </a:r>
            <a:r>
              <a:rPr lang="zh-CN" altLang="en-US" sz="2800">
                <a:latin typeface="华文楷体" panose="02010600040101010101" charset="-122"/>
                <a:ea typeface="华文楷体" panose="02010600040101010101" charset="-122"/>
              </a:rPr>
              <a:t>）和开发工具链，用于在极低功耗、小尺寸设备上实现高性能</a:t>
            </a:r>
            <a:r>
              <a:rPr lang="en-US" altLang="zh-CN" sz="2800">
                <a:latin typeface="华文楷体" panose="02010600040101010101" charset="-122"/>
                <a:ea typeface="华文楷体" panose="02010600040101010101" charset="-122"/>
              </a:rPr>
              <a:t> AI </a:t>
            </a:r>
            <a:r>
              <a:rPr lang="zh-CN" altLang="en-US" sz="2800">
                <a:latin typeface="华文楷体" panose="02010600040101010101" charset="-122"/>
                <a:ea typeface="华文楷体" panose="02010600040101010101" charset="-122"/>
              </a:rPr>
              <a:t>推理。</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“Empower intelligence in everyday devices.”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833485" y="504190"/>
            <a:ext cx="847471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A</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altLang="zh-CN" sz="2800">
                <a:latin typeface="华文楷体" panose="02010600040101010101" charset="-122"/>
                <a:ea typeface="华文楷体" panose="02010600040101010101" charset="-122"/>
              </a:rPr>
              <a:t>Sand Hill Angels</a:t>
            </a:r>
            <a:r>
              <a:rPr lang="zh-CN" altLang="en-US" sz="2800">
                <a:latin typeface="华文楷体" panose="02010600040101010101" charset="-122"/>
                <a:ea typeface="华文楷体" panose="02010600040101010101" charset="-122"/>
              </a:rPr>
              <a:t>（专注</a:t>
            </a:r>
            <a:r>
              <a:rPr lang="en-US" altLang="zh-CN" sz="2800">
                <a:latin typeface="华文楷体" panose="02010600040101010101" charset="-122"/>
                <a:ea typeface="华文楷体" panose="02010600040101010101" charset="-122"/>
              </a:rPr>
              <a:t>AI</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SaaS</a:t>
            </a:r>
            <a:r>
              <a:rPr lang="zh-CN" altLang="en-US" sz="2800">
                <a:latin typeface="华文楷体" panose="02010600040101010101" charset="-122"/>
                <a:ea typeface="华文楷体" panose="02010600040101010101" charset="-122"/>
              </a:rPr>
              <a:t>、企业软件）、</a:t>
            </a:r>
            <a:r>
              <a:rPr lang="en-US" altLang="zh-CN" sz="2800">
                <a:latin typeface="华文楷体" panose="02010600040101010101" charset="-122"/>
                <a:ea typeface="华文楷体" panose="02010600040101010101" charset="-122"/>
              </a:rPr>
              <a:t>Gaingels</a:t>
            </a:r>
            <a:r>
              <a:rPr lang="zh-CN" altLang="en-US" sz="2800">
                <a:latin typeface="华文楷体" panose="02010600040101010101" charset="-122"/>
                <a:ea typeface="华文楷体" panose="02010600040101010101" charset="-122"/>
              </a:rPr>
              <a:t>（多元化与包容性（</a:t>
            </a:r>
            <a:r>
              <a:rPr lang="en-US" altLang="zh-CN" sz="2800">
                <a:latin typeface="华文楷体" panose="02010600040101010101" charset="-122"/>
                <a:ea typeface="华文楷体" panose="02010600040101010101" charset="-122"/>
              </a:rPr>
              <a:t>D&amp;I</a:t>
            </a:r>
            <a:r>
              <a:rPr lang="zh-CN" altLang="en-US" sz="2800">
                <a:latin typeface="华文楷体" panose="02010600040101010101" charset="-122"/>
                <a:ea typeface="华文楷体" panose="02010600040101010101" charset="-122"/>
              </a:rPr>
              <a:t>）导向投资网络）、</a:t>
            </a:r>
            <a:r>
              <a:rPr lang="en-US" altLang="zh-CN" sz="2800">
                <a:latin typeface="华文楷体" panose="02010600040101010101" charset="-122"/>
                <a:ea typeface="华文楷体" panose="02010600040101010101" charset="-122"/>
              </a:rPr>
              <a:t>J2 Ventures</a:t>
            </a:r>
            <a:r>
              <a:rPr lang="zh-CN" altLang="en-US" sz="2800">
                <a:latin typeface="华文楷体" panose="02010600040101010101" charset="-122"/>
                <a:ea typeface="华文楷体" panose="02010600040101010101" charset="-122"/>
              </a:rPr>
              <a:t>（精品深科技投资）</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8833485" y="7609840"/>
            <a:ext cx="753364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Femto </a:t>
            </a:r>
            <a:r>
              <a:rPr lang="zh-CN" altLang="en-US" sz="2800">
                <a:solidFill>
                  <a:schemeClr val="tx1"/>
                </a:solidFill>
                <a:latin typeface="华文楷体" panose="02010600040101010101" charset="-122"/>
                <a:ea typeface="华文楷体" panose="02010600040101010101" charset="-122"/>
              </a:rPr>
              <a:t>处在</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技术兑现期</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的黄金区间</a:t>
            </a:r>
            <a:endParaRPr lang="zh-CN" altLang="en-US"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相比巨头，</a:t>
            </a:r>
            <a:r>
              <a:rPr lang="en-US" altLang="zh-CN" sz="2800">
                <a:solidFill>
                  <a:schemeClr val="tx1"/>
                </a:solidFill>
                <a:latin typeface="华文楷体" panose="02010600040101010101" charset="-122"/>
                <a:ea typeface="华文楷体" panose="02010600040101010101" charset="-122"/>
              </a:rPr>
              <a:t>Femto </a:t>
            </a:r>
            <a:r>
              <a:rPr lang="zh-CN" altLang="en-US" sz="2800">
                <a:solidFill>
                  <a:schemeClr val="tx1"/>
                </a:solidFill>
                <a:latin typeface="华文楷体" panose="02010600040101010101" charset="-122"/>
                <a:ea typeface="华文楷体" panose="02010600040101010101" charset="-122"/>
              </a:rPr>
              <a:t>是</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效率驱动型选手</a:t>
            </a:r>
            <a:endParaRPr lang="zh-CN" altLang="en-US" sz="2800">
              <a:solidFill>
                <a:schemeClr val="tx1"/>
              </a:solidFill>
              <a:latin typeface="华文楷体" panose="02010600040101010101" charset="-122"/>
              <a:ea typeface="华文楷体" panose="02010600040101010101" charset="-122"/>
            </a:endParaRPr>
          </a:p>
          <a:p>
            <a:r>
              <a:rPr lang="zh-CN" altLang="en-US" sz="2800">
                <a:solidFill>
                  <a:schemeClr val="tx1"/>
                </a:solidFill>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在</a:t>
            </a:r>
            <a:r>
              <a:rPr lang="en-US" altLang="zh-CN" sz="2800">
                <a:solidFill>
                  <a:schemeClr val="tx1"/>
                </a:solidFill>
                <a:latin typeface="华文楷体" panose="02010600040101010101" charset="-122"/>
                <a:ea typeface="华文楷体" panose="02010600040101010101" charset="-122"/>
              </a:rPr>
              <a:t> Axeler AI </a:t>
            </a:r>
            <a:r>
              <a:rPr lang="zh-CN" altLang="en-US" sz="2800">
                <a:solidFill>
                  <a:schemeClr val="tx1"/>
                </a:solidFill>
                <a:latin typeface="华文楷体" panose="02010600040101010101" charset="-122"/>
                <a:ea typeface="华文楷体" panose="02010600040101010101" charset="-122"/>
              </a:rPr>
              <a:t>等同行中，</a:t>
            </a:r>
            <a:r>
              <a:rPr lang="en-US" altLang="zh-CN" sz="2800">
                <a:solidFill>
                  <a:schemeClr val="tx1"/>
                </a:solidFill>
                <a:latin typeface="华文楷体" panose="02010600040101010101" charset="-122"/>
                <a:ea typeface="华文楷体" panose="02010600040101010101" charset="-122"/>
              </a:rPr>
              <a:t>Femto </a:t>
            </a:r>
            <a:r>
              <a:rPr lang="zh-CN" altLang="en-US" sz="2800">
                <a:solidFill>
                  <a:schemeClr val="tx1"/>
                </a:solidFill>
                <a:latin typeface="华文楷体" panose="02010600040101010101" charset="-122"/>
                <a:ea typeface="华文楷体" panose="02010600040101010101" charset="-122"/>
              </a:rPr>
              <a:t>差异点更偏</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底层算力范式</a:t>
            </a:r>
            <a:r>
              <a:rPr lang="en-US" altLang="zh-CN" sz="2800">
                <a:solidFill>
                  <a:schemeClr val="tx1"/>
                </a:solidFill>
                <a:latin typeface="华文楷体" panose="02010600040101010101" charset="-122"/>
                <a:ea typeface="华文楷体" panose="02010600040101010101" charset="-122"/>
              </a:rPr>
              <a:t>”</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234315" y="8650605"/>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Alexander Neckar                  Sam Fok                            Scott Reid</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CTO      Co-founder and CTO              Chief AI Officer</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394970" y="272415"/>
            <a:ext cx="1422400" cy="1368425"/>
          </a:xfrm>
          <a:prstGeom prst="rect">
            <a:avLst/>
          </a:prstGeom>
        </p:spPr>
      </p:pic>
      <p:sp>
        <p:nvSpPr>
          <p:cNvPr id="11" name="文本框 10"/>
          <p:cNvSpPr txBox="1"/>
          <p:nvPr/>
        </p:nvSpPr>
        <p:spPr>
          <a:xfrm>
            <a:off x="3881120" y="652145"/>
            <a:ext cx="8737600" cy="521970"/>
          </a:xfrm>
          <a:prstGeom prst="rect">
            <a:avLst/>
          </a:prstGeom>
          <a:noFill/>
        </p:spPr>
        <p:txBody>
          <a:bodyPr wrap="square" rtlCol="0" anchor="t">
            <a:spAutoFit/>
          </a:bodyPr>
          <a:p>
            <a:r>
              <a:rPr lang="en-US" altLang="zh-CN" sz="2800">
                <a:latin typeface="Times New Roman" panose="02020603050405020304" charset="0"/>
                <a:cs typeface="Times New Roman" panose="02020603050405020304" charset="0"/>
                <a:sym typeface="+mn-ea"/>
              </a:rPr>
              <a:t>$19M              $55M      </a:t>
            </a:r>
            <a:r>
              <a:rPr lang="en-US" altLang="zh-CN" sz="2800">
                <a:latin typeface="Times New Roman" panose="02020603050405020304" charset="0"/>
                <a:cs typeface="Times New Roman" panose="02020603050405020304" charset="0"/>
                <a:sym typeface="+mn-ea"/>
              </a:rPr>
              <a:t> </a:t>
            </a:r>
            <a:endParaRPr lang="en-US" altLang="zh-CN" sz="2800">
              <a:latin typeface="Times New Roman" panose="02020603050405020304" charset="0"/>
              <a:cs typeface="Times New Roman" panose="02020603050405020304" charset="0"/>
              <a:sym typeface="+mn-ea"/>
            </a:endParaRPr>
          </a:p>
        </p:txBody>
      </p:sp>
      <p:pic>
        <p:nvPicPr>
          <p:cNvPr id="13" name="图片 12" descr="图片2"/>
          <p:cNvPicPr>
            <a:picLocks noChangeAspect="1"/>
          </p:cNvPicPr>
          <p:nvPr/>
        </p:nvPicPr>
        <p:blipFill>
          <a:blip r:embed="rId4"/>
          <a:stretch>
            <a:fillRect/>
          </a:stretch>
        </p:blipFill>
        <p:spPr>
          <a:xfrm>
            <a:off x="4958080" y="627380"/>
            <a:ext cx="1064260" cy="528955"/>
          </a:xfrm>
          <a:prstGeom prst="rect">
            <a:avLst/>
          </a:prstGeom>
        </p:spPr>
      </p:pic>
      <p:sp>
        <p:nvSpPr>
          <p:cNvPr id="14" name="文本框 13"/>
          <p:cNvSpPr txBox="1"/>
          <p:nvPr/>
        </p:nvSpPr>
        <p:spPr>
          <a:xfrm>
            <a:off x="3784600" y="1174115"/>
            <a:ext cx="4048125" cy="460375"/>
          </a:xfrm>
          <a:prstGeom prst="rect">
            <a:avLst/>
          </a:prstGeom>
          <a:noFill/>
        </p:spPr>
        <p:txBody>
          <a:bodyPr wrap="square" rtlCol="0">
            <a:spAutoFit/>
          </a:bodyPr>
          <a:p>
            <a:r>
              <a:rPr lang="en-US" altLang="zh-CN" sz="2400">
                <a:latin typeface="华文楷体" panose="02010600040101010101" charset="-122"/>
                <a:ea typeface="华文楷体" panose="02010600040101010101" charset="-122"/>
                <a:cs typeface="华文楷体" panose="02010600040101010101" charset="-122"/>
              </a:rPr>
              <a:t>2022.9 A</a:t>
            </a:r>
            <a:r>
              <a:rPr lang="zh-CN" altLang="en-US" sz="2400">
                <a:latin typeface="华文楷体" panose="02010600040101010101" charset="-122"/>
                <a:ea typeface="华文楷体" panose="02010600040101010101" charset="-122"/>
                <a:cs typeface="华文楷体" panose="02010600040101010101" charset="-122"/>
              </a:rPr>
              <a:t>轮</a:t>
            </a:r>
            <a:r>
              <a:rPr lang="en-US" altLang="zh-CN" sz="2400">
                <a:latin typeface="华文楷体" panose="02010600040101010101" charset="-122"/>
                <a:ea typeface="华文楷体" panose="02010600040101010101" charset="-122"/>
                <a:cs typeface="华文楷体" panose="02010600040101010101" charset="-122"/>
              </a:rPr>
              <a:t>         </a:t>
            </a:r>
            <a:r>
              <a:rPr lang="zh-CN" altLang="en-US" sz="2400">
                <a:latin typeface="华文楷体" panose="02010600040101010101" charset="-122"/>
                <a:ea typeface="华文楷体" panose="02010600040101010101" charset="-122"/>
                <a:cs typeface="华文楷体" panose="02010600040101010101" charset="-122"/>
              </a:rPr>
              <a:t>当前（</a:t>
            </a:r>
            <a:r>
              <a:rPr lang="en-US" altLang="zh-CN" sz="2400">
                <a:latin typeface="华文楷体" panose="02010600040101010101" charset="-122"/>
                <a:ea typeface="华文楷体" panose="02010600040101010101" charset="-122"/>
                <a:cs typeface="华文楷体" panose="02010600040101010101" charset="-122"/>
              </a:rPr>
              <a:t>GPT</a:t>
            </a:r>
            <a:r>
              <a:rPr lang="zh-CN" altLang="en-US" sz="2400">
                <a:latin typeface="华文楷体" panose="02010600040101010101" charset="-122"/>
                <a:ea typeface="华文楷体" panose="02010600040101010101" charset="-122"/>
                <a:cs typeface="华文楷体" panose="02010600040101010101" charset="-122"/>
              </a:rPr>
              <a:t>）</a:t>
            </a:r>
            <a:endParaRPr lang="zh-CN" altLang="en-US" sz="2400">
              <a:latin typeface="华文楷体" panose="02010600040101010101" charset="-122"/>
              <a:ea typeface="华文楷体" panose="02010600040101010101" charset="-122"/>
              <a:cs typeface="华文楷体" panose="02010600040101010101" charset="-122"/>
            </a:endParaRPr>
          </a:p>
        </p:txBody>
      </p:sp>
      <p:pic>
        <p:nvPicPr>
          <p:cNvPr id="16" name="图片 15"/>
          <p:cNvPicPr/>
          <p:nvPr/>
        </p:nvPicPr>
        <p:blipFill>
          <a:blip r:embed="rId5"/>
          <a:stretch>
            <a:fillRect/>
          </a:stretch>
        </p:blipFill>
        <p:spPr>
          <a:xfrm>
            <a:off x="310515" y="6125845"/>
            <a:ext cx="2121535" cy="2229485"/>
          </a:xfrm>
          <a:prstGeom prst="rect">
            <a:avLst/>
          </a:prstGeom>
        </p:spPr>
      </p:pic>
      <p:pic>
        <p:nvPicPr>
          <p:cNvPr id="17" name="图片 16"/>
          <p:cNvPicPr/>
          <p:nvPr/>
        </p:nvPicPr>
        <p:blipFill>
          <a:blip r:embed="rId6"/>
          <a:stretch>
            <a:fillRect/>
          </a:stretch>
        </p:blipFill>
        <p:spPr>
          <a:xfrm>
            <a:off x="3059430" y="6207760"/>
            <a:ext cx="1898650" cy="2066290"/>
          </a:xfrm>
          <a:prstGeom prst="rect">
            <a:avLst/>
          </a:prstGeom>
        </p:spPr>
      </p:pic>
      <p:pic>
        <p:nvPicPr>
          <p:cNvPr id="19" name="图片 18"/>
          <p:cNvPicPr/>
          <p:nvPr/>
        </p:nvPicPr>
        <p:blipFill>
          <a:blip r:embed="rId7"/>
          <a:stretch>
            <a:fillRect/>
          </a:stretch>
        </p:blipFill>
        <p:spPr>
          <a:xfrm>
            <a:off x="5718175" y="6125845"/>
            <a:ext cx="2115185" cy="2229485"/>
          </a:xfrm>
          <a:prstGeom prst="rect">
            <a:avLst/>
          </a:prstGeom>
        </p:spPr>
      </p:pic>
      <p:pic>
        <p:nvPicPr>
          <p:cNvPr id="21" name="图片 20"/>
          <p:cNvPicPr>
            <a:picLocks noChangeAspect="1"/>
          </p:cNvPicPr>
          <p:nvPr/>
        </p:nvPicPr>
        <p:blipFill>
          <a:blip r:embed="rId8"/>
          <a:stretch>
            <a:fillRect/>
          </a:stretch>
        </p:blipFill>
        <p:spPr>
          <a:xfrm>
            <a:off x="8997950" y="2749550"/>
            <a:ext cx="7173595" cy="486029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4"/>
          <p:cNvPicPr>
            <a:picLocks noChangeAspect="1"/>
          </p:cNvPicPr>
          <p:nvPr/>
        </p:nvPicPr>
        <p:blipFill>
          <a:blip r:embed="rId1"/>
          <a:stretch>
            <a:fillRect/>
          </a:stretch>
        </p:blipFill>
        <p:spPr>
          <a:xfrm rot="21600000">
            <a:off x="0" y="0"/>
            <a:ext cx="17475200" cy="9753600"/>
          </a:xfrm>
          <a:prstGeom prst="rect">
            <a:avLst/>
          </a:prstGeom>
        </p:spPr>
      </p:pic>
      <p:sp>
        <p:nvSpPr>
          <p:cNvPr id="90" name="textbox 90"/>
          <p:cNvSpPr/>
          <p:nvPr/>
        </p:nvSpPr>
        <p:spPr>
          <a:xfrm>
            <a:off x="4689540" y="652332"/>
            <a:ext cx="8140700" cy="131445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3100" dirty="0">
              <a:latin typeface="Arial" panose="020B0604020202020204"/>
              <a:ea typeface="Arial" panose="020B0604020202020204"/>
              <a:cs typeface="Arial" panose="020B0604020202020204"/>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
        <p:nvSpPr>
          <p:cNvPr id="3" name="文本框 2"/>
          <p:cNvSpPr txBox="1"/>
          <p:nvPr/>
        </p:nvSpPr>
        <p:spPr>
          <a:xfrm>
            <a:off x="2009775" y="652145"/>
            <a:ext cx="6061075" cy="953135"/>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Thunder Compute</a:t>
            </a:r>
            <a:endParaRPr lang="en-US" altLang="zh-CN" sz="2800">
              <a:latin typeface="华文楷体" panose="02010600040101010101" charset="-122"/>
              <a:ea typeface="华文楷体" panose="02010600040101010101" charset="-122"/>
            </a:endParaRPr>
          </a:p>
          <a:p>
            <a:endParaRPr lang="en-US" altLang="zh-CN" sz="2800">
              <a:latin typeface="华文楷体" panose="02010600040101010101" charset="-122"/>
              <a:ea typeface="华文楷体" panose="02010600040101010101" charset="-122"/>
            </a:endParaRPr>
          </a:p>
        </p:txBody>
      </p:sp>
      <p:cxnSp>
        <p:nvCxnSpPr>
          <p:cNvPr id="4" name="直接连接符 3"/>
          <p:cNvCxnSpPr>
            <a:endCxn id="84" idx="2"/>
          </p:cNvCxnSpPr>
          <p:nvPr/>
        </p:nvCxnSpPr>
        <p:spPr>
          <a:xfrm>
            <a:off x="8709660" y="75565"/>
            <a:ext cx="27940" cy="9678035"/>
          </a:xfrm>
          <a:prstGeom prst="line">
            <a:avLst/>
          </a:prstGeom>
          <a:ln>
            <a:solidFill>
              <a:schemeClr val="accent1"/>
            </a:solidFill>
            <a:prstDash val="sysDot"/>
            <a:headEnd type="triangle" w="med" len="med"/>
            <a:tailEnd type="none"/>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538345" y="634365"/>
            <a:ext cx="512000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种子轮</a:t>
            </a:r>
            <a:r>
              <a:rPr lang="en-US" altLang="zh-CN" sz="2800">
                <a:latin typeface="华文楷体" panose="02010600040101010101" charset="-122"/>
                <a:ea typeface="华文楷体" panose="02010600040101010101" charset="-122"/>
                <a:cs typeface="华文楷体" panose="02010600040101010101" charset="-122"/>
              </a:rPr>
              <a:t>  $18M</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GPT</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Times New Roman" panose="02020603050405020304" charset="0"/>
                <a:cs typeface="Times New Roman" panose="02020603050405020304" charset="0"/>
              </a:rPr>
              <a:t>                                     </a:t>
            </a:r>
            <a:endParaRPr lang="en-US" altLang="zh-CN" sz="2800">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310515" y="1966595"/>
            <a:ext cx="7760335" cy="310769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·Thunder Compute </a:t>
            </a:r>
            <a:r>
              <a:rPr lang="zh-CN" altLang="en-US" sz="2800">
                <a:latin typeface="华文楷体" panose="02010600040101010101" charset="-122"/>
                <a:ea typeface="华文楷体" panose="02010600040101010101" charset="-122"/>
              </a:rPr>
              <a:t>是一家面向开发者的</a:t>
            </a:r>
            <a:r>
              <a:rPr lang="en-US" altLang="zh-CN" sz="2800">
                <a:latin typeface="华文楷体" panose="02010600040101010101" charset="-122"/>
                <a:ea typeface="华文楷体" panose="02010600040101010101" charset="-122"/>
              </a:rPr>
              <a:t> GPU </a:t>
            </a:r>
            <a:r>
              <a:rPr lang="zh-CN" altLang="en-US" sz="2800">
                <a:latin typeface="华文楷体" panose="02010600040101010101" charset="-122"/>
                <a:ea typeface="华文楷体" panose="02010600040101010101" charset="-122"/>
              </a:rPr>
              <a:t>云算力平台，目标是让</a:t>
            </a:r>
            <a:r>
              <a:rPr lang="en-US" altLang="zh-CN" sz="2800">
                <a:latin typeface="华文楷体" panose="02010600040101010101" charset="-122"/>
                <a:ea typeface="华文楷体" panose="02010600040101010101" charset="-122"/>
              </a:rPr>
              <a:t> AI/</a:t>
            </a:r>
            <a:r>
              <a:rPr lang="zh-CN" altLang="en-US" sz="2800">
                <a:latin typeface="华文楷体" panose="02010600040101010101" charset="-122"/>
                <a:ea typeface="华文楷体" panose="02010600040101010101" charset="-122"/>
              </a:rPr>
              <a:t>机器学习开发中的</a:t>
            </a:r>
            <a:r>
              <a:rPr lang="en-US" altLang="zh-CN" sz="2800">
                <a:latin typeface="华文楷体" panose="02010600040101010101" charset="-122"/>
                <a:ea typeface="华文楷体" panose="02010600040101010101" charset="-122"/>
              </a:rPr>
              <a:t> GPU </a:t>
            </a:r>
            <a:r>
              <a:rPr lang="zh-CN" altLang="en-US" sz="2800">
                <a:latin typeface="华文楷体" panose="02010600040101010101" charset="-122"/>
                <a:ea typeface="华文楷体" panose="02010600040101010101" charset="-122"/>
              </a:rPr>
              <a:t>获取变得更便宜、更简单、更快速，是一个开发者友好型、性价比极高的</a:t>
            </a:r>
            <a:r>
              <a:rPr lang="en-US" altLang="zh-CN" sz="2800">
                <a:latin typeface="华文楷体" panose="02010600040101010101" charset="-122"/>
                <a:ea typeface="华文楷体" panose="02010600040101010101" charset="-122"/>
              </a:rPr>
              <a:t> GPU </a:t>
            </a:r>
            <a:r>
              <a:rPr lang="zh-CN" altLang="en-US" sz="2800">
                <a:latin typeface="华文楷体" panose="02010600040101010101" charset="-122"/>
                <a:ea typeface="华文楷体" panose="02010600040101010101" charset="-122"/>
              </a:rPr>
              <a:t>云服务平台。</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·Slogan</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“One-click GPU instances for 80% less”</a:t>
            </a:r>
            <a:endParaRPr lang="en-US" altLang="zh-CN"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创始人：</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
        <p:nvSpPr>
          <p:cNvPr id="18" name="文本框 17"/>
          <p:cNvSpPr txBox="1"/>
          <p:nvPr/>
        </p:nvSpPr>
        <p:spPr>
          <a:xfrm>
            <a:off x="8709660" y="401955"/>
            <a:ext cx="8474710" cy="181483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·融资</a:t>
            </a:r>
            <a:r>
              <a:rPr lang="zh-CN" altLang="en-US" sz="2800">
                <a:latin typeface="华文楷体" panose="02010600040101010101" charset="-122"/>
                <a:ea typeface="华文楷体" panose="02010600040101010101" charset="-122"/>
              </a:rPr>
              <a:t>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在</a:t>
            </a:r>
            <a:r>
              <a:rPr lang="en-US" altLang="zh-CN" sz="2800">
                <a:latin typeface="华文楷体" panose="02010600040101010101" charset="-122"/>
                <a:ea typeface="华文楷体" panose="02010600040101010101" charset="-122"/>
              </a:rPr>
              <a:t>Amino</a:t>
            </a:r>
            <a:r>
              <a:rPr lang="zh-CN" altLang="en-US" sz="2800">
                <a:latin typeface="华文楷体" panose="02010600040101010101" charset="-122"/>
                <a:ea typeface="华文楷体" panose="02010600040101010101" charset="-122"/>
              </a:rPr>
              <a:t>参与的</a:t>
            </a:r>
            <a:r>
              <a:rPr lang="en-US" altLang="zh-CN" sz="2800">
                <a:latin typeface="华文楷体" panose="02010600040101010101" charset="-122"/>
                <a:ea typeface="华文楷体" panose="02010600040101010101" charset="-122"/>
              </a:rPr>
              <a:t>A</a:t>
            </a:r>
            <a:r>
              <a:rPr lang="zh-CN" altLang="en-US" sz="2800">
                <a:latin typeface="华文楷体" panose="02010600040101010101" charset="-122"/>
                <a:ea typeface="华文楷体" panose="02010600040101010101" charset="-122"/>
              </a:rPr>
              <a:t>轮融资中，</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还有如下机构参与：</a:t>
            </a:r>
            <a:r>
              <a:rPr lang="en-US" sz="2800">
                <a:latin typeface="华文楷体" panose="02010600040101010101" charset="-122"/>
                <a:ea typeface="华文楷体" panose="02010600040101010101" charset="-122"/>
              </a:rPr>
              <a:t>Y Combinator</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Team Ignite Ventures</a:t>
            </a:r>
            <a:r>
              <a:rPr lang="zh-CN" altLang="en-US" sz="2800">
                <a:latin typeface="华文楷体" panose="02010600040101010101" charset="-122"/>
                <a:ea typeface="华文楷体" panose="02010600040101010101" charset="-122"/>
              </a:rPr>
              <a:t>、</a:t>
            </a:r>
            <a:r>
              <a:rPr lang="en-US" altLang="zh-CN" sz="2800">
                <a:latin typeface="华文楷体" panose="02010600040101010101" charset="-122"/>
                <a:ea typeface="华文楷体" panose="02010600040101010101" charset="-122"/>
              </a:rPr>
              <a:t>Matrix</a:t>
            </a:r>
            <a:r>
              <a:rPr lang="zh-CN" altLang="en-US" sz="2800">
                <a:latin typeface="华文楷体" panose="02010600040101010101" charset="-122"/>
                <a:ea typeface="华文楷体" panose="02010600040101010101" charset="-122"/>
              </a:rPr>
              <a:t>（平台公司和长期投资赛道）</a:t>
            </a:r>
            <a:endParaRPr lang="zh-CN" altLang="en-US" sz="2800">
              <a:latin typeface="华文楷体" panose="02010600040101010101" charset="-122"/>
              <a:ea typeface="华文楷体" panose="02010600040101010101" charset="-122"/>
            </a:endParaRPr>
          </a:p>
        </p:txBody>
      </p:sp>
      <p:sp>
        <p:nvSpPr>
          <p:cNvPr id="20" name="文本框 19"/>
          <p:cNvSpPr txBox="1"/>
          <p:nvPr/>
        </p:nvSpPr>
        <p:spPr>
          <a:xfrm>
            <a:off x="8993505" y="7449185"/>
            <a:ext cx="7533640" cy="2245360"/>
          </a:xfrm>
          <a:prstGeom prst="rect">
            <a:avLst/>
          </a:prstGeom>
          <a:noFill/>
        </p:spPr>
        <p:txBody>
          <a:bodyPr wrap="square" rtlCol="0">
            <a:spAutoFit/>
          </a:bodyPr>
          <a:p>
            <a:r>
              <a:rPr lang="en-US" altLang="zh-CN" sz="2800">
                <a:latin typeface="华文楷体" panose="02010600040101010101" charset="-122"/>
                <a:ea typeface="华文楷体" panose="02010600040101010101" charset="-122"/>
              </a:rPr>
              <a:t>·</a:t>
            </a:r>
            <a:r>
              <a:rPr lang="zh-CN" altLang="en-US" sz="2800">
                <a:latin typeface="华文楷体" panose="02010600040101010101" charset="-122"/>
                <a:ea typeface="华文楷体" panose="02010600040101010101" charset="-122"/>
              </a:rPr>
              <a:t>比较分析</a:t>
            </a:r>
            <a:endParaRPr lang="zh-CN" altLang="en-US" sz="2800">
              <a:latin typeface="华文楷体" panose="02010600040101010101" charset="-122"/>
              <a:ea typeface="华文楷体" panose="02010600040101010101" charset="-122"/>
            </a:endParaRPr>
          </a:p>
          <a:p>
            <a:r>
              <a:rPr lang="en-US" altLang="zh-CN" sz="2800">
                <a:latin typeface="华文楷体" panose="02010600040101010101" charset="-122"/>
                <a:ea typeface="华文楷体" panose="02010600040101010101" charset="-122"/>
              </a:rPr>
              <a:t>     ·Thunder Compute</a:t>
            </a:r>
            <a:r>
              <a:rPr lang="zh-CN" altLang="en-US" sz="2800">
                <a:latin typeface="华文楷体" panose="02010600040101010101" charset="-122"/>
                <a:ea typeface="华文楷体" panose="02010600040101010101" charset="-122"/>
              </a:rPr>
              <a:t>是</a:t>
            </a:r>
            <a:r>
              <a:rPr lang="zh-CN" altLang="en-US" sz="2800">
                <a:solidFill>
                  <a:schemeClr val="tx1"/>
                </a:solidFill>
                <a:latin typeface="华文楷体" panose="02010600040101010101" charset="-122"/>
                <a:ea typeface="华文楷体" panose="02010600040101010101" charset="-122"/>
              </a:rPr>
              <a:t>高成长</a:t>
            </a:r>
            <a:r>
              <a:rPr lang="en-US" altLang="zh-CN" sz="2800">
                <a:solidFill>
                  <a:schemeClr val="tx1"/>
                </a:solidFill>
                <a:latin typeface="华文楷体" panose="02010600040101010101" charset="-122"/>
                <a:ea typeface="华文楷体" panose="02010600040101010101" charset="-122"/>
              </a:rPr>
              <a:t> </a:t>
            </a:r>
            <a:r>
              <a:rPr lang="en-US" altLang="en-US" sz="2800">
                <a:solidFill>
                  <a:schemeClr val="tx1"/>
                </a:solidFill>
                <a:latin typeface="华文楷体" panose="02010600040101010101" charset="-122"/>
                <a:ea typeface="华文楷体" panose="02010600040101010101" charset="-122"/>
              </a:rPr>
              <a:t>×</a:t>
            </a:r>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极短历史</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的典型新势力</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a:p>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与</a:t>
            </a:r>
            <a:r>
              <a:rPr lang="en-US" altLang="zh-CN" sz="2800">
                <a:solidFill>
                  <a:schemeClr val="tx1"/>
                </a:solidFill>
                <a:latin typeface="华文楷体" panose="02010600040101010101" charset="-122"/>
                <a:ea typeface="华文楷体" panose="02010600040101010101" charset="-122"/>
              </a:rPr>
              <a:t> IREN</a:t>
            </a:r>
            <a:r>
              <a:rPr lang="zh-CN" altLang="en-US" sz="2800">
                <a:solidFill>
                  <a:schemeClr val="tx1"/>
                </a:solidFill>
                <a:latin typeface="华文楷体" panose="02010600040101010101" charset="-122"/>
                <a:ea typeface="华文楷体" panose="02010600040101010101" charset="-122"/>
              </a:rPr>
              <a:t>、</a:t>
            </a:r>
            <a:r>
              <a:rPr lang="en-US" altLang="zh-CN" sz="2800">
                <a:solidFill>
                  <a:schemeClr val="tx1"/>
                </a:solidFill>
                <a:latin typeface="华文楷体" panose="02010600040101010101" charset="-122"/>
                <a:ea typeface="华文楷体" panose="02010600040101010101" charset="-122"/>
              </a:rPr>
              <a:t>NVIDIA </a:t>
            </a:r>
            <a:r>
              <a:rPr lang="zh-CN" altLang="en-US" sz="2800">
                <a:solidFill>
                  <a:schemeClr val="tx1"/>
                </a:solidFill>
                <a:latin typeface="华文楷体" panose="02010600040101010101" charset="-122"/>
                <a:ea typeface="华文楷体" panose="02010600040101010101" charset="-122"/>
              </a:rPr>
              <a:t>的</a:t>
            </a:r>
            <a:r>
              <a:rPr lang="en-US" altLang="zh-CN" sz="2800">
                <a:solidFill>
                  <a:schemeClr val="tx1"/>
                </a:solidFill>
                <a:latin typeface="华文楷体" panose="02010600040101010101" charset="-122"/>
                <a:ea typeface="华文楷体" panose="02010600040101010101" charset="-122"/>
              </a:rPr>
              <a:t>“</a:t>
            </a:r>
            <a:r>
              <a:rPr lang="zh-CN" altLang="en-US" sz="2800">
                <a:solidFill>
                  <a:schemeClr val="tx1"/>
                </a:solidFill>
                <a:latin typeface="华文楷体" panose="02010600040101010101" charset="-122"/>
                <a:ea typeface="华文楷体" panose="02010600040101010101" charset="-122"/>
              </a:rPr>
              <a:t>错位竞争</a:t>
            </a:r>
            <a:r>
              <a:rPr lang="en-US" altLang="zh-CN" sz="2800">
                <a:solidFill>
                  <a:schemeClr val="tx1"/>
                </a:solidFill>
                <a:latin typeface="华文楷体" panose="02010600040101010101" charset="-122"/>
                <a:ea typeface="华文楷体" panose="02010600040101010101" charset="-122"/>
              </a:rPr>
              <a:t>”</a:t>
            </a:r>
            <a:endParaRPr lang="en-US" altLang="zh-CN" sz="2800">
              <a:solidFill>
                <a:schemeClr val="tx1"/>
              </a:solidFill>
              <a:latin typeface="华文楷体" panose="02010600040101010101" charset="-122"/>
              <a:ea typeface="华文楷体" panose="02010600040101010101" charset="-122"/>
            </a:endParaRPr>
          </a:p>
          <a:p>
            <a:r>
              <a:rPr lang="zh-CN" altLang="en-US" sz="2800">
                <a:solidFill>
                  <a:schemeClr val="tx1"/>
                </a:solidFill>
                <a:latin typeface="华文楷体" panose="02010600040101010101" charset="-122"/>
                <a:ea typeface="华文楷体" panose="02010600040101010101" charset="-122"/>
              </a:rPr>
              <a:t> </a:t>
            </a:r>
            <a:r>
              <a:rPr lang="en-US" altLang="zh-CN" sz="2800">
                <a:solidFill>
                  <a:schemeClr val="tx1"/>
                </a:solidFill>
                <a:latin typeface="华文楷体" panose="02010600040101010101" charset="-122"/>
                <a:ea typeface="华文楷体" panose="02010600040101010101" charset="-122"/>
              </a:rPr>
              <a:t>    ·</a:t>
            </a:r>
            <a:r>
              <a:rPr lang="zh-CN" altLang="en-US" sz="2800">
                <a:solidFill>
                  <a:schemeClr val="tx1"/>
                </a:solidFill>
                <a:latin typeface="华文楷体" panose="02010600040101010101" charset="-122"/>
                <a:ea typeface="华文楷体" panose="02010600040101010101" charset="-122"/>
              </a:rPr>
              <a:t>效率指标隐含更高资本回报</a:t>
            </a:r>
            <a:r>
              <a:rPr lang="en-US" altLang="zh-CN" sz="2800">
                <a:solidFill>
                  <a:schemeClr val="tx1"/>
                </a:solidFill>
                <a:latin typeface="华文楷体" panose="02010600040101010101" charset="-122"/>
                <a:ea typeface="华文楷体" panose="02010600040101010101" charset="-122"/>
              </a:rPr>
              <a:t>     </a:t>
            </a:r>
            <a:endParaRPr lang="en-US" altLang="zh-CN" sz="2800">
              <a:solidFill>
                <a:schemeClr val="tx1"/>
              </a:solidFill>
              <a:latin typeface="华文楷体" panose="02010600040101010101" charset="-122"/>
              <a:ea typeface="华文楷体" panose="02010600040101010101" charset="-122"/>
            </a:endParaRPr>
          </a:p>
        </p:txBody>
      </p:sp>
      <p:sp>
        <p:nvSpPr>
          <p:cNvPr id="15" name="文本框 14"/>
          <p:cNvSpPr txBox="1"/>
          <p:nvPr/>
        </p:nvSpPr>
        <p:spPr>
          <a:xfrm>
            <a:off x="635000" y="8829040"/>
            <a:ext cx="772795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       Carl Peterson                                               Brian Model</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 Co-founder and CEO                                 Co-founder and CTO</a:t>
            </a:r>
            <a:endParaRPr lang="en-US" altLang="zh-CN" sz="2000">
              <a:latin typeface="Times New Roman" panose="02020603050405020304" charset="0"/>
              <a:cs typeface="Times New Roman" panose="02020603050405020304" charset="0"/>
            </a:endParaRPr>
          </a:p>
        </p:txBody>
      </p:sp>
      <p:pic>
        <p:nvPicPr>
          <p:cNvPr id="2" name="图片 1"/>
          <p:cNvPicPr/>
          <p:nvPr/>
        </p:nvPicPr>
        <p:blipFill>
          <a:blip r:embed="rId3"/>
          <a:stretch>
            <a:fillRect/>
          </a:stretch>
        </p:blipFill>
        <p:spPr>
          <a:xfrm>
            <a:off x="419735" y="150495"/>
            <a:ext cx="1524635" cy="1551305"/>
          </a:xfrm>
          <a:prstGeom prst="rect">
            <a:avLst/>
          </a:prstGeom>
        </p:spPr>
      </p:pic>
      <p:pic>
        <p:nvPicPr>
          <p:cNvPr id="11" name="图片 10"/>
          <p:cNvPicPr/>
          <p:nvPr/>
        </p:nvPicPr>
        <p:blipFill>
          <a:blip r:embed="rId4"/>
          <a:stretch>
            <a:fillRect/>
          </a:stretch>
        </p:blipFill>
        <p:spPr>
          <a:xfrm>
            <a:off x="635000" y="4876800"/>
            <a:ext cx="2974340" cy="3482340"/>
          </a:xfrm>
          <a:prstGeom prst="rect">
            <a:avLst/>
          </a:prstGeom>
        </p:spPr>
      </p:pic>
      <p:pic>
        <p:nvPicPr>
          <p:cNvPr id="13" name="图片 12"/>
          <p:cNvPicPr/>
          <p:nvPr/>
        </p:nvPicPr>
        <p:blipFill>
          <a:blip r:embed="rId5"/>
          <a:stretch>
            <a:fillRect/>
          </a:stretch>
        </p:blipFill>
        <p:spPr>
          <a:xfrm>
            <a:off x="4874260" y="4876800"/>
            <a:ext cx="2714625" cy="3373755"/>
          </a:xfrm>
          <a:prstGeom prst="rect">
            <a:avLst/>
          </a:prstGeom>
        </p:spPr>
      </p:pic>
      <p:pic>
        <p:nvPicPr>
          <p:cNvPr id="14" name="图片 13"/>
          <p:cNvPicPr>
            <a:picLocks noChangeAspect="1"/>
          </p:cNvPicPr>
          <p:nvPr/>
        </p:nvPicPr>
        <p:blipFill>
          <a:blip r:embed="rId6"/>
          <a:stretch>
            <a:fillRect/>
          </a:stretch>
        </p:blipFill>
        <p:spPr>
          <a:xfrm>
            <a:off x="8893810" y="2150745"/>
            <a:ext cx="7633335" cy="511429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 74"/>
          <p:cNvSpPr/>
          <p:nvPr/>
        </p:nvSpPr>
        <p:spPr>
          <a:xfrm>
            <a:off x="0" y="0"/>
            <a:ext cx="17475200" cy="9753600"/>
          </a:xfrm>
          <a:prstGeom prst="rect">
            <a:avLst/>
          </a:prstGeom>
          <a:solidFill>
            <a:srgbClr val="F5F5EF">
              <a:alpha val="100000"/>
            </a:srgbClr>
          </a:solidFill>
          <a:ln w="0" cap="flat">
            <a:noFill/>
            <a:prstDash val="solid"/>
            <a:miter lim="0"/>
          </a:ln>
        </p:spPr>
        <p:txBody>
          <a:bodyPr rtlCol="0"/>
          <a:lstStyle/>
          <a:p>
            <a:pPr algn="ctr"/>
            <a:endParaRPr lang="zh-CN" altLang="en-US"/>
          </a:p>
        </p:txBody>
      </p:sp>
      <p:pic>
        <p:nvPicPr>
          <p:cNvPr id="76" name="picture 76"/>
          <p:cNvPicPr>
            <a:picLocks noChangeAspect="1"/>
          </p:cNvPicPr>
          <p:nvPr/>
        </p:nvPicPr>
        <p:blipFill>
          <a:blip r:embed="rId1"/>
          <a:stretch>
            <a:fillRect/>
          </a:stretch>
        </p:blipFill>
        <p:spPr>
          <a:xfrm rot="21600000">
            <a:off x="476256" y="1830662"/>
            <a:ext cx="7835880" cy="5410224"/>
          </a:xfrm>
          <a:prstGeom prst="rect">
            <a:avLst/>
          </a:prstGeom>
        </p:spPr>
      </p:pic>
      <p:sp>
        <p:nvSpPr>
          <p:cNvPr id="78" name="textbox 78"/>
          <p:cNvSpPr/>
          <p:nvPr/>
        </p:nvSpPr>
        <p:spPr>
          <a:xfrm>
            <a:off x="10299764" y="3770202"/>
            <a:ext cx="4533265" cy="3395345"/>
          </a:xfrm>
          <a:prstGeom prst="rect">
            <a:avLst/>
          </a:prstGeom>
          <a:noFill/>
          <a:ln w="0" cap="flat">
            <a:noFill/>
            <a:prstDash val="solid"/>
            <a:miter lim="0"/>
          </a:ln>
        </p:spPr>
        <p:txBody>
          <a:bodyPr vert="horz" wrap="square" lIns="0" tIns="0" rIns="0" bIns="0"/>
          <a:lstStyle/>
          <a:p>
            <a:pPr algn="l" rtl="0" eaLnBrk="0">
              <a:lnSpc>
                <a:spcPct val="63000"/>
              </a:lnSpc>
            </a:pPr>
            <a:endParaRPr sz="100" dirty="0">
              <a:latin typeface="Arial" panose="020B0604020202020204"/>
              <a:ea typeface="Arial" panose="020B0604020202020204"/>
              <a:cs typeface="Arial" panose="020B0604020202020204"/>
            </a:endParaRPr>
          </a:p>
          <a:p>
            <a:pPr algn="r" rtl="0" eaLnBrk="0">
              <a:lnSpc>
                <a:spcPct val="97000"/>
              </a:lnSpc>
            </a:pPr>
            <a:endParaRPr sz="4100" dirty="0">
              <a:latin typeface="黑体" panose="02010609060101010101" charset="-122"/>
              <a:ea typeface="黑体" panose="02010609060101010101" charset="-122"/>
              <a:cs typeface="黑体" panose="02010609060101010101" charset="-122"/>
            </a:endParaRPr>
          </a:p>
        </p:txBody>
      </p:sp>
      <p:sp>
        <p:nvSpPr>
          <p:cNvPr id="80" name="textbox 80"/>
          <p:cNvSpPr/>
          <p:nvPr/>
        </p:nvSpPr>
        <p:spPr>
          <a:xfrm>
            <a:off x="4803465" y="727894"/>
            <a:ext cx="7867015" cy="762634"/>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5100" dirty="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8737600" y="2738755"/>
            <a:ext cx="8106410" cy="2306955"/>
          </a:xfrm>
          <a:prstGeom prst="rect">
            <a:avLst/>
          </a:prstGeom>
          <a:noFill/>
        </p:spPr>
        <p:txBody>
          <a:bodyPr wrap="square" rtlCol="0">
            <a:spAutoFit/>
          </a:bodyPr>
          <a:p>
            <a:r>
              <a:rPr lang="en-US" altLang="zh-CN" sz="7200">
                <a:latin typeface="华文琥珀" panose="02010800040101010101" charset="-122"/>
                <a:ea typeface="华文琥珀" panose="02010800040101010101" charset="-122"/>
                <a:cs typeface="黑体" panose="02010609060101010101" charset="-122"/>
              </a:rPr>
              <a:t>05</a:t>
            </a:r>
            <a:endParaRPr lang="en-US" altLang="zh-CN" sz="7200">
              <a:latin typeface="华文琥珀" panose="02010800040101010101" charset="-122"/>
              <a:ea typeface="华文琥珀" panose="02010800040101010101" charset="-122"/>
              <a:cs typeface="黑体" panose="02010609060101010101" charset="-122"/>
            </a:endParaRPr>
          </a:p>
          <a:p>
            <a:r>
              <a:rPr lang="zh-CN" altLang="en-US" sz="7200">
                <a:latin typeface="华康行楷体 W5" panose="03000509000000000000" charset="-122"/>
                <a:ea typeface="华康行楷体 W5" panose="03000509000000000000" charset="-122"/>
                <a:cs typeface="黑体" panose="02010609060101010101" charset="-122"/>
              </a:rPr>
              <a:t>综合分析</a:t>
            </a:r>
            <a:endParaRPr lang="zh-CN" altLang="en-US" sz="7200">
              <a:latin typeface="华康行楷体 W5" panose="03000509000000000000" charset="-122"/>
              <a:ea typeface="华康行楷体 W5" panose="03000509000000000000" charset="-122"/>
              <a:cs typeface="黑体" panose="02010609060101010101" charset="-122"/>
            </a:endParaRPr>
          </a:p>
        </p:txBody>
      </p:sp>
      <p:pic>
        <p:nvPicPr>
          <p:cNvPr id="10" name="图片 9" descr="新进logo"/>
          <p:cNvPicPr>
            <a:picLocks noChangeAspect="1"/>
          </p:cNvPicPr>
          <p:nvPr/>
        </p:nvPicPr>
        <p:blipFill>
          <a:blip r:embed="rId2"/>
          <a:stretch>
            <a:fillRect/>
          </a:stretch>
        </p:blipFill>
        <p:spPr>
          <a:xfrm>
            <a:off x="14433550" y="150495"/>
            <a:ext cx="2764800" cy="100596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 132"/>
          <p:cNvSpPr/>
          <p:nvPr/>
        </p:nvSpPr>
        <p:spPr>
          <a:xfrm>
            <a:off x="0" y="0"/>
            <a:ext cx="17475200" cy="9753600"/>
          </a:xfrm>
          <a:prstGeom prst="rect">
            <a:avLst/>
          </a:prstGeom>
          <a:solidFill>
            <a:srgbClr val="F5F5ED">
              <a:alpha val="100000"/>
            </a:srgbClr>
          </a:solidFill>
          <a:ln w="0" cap="flat">
            <a:noFill/>
            <a:prstDash val="solid"/>
            <a:miter lim="0"/>
          </a:ln>
        </p:spPr>
        <p:txBody>
          <a:bodyPr rtlCol="0"/>
          <a:lstStyle/>
          <a:p>
            <a:pPr algn="ctr"/>
            <a:endParaRPr lang="zh-CN" altLang="en-US"/>
          </a:p>
        </p:txBody>
      </p:sp>
      <p:sp>
        <p:nvSpPr>
          <p:cNvPr id="134" name="textbox 134"/>
          <p:cNvSpPr/>
          <p:nvPr/>
        </p:nvSpPr>
        <p:spPr>
          <a:xfrm>
            <a:off x="2603512" y="709484"/>
            <a:ext cx="12329159" cy="5132070"/>
          </a:xfrm>
          <a:prstGeom prst="rect">
            <a:avLst/>
          </a:prstGeom>
          <a:noFill/>
          <a:ln w="0" cap="flat">
            <a:noFill/>
            <a:prstDash val="solid"/>
            <a:miter lim="0"/>
          </a:ln>
        </p:spPr>
        <p:txBody>
          <a:bodyPr vert="horz" wrap="square" lIns="0" tIns="0" rIns="0" bIns="0"/>
          <a:lstStyle/>
          <a:p>
            <a:pPr algn="l" rtl="0" eaLnBrk="0">
              <a:lnSpc>
                <a:spcPct val="121000"/>
              </a:lnSpc>
            </a:pPr>
            <a:endParaRPr sz="100" dirty="0">
              <a:latin typeface="Arial" panose="020B0604020202020204"/>
              <a:ea typeface="Arial" panose="020B0604020202020204"/>
              <a:cs typeface="Arial" panose="020B0604020202020204"/>
            </a:endParaRPr>
          </a:p>
          <a:p>
            <a:pPr marL="1437005" algn="l" rtl="0" eaLnBrk="0">
              <a:lnSpc>
                <a:spcPct val="94000"/>
              </a:lnSpc>
              <a:spcBef>
                <a:spcPts val="0"/>
              </a:spcBef>
            </a:pPr>
            <a:endParaRPr sz="4400" dirty="0">
              <a:latin typeface="黑体" panose="02010609060101010101" charset="-122"/>
              <a:ea typeface="黑体" panose="02010609060101010101" charset="-122"/>
              <a:cs typeface="黑体" panose="02010609060101010101" charset="-122"/>
            </a:endParaRPr>
          </a:p>
        </p:txBody>
      </p:sp>
      <p:pic>
        <p:nvPicPr>
          <p:cNvPr id="136" name="picture 136"/>
          <p:cNvPicPr>
            <a:picLocks noChangeAspect="1"/>
          </p:cNvPicPr>
          <p:nvPr/>
        </p:nvPicPr>
        <p:blipFill>
          <a:blip r:embed="rId1"/>
          <a:stretch>
            <a:fillRect/>
          </a:stretch>
        </p:blipFill>
        <p:spPr>
          <a:xfrm rot="21600000">
            <a:off x="6291" y="5861035"/>
            <a:ext cx="17462619" cy="3041660"/>
          </a:xfrm>
          <a:prstGeom prst="rect">
            <a:avLst/>
          </a:prstGeom>
        </p:spPr>
      </p:pic>
      <p:sp>
        <p:nvSpPr>
          <p:cNvPr id="3" name="文本框 2"/>
          <p:cNvSpPr txBox="1"/>
          <p:nvPr/>
        </p:nvSpPr>
        <p:spPr>
          <a:xfrm>
            <a:off x="1425575" y="779145"/>
            <a:ext cx="15012670" cy="5631180"/>
          </a:xfrm>
          <a:prstGeom prst="rect">
            <a:avLst/>
          </a:prstGeom>
          <a:noFill/>
        </p:spPr>
        <p:txBody>
          <a:bodyPr wrap="square" rtlCol="0">
            <a:spAutoFit/>
          </a:bodyPr>
          <a:p>
            <a:r>
              <a:rPr lang="en-US" altLang="zh-CN" sz="3600">
                <a:latin typeface="华文楷体" panose="02010600040101010101" charset="-122"/>
                <a:ea typeface="华文楷体" panose="02010600040101010101" charset="-122"/>
                <a:cs typeface="华文楷体" panose="02010600040101010101" charset="-122"/>
              </a:rPr>
              <a:t>·AMINO</a:t>
            </a:r>
            <a:r>
              <a:rPr lang="zh-CN" altLang="en-US" sz="3600">
                <a:latin typeface="华文楷体" panose="02010600040101010101" charset="-122"/>
                <a:ea typeface="华文楷体" panose="02010600040101010101" charset="-122"/>
                <a:cs typeface="华文楷体" panose="02010600040101010101" charset="-122"/>
              </a:rPr>
              <a:t>四期基金的</a:t>
            </a:r>
            <a:r>
              <a:rPr lang="en-US" altLang="zh-CN" sz="3600">
                <a:latin typeface="华文楷体" panose="02010600040101010101" charset="-122"/>
                <a:ea typeface="华文楷体" panose="02010600040101010101" charset="-122"/>
                <a:cs typeface="华文楷体" panose="02010600040101010101" charset="-122"/>
              </a:rPr>
              <a:t> TVPI</a:t>
            </a:r>
            <a:r>
              <a:rPr lang="zh-CN" altLang="en-US" sz="3600">
                <a:latin typeface="华文楷体" panose="02010600040101010101" charset="-122"/>
                <a:ea typeface="华文楷体" panose="02010600040101010101" charset="-122"/>
                <a:cs typeface="华文楷体" panose="02010600040101010101" charset="-122"/>
              </a:rPr>
              <a:t>（总投入价值倍数）已超过</a:t>
            </a:r>
            <a:r>
              <a:rPr lang="en-US" altLang="zh-CN" sz="3600">
                <a:latin typeface="华文楷体" panose="02010600040101010101" charset="-122"/>
                <a:ea typeface="华文楷体" panose="02010600040101010101" charset="-122"/>
                <a:cs typeface="华文楷体" panose="02010600040101010101" charset="-122"/>
              </a:rPr>
              <a:t> 1.76 </a:t>
            </a:r>
            <a:r>
              <a:rPr lang="zh-CN" altLang="en-US" sz="3600">
                <a:latin typeface="华文楷体" panose="02010600040101010101" charset="-122"/>
                <a:ea typeface="华文楷体" panose="02010600040101010101" charset="-122"/>
                <a:cs typeface="华文楷体" panose="02010600040101010101" charset="-122"/>
              </a:rPr>
              <a:t>倍</a:t>
            </a:r>
            <a:endParaRPr lang="zh-CN" altLang="en-US" sz="3600">
              <a:latin typeface="华文楷体" panose="02010600040101010101" charset="-122"/>
              <a:ea typeface="华文楷体" panose="02010600040101010101" charset="-122"/>
              <a:cs typeface="华文楷体" panose="02010600040101010101" charset="-122"/>
            </a:endParaRPr>
          </a:p>
          <a:p>
            <a:pPr marL="457200" lvl="1" indent="0">
              <a:buNone/>
            </a:pPr>
            <a:r>
              <a:rPr lang="en-US" altLang="zh-CN" sz="3600">
                <a:solidFill>
                  <a:schemeClr val="tx1"/>
                </a:solidFill>
                <a:latin typeface="华文楷体" panose="02010600040101010101" charset="-122"/>
                <a:ea typeface="华文楷体" panose="02010600040101010101" charset="-122"/>
                <a:cs typeface="华文楷体" panose="02010600040101010101" charset="-122"/>
              </a:rPr>
              <a:t>·</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最新</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 </a:t>
            </a:r>
            <a:r>
              <a:rPr lang="en-US" altLang="zh-CN" sz="3600" i="1">
                <a:solidFill>
                  <a:schemeClr val="tx1"/>
                </a:solidFill>
                <a:latin typeface="华文楷体" panose="02010600040101010101" charset="-122"/>
                <a:ea typeface="华文楷体" panose="02010600040101010101" charset="-122"/>
                <a:cs typeface="华文楷体" panose="02010600040101010101" charset="-122"/>
              </a:rPr>
              <a:t>Carta</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 </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数据显示，行业中位数约为</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 1.76</a:t>
            </a:r>
            <a:r>
              <a:rPr lang="en-US" altLang="en-US" sz="3600">
                <a:solidFill>
                  <a:schemeClr val="tx1"/>
                </a:solidFill>
                <a:latin typeface="华文楷体" panose="02010600040101010101" charset="-122"/>
                <a:ea typeface="华文楷体" panose="02010600040101010101" charset="-122"/>
                <a:cs typeface="华文楷体" panose="02010600040101010101" charset="-122"/>
              </a:rPr>
              <a:t>×</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75% </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的基金达到约</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 2.27</a:t>
            </a:r>
            <a:r>
              <a:rPr lang="en-US" altLang="en-US" sz="3600">
                <a:solidFill>
                  <a:schemeClr val="tx1"/>
                </a:solidFill>
                <a:latin typeface="华文楷体" panose="02010600040101010101" charset="-122"/>
                <a:ea typeface="华文楷体" panose="02010600040101010101" charset="-122"/>
                <a:cs typeface="华文楷体" panose="02010600040101010101" charset="-122"/>
              </a:rPr>
              <a:t>×</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a:t>
            </a:r>
            <a:endParaRPr lang="zh-CN" altLang="en-US" sz="3600">
              <a:solidFill>
                <a:schemeClr val="tx1"/>
              </a:solidFill>
              <a:latin typeface="华文楷体" panose="02010600040101010101" charset="-122"/>
              <a:ea typeface="华文楷体" panose="02010600040101010101" charset="-122"/>
              <a:cs typeface="华文楷体" panose="02010600040101010101" charset="-122"/>
            </a:endParaRPr>
          </a:p>
          <a:p>
            <a:pPr marL="457200" lvl="1" indent="0">
              <a:buNone/>
            </a:pPr>
            <a:r>
              <a:rPr lang="en-US" altLang="zh-CN" sz="3600">
                <a:solidFill>
                  <a:schemeClr val="tx1"/>
                </a:solidFill>
                <a:latin typeface="华文楷体" panose="02010600040101010101" charset="-122"/>
                <a:ea typeface="华文楷体" panose="02010600040101010101" charset="-122"/>
                <a:cs typeface="华文楷体" panose="02010600040101010101" charset="-122"/>
              </a:rPr>
              <a:t>·</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积极信号：</a:t>
            </a:r>
            <a:endParaRPr lang="zh-CN" altLang="en-US" sz="3600">
              <a:solidFill>
                <a:schemeClr val="tx1"/>
              </a:solidFill>
              <a:latin typeface="华文楷体" panose="02010600040101010101" charset="-122"/>
              <a:ea typeface="华文楷体" panose="02010600040101010101" charset="-122"/>
              <a:cs typeface="华文楷体" panose="02010600040101010101" charset="-122"/>
            </a:endParaRPr>
          </a:p>
          <a:p>
            <a:pPr marL="457200" lvl="1" indent="0">
              <a:buNone/>
            </a:pPr>
            <a:r>
              <a:rPr lang="en-US" altLang="zh-CN" sz="3600">
                <a:solidFill>
                  <a:schemeClr val="tx1"/>
                </a:solidFill>
                <a:latin typeface="华文楷体" panose="02010600040101010101" charset="-122"/>
                <a:ea typeface="华文楷体" panose="02010600040101010101" charset="-122"/>
                <a:cs typeface="华文楷体" panose="02010600040101010101" charset="-122"/>
              </a:rPr>
              <a:t>    ·</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投资组合总账面价值较</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 LP </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投入资本已经增长，处于历史中位数水平；</a:t>
            </a:r>
            <a:endParaRPr lang="zh-CN" altLang="en-US" sz="3600">
              <a:solidFill>
                <a:schemeClr val="tx1"/>
              </a:solidFill>
              <a:latin typeface="华文楷体" panose="02010600040101010101" charset="-122"/>
              <a:ea typeface="华文楷体" panose="02010600040101010101" charset="-122"/>
              <a:cs typeface="华文楷体" panose="02010600040101010101" charset="-122"/>
            </a:endParaRPr>
          </a:p>
          <a:p>
            <a:pPr marL="457200" lvl="1" indent="0">
              <a:buNone/>
            </a:pPr>
            <a:r>
              <a:rPr lang="en-US" altLang="zh-CN" sz="3600">
                <a:solidFill>
                  <a:schemeClr val="tx1"/>
                </a:solidFill>
                <a:latin typeface="华文楷体" panose="02010600040101010101" charset="-122"/>
                <a:ea typeface="华文楷体" panose="02010600040101010101" charset="-122"/>
                <a:cs typeface="华文楷体" panose="02010600040101010101" charset="-122"/>
              </a:rPr>
              <a:t>·</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待观察：</a:t>
            </a:r>
            <a:endParaRPr lang="zh-CN" altLang="en-US" sz="3600">
              <a:solidFill>
                <a:schemeClr val="tx1"/>
              </a:solidFill>
              <a:latin typeface="华文楷体" panose="02010600040101010101" charset="-122"/>
              <a:ea typeface="华文楷体" panose="02010600040101010101" charset="-122"/>
              <a:cs typeface="华文楷体" panose="02010600040101010101" charset="-122"/>
            </a:endParaRPr>
          </a:p>
          <a:p>
            <a:pPr marL="457200" lvl="1" indent="0">
              <a:buNone/>
            </a:pPr>
            <a:r>
              <a:rPr lang="en-US" altLang="zh-CN" sz="3600">
                <a:solidFill>
                  <a:schemeClr val="tx1"/>
                </a:solidFill>
                <a:latin typeface="华文楷体" panose="02010600040101010101" charset="-122"/>
                <a:ea typeface="华文楷体" panose="02010600040101010101" charset="-122"/>
                <a:cs typeface="华文楷体" panose="02010600040101010101" charset="-122"/>
              </a:rPr>
              <a:t>    ·TVPI </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包含不少未兑现的账面价值，这部分未来是否能兑现成</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 DPI</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（真实现金回报）还需观察。</a:t>
            </a:r>
            <a:endParaRPr lang="zh-CN" altLang="en-US" sz="3600">
              <a:solidFill>
                <a:schemeClr val="tx1"/>
              </a:solidFill>
              <a:latin typeface="华文楷体" panose="02010600040101010101" charset="-122"/>
              <a:ea typeface="华文楷体" panose="02010600040101010101" charset="-122"/>
              <a:cs typeface="华文楷体" panose="02010600040101010101" charset="-122"/>
            </a:endParaRPr>
          </a:p>
          <a:p>
            <a:pPr marL="457200" lvl="1" indent="0">
              <a:buNone/>
            </a:pPr>
            <a:r>
              <a:rPr lang="en-US" altLang="zh-CN" sz="3600">
                <a:solidFill>
                  <a:schemeClr val="tx1"/>
                </a:solidFill>
                <a:latin typeface="华文楷体" panose="02010600040101010101" charset="-122"/>
                <a:ea typeface="华文楷体" panose="02010600040101010101" charset="-122"/>
                <a:cs typeface="华文楷体" panose="02010600040101010101" charset="-122"/>
              </a:rPr>
              <a:t>    ·</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在中</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后期则需要看是否能向</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 2</a:t>
            </a:r>
            <a:r>
              <a:rPr lang="en-US" altLang="en-US" sz="3600">
                <a:solidFill>
                  <a:schemeClr val="tx1"/>
                </a:solidFill>
                <a:latin typeface="华文楷体" panose="02010600040101010101" charset="-122"/>
                <a:ea typeface="华文楷体" panose="02010600040101010101" charset="-122"/>
                <a:cs typeface="华文楷体" panose="02010600040101010101" charset="-122"/>
              </a:rPr>
              <a:t>×</a:t>
            </a:r>
            <a:r>
              <a:rPr lang="en-US" altLang="zh-CN" sz="3600">
                <a:solidFill>
                  <a:schemeClr val="tx1"/>
                </a:solidFill>
                <a:latin typeface="华文楷体" panose="02010600040101010101" charset="-122"/>
                <a:ea typeface="华文楷体" panose="02010600040101010101" charset="-122"/>
                <a:cs typeface="华文楷体" panose="02010600040101010101" charset="-122"/>
              </a:rPr>
              <a:t>+ </a:t>
            </a:r>
            <a:r>
              <a:rPr lang="zh-CN" altLang="en-US" sz="3600">
                <a:solidFill>
                  <a:schemeClr val="tx1"/>
                </a:solidFill>
                <a:latin typeface="华文楷体" panose="02010600040101010101" charset="-122"/>
                <a:ea typeface="华文楷体" panose="02010600040101010101" charset="-122"/>
                <a:cs typeface="华文楷体" panose="02010600040101010101" charset="-122"/>
              </a:rPr>
              <a:t>或更高攀升。</a:t>
            </a:r>
            <a:endParaRPr lang="zh-CN" altLang="en-US" sz="3600">
              <a:solidFill>
                <a:schemeClr val="tx1"/>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 132"/>
          <p:cNvSpPr/>
          <p:nvPr/>
        </p:nvSpPr>
        <p:spPr>
          <a:xfrm>
            <a:off x="0" y="0"/>
            <a:ext cx="17475200" cy="9753600"/>
          </a:xfrm>
          <a:prstGeom prst="rect">
            <a:avLst/>
          </a:prstGeom>
          <a:solidFill>
            <a:srgbClr val="F5F5ED">
              <a:alpha val="100000"/>
            </a:srgbClr>
          </a:solidFill>
          <a:ln w="0" cap="flat">
            <a:noFill/>
            <a:prstDash val="solid"/>
            <a:miter lim="0"/>
          </a:ln>
        </p:spPr>
        <p:txBody>
          <a:bodyPr rtlCol="0"/>
          <a:lstStyle/>
          <a:p>
            <a:pPr algn="ctr"/>
            <a:endParaRPr lang="zh-CN" altLang="en-US"/>
          </a:p>
        </p:txBody>
      </p:sp>
      <p:sp>
        <p:nvSpPr>
          <p:cNvPr id="134" name="textbox 134"/>
          <p:cNvSpPr/>
          <p:nvPr/>
        </p:nvSpPr>
        <p:spPr>
          <a:xfrm>
            <a:off x="2603512" y="709484"/>
            <a:ext cx="12329159" cy="5132070"/>
          </a:xfrm>
          <a:prstGeom prst="rect">
            <a:avLst/>
          </a:prstGeom>
          <a:noFill/>
          <a:ln w="0" cap="flat">
            <a:noFill/>
            <a:prstDash val="solid"/>
            <a:miter lim="0"/>
          </a:ln>
        </p:spPr>
        <p:txBody>
          <a:bodyPr vert="horz" wrap="square" lIns="0" tIns="0" rIns="0" bIns="0"/>
          <a:lstStyle/>
          <a:p>
            <a:pPr algn="l" rtl="0" eaLnBrk="0">
              <a:lnSpc>
                <a:spcPct val="121000"/>
              </a:lnSpc>
            </a:pPr>
            <a:endParaRPr sz="100" dirty="0">
              <a:latin typeface="Arial" panose="020B0604020202020204"/>
              <a:ea typeface="Arial" panose="020B0604020202020204"/>
              <a:cs typeface="Arial" panose="020B0604020202020204"/>
            </a:endParaRPr>
          </a:p>
          <a:p>
            <a:pPr marL="1437005" algn="l" rtl="0" eaLnBrk="0">
              <a:lnSpc>
                <a:spcPct val="94000"/>
              </a:lnSpc>
              <a:spcBef>
                <a:spcPts val="0"/>
              </a:spcBef>
            </a:pPr>
            <a:endParaRPr sz="4400" dirty="0">
              <a:latin typeface="黑体" panose="02010609060101010101" charset="-122"/>
              <a:ea typeface="黑体" panose="02010609060101010101" charset="-122"/>
              <a:cs typeface="黑体" panose="02010609060101010101" charset="-122"/>
            </a:endParaRPr>
          </a:p>
        </p:txBody>
      </p:sp>
      <p:pic>
        <p:nvPicPr>
          <p:cNvPr id="136" name="picture 136"/>
          <p:cNvPicPr>
            <a:picLocks noChangeAspect="1"/>
          </p:cNvPicPr>
          <p:nvPr/>
        </p:nvPicPr>
        <p:blipFill>
          <a:blip r:embed="rId1"/>
          <a:stretch>
            <a:fillRect/>
          </a:stretch>
        </p:blipFill>
        <p:spPr>
          <a:xfrm rot="21600000">
            <a:off x="6291" y="5861035"/>
            <a:ext cx="17462619" cy="3041660"/>
          </a:xfrm>
          <a:prstGeom prst="rect">
            <a:avLst/>
          </a:prstGeom>
        </p:spPr>
      </p:pic>
      <p:sp>
        <p:nvSpPr>
          <p:cNvPr id="3" name="文本框 2"/>
          <p:cNvSpPr txBox="1"/>
          <p:nvPr/>
        </p:nvSpPr>
        <p:spPr>
          <a:xfrm>
            <a:off x="1425575" y="779145"/>
            <a:ext cx="15012670" cy="1198880"/>
          </a:xfrm>
          <a:prstGeom prst="rect">
            <a:avLst/>
          </a:prstGeom>
          <a:noFill/>
        </p:spPr>
        <p:txBody>
          <a:bodyPr wrap="square" rtlCol="0">
            <a:spAutoFit/>
          </a:bodyPr>
          <a:p>
            <a:r>
              <a:rPr lang="en-US" altLang="zh-CN" sz="3600">
                <a:latin typeface="华文楷体" panose="02010600040101010101" charset="-122"/>
                <a:ea typeface="华文楷体" panose="02010600040101010101" charset="-122"/>
                <a:cs typeface="华文楷体" panose="02010600040101010101" charset="-122"/>
              </a:rPr>
              <a:t>·</a:t>
            </a:r>
            <a:r>
              <a:rPr lang="zh-CN" sz="3600">
                <a:latin typeface="华文楷体" panose="02010600040101010101" charset="-122"/>
                <a:ea typeface="华文楷体" panose="02010600040101010101" charset="-122"/>
                <a:cs typeface="华文楷体" panose="02010600040101010101" charset="-122"/>
              </a:rPr>
              <a:t>与</a:t>
            </a:r>
            <a:r>
              <a:rPr lang="en-US" altLang="zh-CN" sz="3600">
                <a:latin typeface="华文楷体" panose="02010600040101010101" charset="-122"/>
                <a:ea typeface="华文楷体" panose="02010600040101010101" charset="-122"/>
                <a:cs typeface="华文楷体" panose="02010600040101010101" charset="-122"/>
              </a:rPr>
              <a:t>YC</a:t>
            </a:r>
            <a:r>
              <a:rPr lang="zh-CN" altLang="en-US" sz="3600">
                <a:latin typeface="华文楷体" panose="02010600040101010101" charset="-122"/>
                <a:ea typeface="华文楷体" panose="02010600040101010101" charset="-122"/>
                <a:cs typeface="华文楷体" panose="02010600040101010101" charset="-122"/>
              </a:rPr>
              <a:t>的战略定位对比：</a:t>
            </a:r>
            <a:endParaRPr lang="zh-CN" altLang="en-US" sz="3600">
              <a:latin typeface="华文楷体" panose="02010600040101010101" charset="-122"/>
              <a:ea typeface="华文楷体" panose="02010600040101010101" charset="-122"/>
              <a:cs typeface="华文楷体" panose="02010600040101010101" charset="-122"/>
            </a:endParaRPr>
          </a:p>
          <a:p>
            <a:r>
              <a:rPr lang="en-US" altLang="zh-CN" sz="3600">
                <a:solidFill>
                  <a:schemeClr val="tx1"/>
                </a:solidFill>
                <a:latin typeface="华文楷体" panose="02010600040101010101" charset="-122"/>
                <a:ea typeface="华文楷体" panose="02010600040101010101" charset="-122"/>
                <a:cs typeface="华文楷体" panose="02010600040101010101" charset="-122"/>
              </a:rPr>
              <a:t>   </a:t>
            </a:r>
            <a:endParaRPr lang="en-US" altLang="zh-CN" sz="3600">
              <a:solidFill>
                <a:schemeClr val="tx1"/>
              </a:solidFill>
              <a:latin typeface="华文楷体" panose="02010600040101010101" charset="-122"/>
              <a:ea typeface="华文楷体" panose="02010600040101010101" charset="-122"/>
              <a:cs typeface="华文楷体" panose="02010600040101010101" charset="-122"/>
            </a:endParaRPr>
          </a:p>
        </p:txBody>
      </p:sp>
      <p:graphicFrame>
        <p:nvGraphicFramePr>
          <p:cNvPr id="2" name="表格 1"/>
          <p:cNvGraphicFramePr/>
          <p:nvPr/>
        </p:nvGraphicFramePr>
        <p:xfrm>
          <a:off x="1223328" y="1692275"/>
          <a:ext cx="15028545" cy="0"/>
        </p:xfrm>
        <a:graphic>
          <a:graphicData uri="http://schemas.openxmlformats.org/drawingml/2006/table">
            <a:tbl>
              <a:tblPr/>
              <a:tblGrid>
                <a:gridCol w="5009515"/>
                <a:gridCol w="5009515"/>
                <a:gridCol w="5009515"/>
              </a:tblGrid>
              <a:tr h="0">
                <a:tc>
                  <a:txBody>
                    <a:bodyPr/>
                    <a:p>
                      <a:r>
                        <a:rPr lang="zh-CN" altLang="en-US" sz="2800">
                          <a:latin typeface="华文楷体" panose="02010600040101010101" charset="-122"/>
                          <a:ea typeface="华文楷体" panose="02010600040101010101" charset="-122"/>
                        </a:rPr>
                        <a:t>维度</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c>
                  <a:txBody>
                    <a:bodyPr/>
                    <a:p>
                      <a:r>
                        <a:rPr lang="en-US" altLang="zh-CN" sz="2800">
                          <a:latin typeface="华文楷体" panose="02010600040101010101" charset="-122"/>
                          <a:ea typeface="华文楷体" panose="02010600040101010101" charset="-122"/>
                          <a:cs typeface="华文楷体" panose="02010600040101010101" charset="-122"/>
                        </a:rPr>
                        <a:t>AMINO Capital</a:t>
                      </a:r>
                      <a:r>
                        <a:rPr lang="zh-CN" altLang="en-US" sz="2800">
                          <a:latin typeface="华文楷体" panose="02010600040101010101" charset="-122"/>
                          <a:ea typeface="华文楷体" panose="02010600040101010101" charset="-122"/>
                          <a:cs typeface="华文楷体" panose="02010600040101010101" charset="-122"/>
                        </a:rPr>
                        <a:t>（以四期为例）</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c>
                  <a:txBody>
                    <a:bodyPr/>
                    <a:p>
                      <a:r>
                        <a:rPr lang="en-US" altLang="zh-CN" sz="2800">
                          <a:latin typeface="华文楷体" panose="02010600040101010101" charset="-122"/>
                          <a:ea typeface="华文楷体" panose="02010600040101010101" charset="-122"/>
                          <a:cs typeface="华文楷体" panose="02010600040101010101" charset="-122"/>
                        </a:rPr>
                        <a:t>Y Combinator</a:t>
                      </a:r>
                      <a:r>
                        <a:rPr lang="zh-CN" altLang="en-US" sz="2800">
                          <a:latin typeface="华文楷体" panose="02010600040101010101" charset="-122"/>
                          <a:ea typeface="华文楷体" panose="02010600040101010101" charset="-122"/>
                          <a:cs typeface="华文楷体" panose="02010600040101010101" charset="-122"/>
                        </a:rPr>
                        <a:t>（</a:t>
                      </a:r>
                      <a:r>
                        <a:rPr lang="en-US" altLang="zh-CN" sz="2800">
                          <a:latin typeface="华文楷体" panose="02010600040101010101" charset="-122"/>
                          <a:ea typeface="华文楷体" panose="02010600040101010101" charset="-122"/>
                          <a:cs typeface="华文楷体" panose="02010600040101010101" charset="-122"/>
                        </a:rPr>
                        <a:t>YC</a:t>
                      </a:r>
                      <a:r>
                        <a:rPr lang="zh-CN" altLang="en-US" sz="2800">
                          <a:latin typeface="华文楷体" panose="02010600040101010101" charset="-122"/>
                          <a:ea typeface="华文楷体" panose="02010600040101010101" charset="-122"/>
                          <a:cs typeface="华文楷体" panose="02010600040101010101" charset="-122"/>
                        </a:rPr>
                        <a:t>）</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r>
              <a:tr h="0">
                <a:tc>
                  <a:txBody>
                    <a:bodyPr/>
                    <a:p>
                      <a:r>
                        <a:rPr lang="zh-CN" altLang="en-US" sz="2800">
                          <a:latin typeface="华文楷体" panose="02010600040101010101" charset="-122"/>
                          <a:ea typeface="华文楷体" panose="02010600040101010101" charset="-122"/>
                        </a:rPr>
                        <a:t>机构类型</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c>
                  <a:txBody>
                    <a:bodyPr/>
                    <a:p>
                      <a:r>
                        <a:rPr lang="zh-CN" altLang="en-US" sz="2800">
                          <a:latin typeface="华文楷体" panose="02010600040101010101" charset="-122"/>
                          <a:ea typeface="华文楷体" panose="02010600040101010101" charset="-122"/>
                          <a:cs typeface="华文楷体" panose="02010600040101010101" charset="-122"/>
                        </a:rPr>
                        <a:t>传统 </a:t>
                      </a:r>
                      <a:r>
                        <a:rPr lang="en-US" altLang="zh-CN" sz="2800">
                          <a:latin typeface="华文楷体" panose="02010600040101010101" charset="-122"/>
                          <a:ea typeface="华文楷体" panose="02010600040101010101" charset="-122"/>
                          <a:cs typeface="华文楷体" panose="02010600040101010101" charset="-122"/>
                        </a:rPr>
                        <a:t>VC / </a:t>
                      </a:r>
                      <a:r>
                        <a:rPr lang="zh-CN" altLang="en-US" sz="2800">
                          <a:latin typeface="华文楷体" panose="02010600040101010101" charset="-122"/>
                          <a:ea typeface="华文楷体" panose="02010600040101010101" charset="-122"/>
                          <a:cs typeface="华文楷体" panose="02010600040101010101" charset="-122"/>
                        </a:rPr>
                        <a:t>早期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成长资本投资机构</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c>
                  <a:txBody>
                    <a:bodyPr/>
                    <a:p>
                      <a:r>
                        <a:rPr lang="zh-CN" altLang="en-US" sz="2800">
                          <a:latin typeface="华文楷体" panose="02010600040101010101" charset="-122"/>
                          <a:ea typeface="华文楷体" panose="02010600040101010101" charset="-122"/>
                          <a:cs typeface="华文楷体" panose="02010600040101010101" charset="-122"/>
                        </a:rPr>
                        <a:t>世界顶级创业加速器 </a:t>
                      </a:r>
                      <a:r>
                        <a:rPr lang="en-US" altLang="zh-CN" sz="2800">
                          <a:latin typeface="华文楷体" panose="02010600040101010101" charset="-122"/>
                          <a:ea typeface="华文楷体" panose="02010600040101010101" charset="-122"/>
                          <a:cs typeface="华文楷体" panose="02010600040101010101" charset="-122"/>
                        </a:rPr>
                        <a:t>+ VC </a:t>
                      </a:r>
                      <a:r>
                        <a:rPr lang="zh-CN" altLang="en-US" sz="2800">
                          <a:latin typeface="华文楷体" panose="02010600040101010101" charset="-122"/>
                          <a:ea typeface="华文楷体" panose="02010600040101010101" charset="-122"/>
                          <a:cs typeface="华文楷体" panose="02010600040101010101" charset="-122"/>
                        </a:rPr>
                        <a:t>基金</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r>
              <a:tr h="0">
                <a:tc>
                  <a:txBody>
                    <a:bodyPr/>
                    <a:p>
                      <a:r>
                        <a:rPr lang="zh-CN" altLang="en-US" sz="2800">
                          <a:latin typeface="华文楷体" panose="02010600040101010101" charset="-122"/>
                          <a:ea typeface="华文楷体" panose="02010600040101010101" charset="-122"/>
                        </a:rPr>
                        <a:t>投资阶段</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c>
                  <a:txBody>
                    <a:bodyPr/>
                    <a:p>
                      <a:r>
                        <a:rPr lang="en-US" altLang="zh-CN" sz="2800">
                          <a:latin typeface="华文楷体" panose="02010600040101010101" charset="-122"/>
                          <a:ea typeface="华文楷体" panose="02010600040101010101" charset="-122"/>
                          <a:cs typeface="华文楷体" panose="02010600040101010101" charset="-122"/>
                        </a:rPr>
                        <a:t>Seed → Growth</a:t>
                      </a:r>
                      <a:r>
                        <a:rPr lang="zh-CN" altLang="en-US" sz="2800">
                          <a:latin typeface="华文楷体" panose="02010600040101010101" charset="-122"/>
                          <a:ea typeface="华文楷体" panose="02010600040101010101" charset="-122"/>
                          <a:cs typeface="华文楷体" panose="02010600040101010101" charset="-122"/>
                        </a:rPr>
                        <a:t>（种子到成长）</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c>
                  <a:txBody>
                    <a:bodyPr/>
                    <a:p>
                      <a:r>
                        <a:rPr lang="zh-CN" altLang="en-US" sz="2800">
                          <a:latin typeface="华文楷体" panose="02010600040101010101" charset="-122"/>
                          <a:ea typeface="华文楷体" panose="02010600040101010101" charset="-122"/>
                          <a:cs typeface="华文楷体" panose="02010600040101010101" charset="-122"/>
                        </a:rPr>
                        <a:t>早期种子阶段重点（通过 </a:t>
                      </a:r>
                      <a:r>
                        <a:rPr lang="en-US" altLang="zh-CN" sz="2800">
                          <a:latin typeface="华文楷体" panose="02010600040101010101" charset="-122"/>
                          <a:ea typeface="华文楷体" panose="02010600040101010101" charset="-122"/>
                          <a:cs typeface="华文楷体" panose="02010600040101010101" charset="-122"/>
                        </a:rPr>
                        <a:t>Accelerator</a:t>
                      </a:r>
                      <a:r>
                        <a:rPr lang="zh-CN" altLang="en-US" sz="2800">
                          <a:latin typeface="华文楷体" panose="02010600040101010101" charset="-122"/>
                          <a:ea typeface="华文楷体" panose="02010600040101010101" charset="-122"/>
                          <a:cs typeface="华文楷体" panose="02010600040101010101" charset="-122"/>
                        </a:rPr>
                        <a:t>）</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r>
              <a:tr h="0">
                <a:tc>
                  <a:txBody>
                    <a:bodyPr/>
                    <a:p>
                      <a:r>
                        <a:rPr lang="zh-CN" altLang="en-US" sz="2800">
                          <a:latin typeface="华文楷体" panose="02010600040101010101" charset="-122"/>
                          <a:ea typeface="华文楷体" panose="02010600040101010101" charset="-122"/>
                        </a:rPr>
                        <a:t>投资方式</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c>
                  <a:txBody>
                    <a:bodyPr/>
                    <a:p>
                      <a:r>
                        <a:rPr lang="zh-CN" altLang="en-US" sz="2800">
                          <a:latin typeface="华文楷体" panose="02010600040101010101" charset="-122"/>
                          <a:ea typeface="华文楷体" panose="02010600040101010101" charset="-122"/>
                        </a:rPr>
                        <a:t>以基金出资为主</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c>
                  <a:txBody>
                    <a:bodyPr/>
                    <a:p>
                      <a:r>
                        <a:rPr lang="en-US" altLang="zh-CN" sz="2800">
                          <a:latin typeface="华文楷体" panose="02010600040101010101" charset="-122"/>
                          <a:ea typeface="华文楷体" panose="02010600040101010101" charset="-122"/>
                          <a:cs typeface="华文楷体" panose="02010600040101010101" charset="-122"/>
                        </a:rPr>
                        <a:t>Accelerator </a:t>
                      </a:r>
                      <a:r>
                        <a:rPr lang="zh-CN" altLang="en-US" sz="2800">
                          <a:latin typeface="华文楷体" panose="02010600040101010101" charset="-122"/>
                          <a:ea typeface="华文楷体" panose="02010600040101010101" charset="-122"/>
                          <a:cs typeface="华文楷体" panose="02010600040101010101" charset="-122"/>
                        </a:rPr>
                        <a:t>先入场（种子），再有 </a:t>
                      </a:r>
                      <a:r>
                        <a:rPr lang="en-US" altLang="zh-CN" sz="2800">
                          <a:latin typeface="华文楷体" panose="02010600040101010101" charset="-122"/>
                          <a:ea typeface="华文楷体" panose="02010600040101010101" charset="-122"/>
                          <a:cs typeface="华文楷体" panose="02010600040101010101" charset="-122"/>
                        </a:rPr>
                        <a:t>VC </a:t>
                      </a:r>
                      <a:r>
                        <a:rPr lang="zh-CN" altLang="en-US" sz="2800">
                          <a:latin typeface="华文楷体" panose="02010600040101010101" charset="-122"/>
                          <a:ea typeface="华文楷体" panose="02010600040101010101" charset="-122"/>
                          <a:cs typeface="华文楷体" panose="02010600040101010101" charset="-122"/>
                        </a:rPr>
                        <a:t>后续跟投（多轮结构）</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r>
              <a:tr h="0">
                <a:tc>
                  <a:txBody>
                    <a:bodyPr/>
                    <a:p>
                      <a:r>
                        <a:rPr lang="zh-CN" altLang="en-US" sz="2800">
                          <a:latin typeface="华文楷体" panose="02010600040101010101" charset="-122"/>
                          <a:ea typeface="华文楷体" panose="02010600040101010101" charset="-122"/>
                        </a:rPr>
                        <a:t>投资对象</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c>
                  <a:txBody>
                    <a:bodyPr/>
                    <a:p>
                      <a:r>
                        <a:rPr lang="zh-CN" altLang="en-US" sz="2800">
                          <a:latin typeface="华文楷体" panose="02010600040101010101" charset="-122"/>
                          <a:ea typeface="华文楷体" panose="02010600040101010101" charset="-122"/>
                          <a:cs typeface="华文楷体" panose="02010600040101010101" charset="-122"/>
                        </a:rPr>
                        <a:t>技术型、</a:t>
                      </a:r>
                      <a:r>
                        <a:rPr lang="en-US" altLang="zh-CN" sz="2800">
                          <a:latin typeface="华文楷体" panose="02010600040101010101" charset="-122"/>
                          <a:ea typeface="华文楷体" panose="02010600040101010101" charset="-122"/>
                          <a:cs typeface="华文楷体" panose="02010600040101010101" charset="-122"/>
                        </a:rPr>
                        <a:t>AI &amp; </a:t>
                      </a:r>
                      <a:r>
                        <a:rPr lang="zh-CN" altLang="en-US" sz="2800">
                          <a:latin typeface="华文楷体" panose="02010600040101010101" charset="-122"/>
                          <a:ea typeface="华文楷体" panose="02010600040101010101" charset="-122"/>
                          <a:cs typeface="华文楷体" panose="02010600040101010101" charset="-122"/>
                        </a:rPr>
                        <a:t>行业应用驱动公司</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c>
                  <a:txBody>
                    <a:bodyPr/>
                    <a:p>
                      <a:r>
                        <a:rPr lang="zh-CN" altLang="en-US" sz="2800">
                          <a:latin typeface="华文楷体" panose="02010600040101010101" charset="-122"/>
                          <a:ea typeface="华文楷体" panose="02010600040101010101" charset="-122"/>
                        </a:rPr>
                        <a:t>极早期创业团队</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r>
              <a:tr h="0">
                <a:tc>
                  <a:txBody>
                    <a:bodyPr/>
                    <a:p>
                      <a:r>
                        <a:rPr lang="zh-CN" altLang="en-US" sz="2800">
                          <a:latin typeface="华文楷体" panose="02010600040101010101" charset="-122"/>
                          <a:ea typeface="华文楷体" panose="02010600040101010101" charset="-122"/>
                        </a:rPr>
                        <a:t>支持方式</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c>
                  <a:txBody>
                    <a:bodyPr/>
                    <a:p>
                      <a:r>
                        <a:rPr lang="zh-CN" altLang="en-US" sz="2800">
                          <a:latin typeface="华文楷体" panose="02010600040101010101" charset="-122"/>
                          <a:ea typeface="华文楷体" panose="02010600040101010101" charset="-122"/>
                          <a:cs typeface="华文楷体" panose="02010600040101010101" charset="-122"/>
                        </a:rPr>
                        <a:t>投资 </a:t>
                      </a:r>
                      <a:r>
                        <a:rPr lang="en-US" altLang="zh-CN" sz="2800">
                          <a:latin typeface="华文楷体" panose="02010600040101010101" charset="-122"/>
                          <a:ea typeface="华文楷体" panose="02010600040101010101" charset="-122"/>
                          <a:cs typeface="华文楷体" panose="02010600040101010101" charset="-122"/>
                        </a:rPr>
                        <a:t>+ </a:t>
                      </a:r>
                      <a:r>
                        <a:rPr lang="zh-CN" altLang="en-US" sz="2800">
                          <a:latin typeface="华文楷体" panose="02010600040101010101" charset="-122"/>
                          <a:ea typeface="华文楷体" panose="02010600040101010101" charset="-122"/>
                          <a:cs typeface="华文楷体" panose="02010600040101010101" charset="-122"/>
                        </a:rPr>
                        <a:t>战略支持</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c>
                  <a:txBody>
                    <a:bodyPr/>
                    <a:p>
                      <a:r>
                        <a:rPr lang="en-US" altLang="zh-CN" sz="2800">
                          <a:latin typeface="华文楷体" panose="02010600040101010101" charset="-122"/>
                          <a:ea typeface="华文楷体" panose="02010600040101010101" charset="-122"/>
                          <a:cs typeface="华文楷体" panose="02010600040101010101" charset="-122"/>
                        </a:rPr>
                        <a:t>3 </a:t>
                      </a:r>
                      <a:r>
                        <a:rPr lang="zh-CN" altLang="en-US" sz="2800">
                          <a:latin typeface="华文楷体" panose="02010600040101010101" charset="-122"/>
                          <a:ea typeface="华文楷体" panose="02010600040101010101" charset="-122"/>
                          <a:cs typeface="华文楷体" panose="02010600040101010101" charset="-122"/>
                        </a:rPr>
                        <a:t>个月加速辅导 </a:t>
                      </a:r>
                      <a:r>
                        <a:rPr lang="en-US" altLang="zh-CN" sz="2800">
                          <a:latin typeface="华文楷体" panose="02010600040101010101" charset="-122"/>
                          <a:ea typeface="华文楷体" panose="02010600040101010101" charset="-122"/>
                          <a:cs typeface="华文楷体" panose="02010600040101010101" charset="-122"/>
                        </a:rPr>
                        <a:t>+ Demo Day + </a:t>
                      </a:r>
                      <a:r>
                        <a:rPr lang="zh-CN" altLang="en-US" sz="2800">
                          <a:latin typeface="华文楷体" panose="02010600040101010101" charset="-122"/>
                          <a:ea typeface="华文楷体" panose="02010600040101010101" charset="-122"/>
                          <a:cs typeface="华文楷体" panose="02010600040101010101" charset="-122"/>
                        </a:rPr>
                        <a:t>社区支撑</a:t>
                      </a:r>
                      <a:endParaRPr lang="zh-CN" altLang="en-US" sz="2800">
                        <a:latin typeface="华文楷体" panose="02010600040101010101" charset="-122"/>
                        <a:ea typeface="华文楷体" panose="02010600040101010101" charset="-122"/>
                        <a:cs typeface="华文楷体" panose="02010600040101010101" charset="-122"/>
                      </a:endParaRPr>
                    </a:p>
                  </a:txBody>
                  <a:tcPr marL="0" marR="0" marT="0" marB="0" anchor="ctr" anchorCtr="0">
                    <a:lnL>
                      <a:noFill/>
                    </a:lnL>
                    <a:lnR>
                      <a:noFill/>
                    </a:lnR>
                    <a:lnT>
                      <a:noFill/>
                    </a:lnT>
                    <a:lnB>
                      <a:noFill/>
                    </a:lnB>
                    <a:noFill/>
                  </a:tcPr>
                </a:tc>
              </a:tr>
              <a:tr h="0">
                <a:tc>
                  <a:txBody>
                    <a:bodyPr/>
                    <a:p>
                      <a:r>
                        <a:rPr lang="zh-CN" altLang="en-US" sz="2800">
                          <a:latin typeface="华文楷体" panose="02010600040101010101" charset="-122"/>
                          <a:ea typeface="华文楷体" panose="02010600040101010101" charset="-122"/>
                        </a:rPr>
                        <a:t>核心价值主张</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c>
                  <a:txBody>
                    <a:bodyPr/>
                    <a:p>
                      <a:r>
                        <a:rPr lang="zh-CN" altLang="en-US" sz="2800">
                          <a:latin typeface="华文楷体" panose="02010600040101010101" charset="-122"/>
                          <a:ea typeface="华文楷体" panose="02010600040101010101" charset="-122"/>
                        </a:rPr>
                        <a:t>帮助企业规模化、技术落地与商业变现</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c>
                  <a:txBody>
                    <a:bodyPr/>
                    <a:p>
                      <a:r>
                        <a:rPr lang="zh-CN" altLang="en-US" sz="2800">
                          <a:latin typeface="华文楷体" panose="02010600040101010101" charset="-122"/>
                          <a:ea typeface="华文楷体" panose="02010600040101010101" charset="-122"/>
                        </a:rPr>
                        <a:t>提升创业成功概率、快速获得融资和市场反馈</a:t>
                      </a:r>
                      <a:endParaRPr lang="zh-CN" altLang="en-US" sz="2800">
                        <a:latin typeface="华文楷体" panose="02010600040101010101" charset="-122"/>
                        <a:ea typeface="华文楷体" panose="02010600040101010101" charset="-122"/>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0"/>
          <p:cNvPicPr>
            <a:picLocks noChangeAspect="1"/>
          </p:cNvPicPr>
          <p:nvPr/>
        </p:nvPicPr>
        <p:blipFill>
          <a:blip r:embed="rId1"/>
          <a:stretch>
            <a:fillRect/>
          </a:stretch>
        </p:blipFill>
        <p:spPr>
          <a:xfrm rot="21600000">
            <a:off x="0" y="0"/>
            <a:ext cx="17475200" cy="9753600"/>
          </a:xfrm>
          <a:prstGeom prst="rect">
            <a:avLst/>
          </a:prstGeom>
        </p:spPr>
      </p:pic>
      <p:sp>
        <p:nvSpPr>
          <p:cNvPr id="32" name="textbox 32"/>
          <p:cNvSpPr/>
          <p:nvPr/>
        </p:nvSpPr>
        <p:spPr>
          <a:xfrm>
            <a:off x="3998728" y="907789"/>
            <a:ext cx="10410190" cy="8242300"/>
          </a:xfrm>
          <a:prstGeom prst="rect">
            <a:avLst/>
          </a:prstGeom>
          <a:noFill/>
          <a:ln w="0" cap="flat">
            <a:noFill/>
            <a:prstDash val="solid"/>
            <a:miter lim="0"/>
          </a:ln>
        </p:spPr>
        <p:txBody>
          <a:bodyPr vert="horz" wrap="square" lIns="0" tIns="0" rIns="0" bIns="0"/>
          <a:lstStyle/>
          <a:p>
            <a:pPr algn="l" rtl="0" eaLnBrk="0">
              <a:lnSpc>
                <a:spcPct val="56000"/>
              </a:lnSpc>
            </a:pPr>
            <a:endParaRPr sz="100" dirty="0">
              <a:latin typeface="Arial" panose="020B0604020202020204"/>
              <a:ea typeface="Arial" panose="020B0604020202020204"/>
              <a:cs typeface="Arial" panose="020B0604020202020204"/>
            </a:endParaRPr>
          </a:p>
          <a:p>
            <a:pPr algn="l" rtl="0" eaLnBrk="0">
              <a:lnSpc>
                <a:spcPct val="105000"/>
              </a:lnSpc>
            </a:pPr>
            <a:endParaRPr sz="2500" dirty="0">
              <a:latin typeface="黑体" panose="02010609060101010101" charset="-122"/>
              <a:ea typeface="黑体" panose="02010609060101010101" charset="-122"/>
              <a:cs typeface="黑体" panose="02010609060101010101" charset="-122"/>
            </a:endParaRPr>
          </a:p>
        </p:txBody>
      </p:sp>
      <p:sp>
        <p:nvSpPr>
          <p:cNvPr id="34" name="textbox 34"/>
          <p:cNvSpPr/>
          <p:nvPr/>
        </p:nvSpPr>
        <p:spPr>
          <a:xfrm>
            <a:off x="16097336" y="9476351"/>
            <a:ext cx="1278889" cy="197485"/>
          </a:xfrm>
          <a:prstGeom prst="rect">
            <a:avLst/>
          </a:prstGeom>
          <a:noFill/>
          <a:ln w="0" cap="flat">
            <a:noFill/>
            <a:prstDash val="solid"/>
            <a:miter lim="0"/>
          </a:ln>
        </p:spPr>
        <p:txBody>
          <a:bodyPr vert="horz" wrap="square" lIns="0" tIns="0" rIns="0" bIns="0"/>
          <a:lstStyle/>
          <a:p>
            <a:pPr algn="l" rtl="0" eaLnBrk="0">
              <a:lnSpc>
                <a:spcPct val="77000"/>
              </a:lnSpc>
            </a:pPr>
            <a:endParaRPr sz="1400" dirty="0">
              <a:latin typeface="Arial" panose="020B0604020202020204"/>
              <a:ea typeface="Arial" panose="020B0604020202020204"/>
              <a:cs typeface="Arial" panose="020B0604020202020204"/>
            </a:endParaRPr>
          </a:p>
        </p:txBody>
      </p:sp>
      <p:sp>
        <p:nvSpPr>
          <p:cNvPr id="2" name="文本框 1"/>
          <p:cNvSpPr txBox="1"/>
          <p:nvPr/>
        </p:nvSpPr>
        <p:spPr>
          <a:xfrm>
            <a:off x="1945005" y="562610"/>
            <a:ext cx="9611360" cy="3169285"/>
          </a:xfrm>
          <a:prstGeom prst="rect">
            <a:avLst/>
          </a:prstGeom>
          <a:noFill/>
        </p:spPr>
        <p:txBody>
          <a:bodyPr wrap="square" rtlCol="0">
            <a:spAutoFit/>
          </a:bodyPr>
          <a:p>
            <a:r>
              <a:rPr lang="en-US" altLang="zh-CN" sz="4000">
                <a:latin typeface="华文楷体" panose="02010600040101010101" charset="-122"/>
                <a:ea typeface="华文楷体" panose="02010600040101010101" charset="-122"/>
                <a:cs typeface="华文楷体" panose="02010600040101010101" charset="-122"/>
              </a:rPr>
              <a:t>        Amino</a:t>
            </a:r>
            <a:r>
              <a:rPr lang="zh-CN" altLang="en-US" sz="4000">
                <a:latin typeface="华文楷体" panose="02010600040101010101" charset="-122"/>
                <a:ea typeface="华文楷体" panose="02010600040101010101" charset="-122"/>
                <a:cs typeface="华文楷体" panose="02010600040101010101" charset="-122"/>
              </a:rPr>
              <a:t>四期基金的投资意图是利用</a:t>
            </a:r>
            <a:r>
              <a:rPr lang="en-US" altLang="zh-CN" sz="4000">
                <a:latin typeface="华文楷体" panose="02010600040101010101" charset="-122"/>
                <a:ea typeface="华文楷体" panose="02010600040101010101" charset="-122"/>
                <a:cs typeface="华文楷体" panose="02010600040101010101" charset="-122"/>
              </a:rPr>
              <a:t>AI</a:t>
            </a:r>
            <a:r>
              <a:rPr lang="zh-CN" altLang="en-US" sz="4000">
                <a:latin typeface="华文楷体" panose="02010600040101010101" charset="-122"/>
                <a:ea typeface="华文楷体" panose="02010600040101010101" charset="-122"/>
                <a:cs typeface="华文楷体" panose="02010600040101010101" charset="-122"/>
              </a:rPr>
              <a:t>与自动化技术创造全天候、闭环式的高效工作流程，不仅提高工作效率，还通过将工作本身作为产品进行销售，推动价值创造的深度整合。</a:t>
            </a:r>
            <a:endParaRPr lang="zh-CN" altLang="en-US" sz="4000">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 name="picture 140"/>
          <p:cNvPicPr>
            <a:picLocks noChangeAspect="1"/>
          </p:cNvPicPr>
          <p:nvPr/>
        </p:nvPicPr>
        <p:blipFill>
          <a:blip r:embed="rId1"/>
          <a:stretch>
            <a:fillRect/>
          </a:stretch>
        </p:blipFill>
        <p:spPr>
          <a:xfrm rot="21600000">
            <a:off x="0" y="0"/>
            <a:ext cx="17475200" cy="9753600"/>
          </a:xfrm>
          <a:prstGeom prst="rect">
            <a:avLst/>
          </a:prstGeom>
        </p:spPr>
      </p:pic>
      <p:sp>
        <p:nvSpPr>
          <p:cNvPr id="142" name="textbox 142"/>
          <p:cNvSpPr/>
          <p:nvPr/>
        </p:nvSpPr>
        <p:spPr>
          <a:xfrm>
            <a:off x="4028309" y="2296607"/>
            <a:ext cx="9620884" cy="535559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7446010" algn="l" rtl="0" eaLnBrk="0">
              <a:lnSpc>
                <a:spcPct val="97000"/>
              </a:lnSpc>
            </a:pPr>
            <a:endParaRPr sz="3500" dirty="0">
              <a:latin typeface="Arial" panose="020B0604020202020204"/>
              <a:ea typeface="Arial" panose="020B0604020202020204"/>
              <a:cs typeface="Arial" panose="020B0604020202020204"/>
            </a:endParaRPr>
          </a:p>
        </p:txBody>
      </p:sp>
      <p:sp>
        <p:nvSpPr>
          <p:cNvPr id="144" name="textbox 144"/>
          <p:cNvSpPr/>
          <p:nvPr/>
        </p:nvSpPr>
        <p:spPr>
          <a:xfrm>
            <a:off x="8142676" y="8284815"/>
            <a:ext cx="2345054" cy="979169"/>
          </a:xfrm>
          <a:prstGeom prst="rect">
            <a:avLst/>
          </a:prstGeom>
          <a:noFill/>
          <a:ln w="0" cap="flat">
            <a:noFill/>
            <a:prstDash val="solid"/>
            <a:miter lim="0"/>
          </a:ln>
        </p:spPr>
        <p:txBody>
          <a:bodyPr vert="horz" wrap="square" lIns="0" tIns="0" rIns="0" bIns="0"/>
          <a:lstStyle/>
          <a:p>
            <a:pPr algn="l" rtl="0" eaLnBrk="0">
              <a:lnSpc>
                <a:spcPct val="102000"/>
              </a:lnSpc>
            </a:pPr>
            <a:endParaRPr sz="100" dirty="0">
              <a:latin typeface="Arial" panose="020B0604020202020204"/>
              <a:ea typeface="Arial" panose="020B0604020202020204"/>
              <a:cs typeface="Arial" panose="020B0604020202020204"/>
            </a:endParaRPr>
          </a:p>
          <a:p>
            <a:pPr marL="12700" algn="l" rtl="0" eaLnBrk="0">
              <a:lnSpc>
                <a:spcPct val="96000"/>
              </a:lnSpc>
            </a:pPr>
            <a:endParaRPr sz="1500" dirty="0">
              <a:latin typeface="Arial" panose="020B0604020202020204"/>
              <a:ea typeface="Arial" panose="020B0604020202020204"/>
              <a:cs typeface="Arial" panose="020B0604020202020204"/>
            </a:endParaRPr>
          </a:p>
        </p:txBody>
      </p:sp>
      <p:sp>
        <p:nvSpPr>
          <p:cNvPr id="2" name="文本框 1"/>
          <p:cNvSpPr txBox="1"/>
          <p:nvPr/>
        </p:nvSpPr>
        <p:spPr>
          <a:xfrm>
            <a:off x="5300980" y="3215005"/>
            <a:ext cx="14395450" cy="1861185"/>
          </a:xfrm>
          <a:prstGeom prst="rect">
            <a:avLst/>
          </a:prstGeom>
          <a:noFill/>
        </p:spPr>
        <p:txBody>
          <a:bodyPr wrap="square" rtlCol="0">
            <a:spAutoFit/>
          </a:bodyPr>
          <a:p>
            <a:r>
              <a:rPr lang="zh-CN" altLang="en-US" sz="11500">
                <a:latin typeface="华康行楷体 W5" panose="03000509000000000000" charset="-122"/>
                <a:ea typeface="华康行楷体 W5" panose="03000509000000000000" charset="-122"/>
              </a:rPr>
              <a:t>感谢垂听！</a:t>
            </a:r>
            <a:endParaRPr lang="zh-CN" altLang="en-US" sz="11500">
              <a:latin typeface="华康行楷体 W5" panose="03000509000000000000" charset="-122"/>
              <a:ea typeface="华康行楷体 W5" panose="03000509000000000000" charset="-122"/>
            </a:endParaRPr>
          </a:p>
        </p:txBody>
      </p:sp>
      <p:pic>
        <p:nvPicPr>
          <p:cNvPr id="5" name="图片 4" descr="新进logo"/>
          <p:cNvPicPr>
            <a:picLocks noChangeAspect="1"/>
          </p:cNvPicPr>
          <p:nvPr/>
        </p:nvPicPr>
        <p:blipFill>
          <a:blip r:embed="rId2"/>
          <a:stretch>
            <a:fillRect/>
          </a:stretch>
        </p:blipFill>
        <p:spPr>
          <a:xfrm>
            <a:off x="6803390" y="7652385"/>
            <a:ext cx="4071620" cy="14814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17712</Words>
  <Application>WPS 演示</Application>
  <PresentationFormat/>
  <Paragraphs>933</Paragraphs>
  <Slides>46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46</vt:i4>
      </vt:variant>
    </vt:vector>
  </HeadingPairs>
  <TitlesOfParts>
    <vt:vector size="59" baseType="lpstr">
      <vt:lpstr>Arial</vt:lpstr>
      <vt:lpstr>宋体</vt:lpstr>
      <vt:lpstr>Wingdings</vt:lpstr>
      <vt:lpstr>Arial</vt:lpstr>
      <vt:lpstr>黑体</vt:lpstr>
      <vt:lpstr>华康行楷体 W5</vt:lpstr>
      <vt:lpstr>华文楷体</vt:lpstr>
      <vt:lpstr>Times New Roman</vt:lpstr>
      <vt:lpstr>华文琥珀</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tzqqg</cp:lastModifiedBy>
  <cp:revision>7</cp:revision>
  <dcterms:created xsi:type="dcterms:W3CDTF">2026-01-28T13:22:00Z</dcterms:created>
  <dcterms:modified xsi:type="dcterms:W3CDTF">2026-02-02T06:42:40Z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2026-01-30T05:13:53Z</vt:filetime>
  </property>
  <property fmtid="{D5CDD505-2E9C-101B-9397-08002B2CF9AE}" pid="4" name="UsrData">
    <vt:lpwstr>697a0b810c9584001fd17438wl</vt:lpwstr>
  </property>
  <property fmtid="{D5CDD505-2E9C-101B-9397-08002B2CF9AE}" pid="5" name="KSOProductBuildVer">
    <vt:lpwstr>2052-12.1.0.24657</vt:lpwstr>
  </property>
  <property fmtid="{D5CDD505-2E9C-101B-9397-08002B2CF9AE}" pid="6" name="ICV">
    <vt:lpwstr>BEA4C00C6396448DA3E9BB770B385EC8_12</vt:lpwstr>
  </property>
</Properties>
</file>