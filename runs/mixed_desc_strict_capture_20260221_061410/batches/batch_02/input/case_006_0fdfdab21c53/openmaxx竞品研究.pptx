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思源宋体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s.699pic.com/7a82f42f5aec95c641edbda59e4fc36a33560664.v1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81" r="18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80000"/>
                </a:srgbClr>
              </a:gs>
              <a:gs pos="50000">
                <a:srgbClr val="8FA89B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210050" y="1609725"/>
            <a:ext cx="3771900" cy="514350"/>
          </a:xfrm>
          <a:custGeom>
            <a:avLst/>
            <a:gdLst/>
            <a:ahLst/>
            <a:cxnLst/>
            <a:rect l="l" t="t" r="r" b="b"/>
            <a:pathLst>
              <a:path w="3771900" h="514350">
                <a:moveTo>
                  <a:pt x="257175" y="0"/>
                </a:moveTo>
                <a:lnTo>
                  <a:pt x="3514725" y="0"/>
                </a:lnTo>
                <a:cubicBezTo>
                  <a:pt x="3656664" y="0"/>
                  <a:pt x="3771900" y="115236"/>
                  <a:pt x="3771900" y="257175"/>
                </a:cubicBezTo>
                <a:lnTo>
                  <a:pt x="3771900" y="257175"/>
                </a:lnTo>
                <a:cubicBezTo>
                  <a:pt x="3771900" y="399114"/>
                  <a:pt x="3656664" y="514350"/>
                  <a:pt x="351472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B89B72">
              <a:alpha val="20000"/>
            </a:srgbClr>
          </a:solidFill>
          <a:ln w="25400">
            <a:solidFill>
              <a:srgbClr val="B89B72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76750" y="173355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spc="150" kern="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品牌折扣特卖新零售市场深度分析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42146" y="2667000"/>
            <a:ext cx="5705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spc="360" kern="0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openmaxx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23346" y="3810000"/>
            <a:ext cx="2943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spc="68" kern="0" dirty="0">
                <a:solidFill>
                  <a:srgbClr val="F8F9F7">
                    <a:alpha val="90000"/>
                  </a:srgbClr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开时仓 · 竞对研究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10323" y="5095875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9" name="Text 6"/>
          <p:cNvSpPr/>
          <p:nvPr/>
        </p:nvSpPr>
        <p:spPr>
          <a:xfrm>
            <a:off x="5477173" y="495300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9F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2026年2月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62477" y="5095875"/>
            <a:ext cx="1219200" cy="19050"/>
          </a:xfrm>
          <a:custGeom>
            <a:avLst/>
            <a:gdLst/>
            <a:ahLst/>
            <a:cxnLst/>
            <a:rect l="l" t="t" r="r" b="b"/>
            <a:pathLst>
              <a:path w="1219200" h="19050">
                <a:moveTo>
                  <a:pt x="0" y="0"/>
                </a:moveTo>
                <a:lnTo>
                  <a:pt x="1219200" y="0"/>
                </a:lnTo>
                <a:lnTo>
                  <a:pt x="1219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B72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678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openmaxx品牌定位与商业模式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新兴线下品牌折扣特卖零售平台的核心价值主张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33500"/>
            <a:ext cx="5619750" cy="1790700"/>
          </a:xfrm>
          <a:custGeom>
            <a:avLst/>
            <a:gdLst/>
            <a:ahLst/>
            <a:cxnLst/>
            <a:rect l="l" t="t" r="r" b="b"/>
            <a:pathLst>
              <a:path w="5619750" h="1790700">
                <a:moveTo>
                  <a:pt x="38100" y="0"/>
                </a:moveTo>
                <a:lnTo>
                  <a:pt x="5505450" y="0"/>
                </a:lnTo>
                <a:cubicBezTo>
                  <a:pt x="5568576" y="0"/>
                  <a:pt x="5619750" y="51174"/>
                  <a:pt x="5619750" y="114300"/>
                </a:cubicBezTo>
                <a:lnTo>
                  <a:pt x="5619750" y="1676400"/>
                </a:lnTo>
                <a:cubicBezTo>
                  <a:pt x="5619750" y="1739526"/>
                  <a:pt x="5568576" y="1790700"/>
                  <a:pt x="5505450" y="1790700"/>
                </a:cubicBezTo>
                <a:lnTo>
                  <a:pt x="38100" y="1790700"/>
                </a:lnTo>
                <a:cubicBezTo>
                  <a:pt x="17058" y="1790700"/>
                  <a:pt x="0" y="1773642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3335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10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8" name="Shape 6"/>
          <p:cNvSpPr/>
          <p:nvPr/>
        </p:nvSpPr>
        <p:spPr>
          <a:xfrm>
            <a:off x="72390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707" y="32281"/>
                </a:moveTo>
                <a:cubicBezTo>
                  <a:pt x="16788" y="21610"/>
                  <a:pt x="26566" y="14288"/>
                  <a:pt x="37683" y="14288"/>
                </a:cubicBezTo>
                <a:lnTo>
                  <a:pt x="191274" y="14288"/>
                </a:lnTo>
                <a:cubicBezTo>
                  <a:pt x="202391" y="14288"/>
                  <a:pt x="212169" y="21610"/>
                  <a:pt x="215295" y="32281"/>
                </a:cubicBezTo>
                <a:lnTo>
                  <a:pt x="225743" y="68089"/>
                </a:lnTo>
                <a:cubicBezTo>
                  <a:pt x="231458" y="87600"/>
                  <a:pt x="216768" y="107156"/>
                  <a:pt x="196453" y="107156"/>
                </a:cubicBezTo>
                <a:cubicBezTo>
                  <a:pt x="184711" y="107156"/>
                  <a:pt x="174397" y="100504"/>
                  <a:pt x="169307" y="90592"/>
                </a:cubicBezTo>
                <a:cubicBezTo>
                  <a:pt x="164128" y="100370"/>
                  <a:pt x="153859" y="107156"/>
                  <a:pt x="141893" y="107156"/>
                </a:cubicBezTo>
                <a:cubicBezTo>
                  <a:pt x="130016" y="107156"/>
                  <a:pt x="119702" y="100459"/>
                  <a:pt x="114523" y="90636"/>
                </a:cubicBezTo>
                <a:cubicBezTo>
                  <a:pt x="109344" y="100459"/>
                  <a:pt x="99030" y="107156"/>
                  <a:pt x="87154" y="107156"/>
                </a:cubicBezTo>
                <a:cubicBezTo>
                  <a:pt x="75188" y="107156"/>
                  <a:pt x="64919" y="100414"/>
                  <a:pt x="59740" y="90592"/>
                </a:cubicBezTo>
                <a:cubicBezTo>
                  <a:pt x="54650" y="100459"/>
                  <a:pt x="44336" y="107156"/>
                  <a:pt x="32593" y="107156"/>
                </a:cubicBezTo>
                <a:cubicBezTo>
                  <a:pt x="12234" y="107156"/>
                  <a:pt x="-2411" y="87645"/>
                  <a:pt x="3304" y="68089"/>
                </a:cubicBezTo>
                <a:lnTo>
                  <a:pt x="13707" y="32281"/>
                </a:lnTo>
                <a:close/>
                <a:moveTo>
                  <a:pt x="43041" y="157163"/>
                </a:moveTo>
                <a:lnTo>
                  <a:pt x="185916" y="157163"/>
                </a:lnTo>
                <a:lnTo>
                  <a:pt x="185916" y="127516"/>
                </a:lnTo>
                <a:cubicBezTo>
                  <a:pt x="189309" y="128230"/>
                  <a:pt x="192837" y="128588"/>
                  <a:pt x="196408" y="128588"/>
                </a:cubicBezTo>
                <a:cubicBezTo>
                  <a:pt x="202793" y="128588"/>
                  <a:pt x="208910" y="127427"/>
                  <a:pt x="214491" y="125373"/>
                </a:cubicBezTo>
                <a:lnTo>
                  <a:pt x="214491" y="192881"/>
                </a:lnTo>
                <a:cubicBezTo>
                  <a:pt x="214491" y="204713"/>
                  <a:pt x="204892" y="214313"/>
                  <a:pt x="193060" y="214313"/>
                </a:cubicBezTo>
                <a:lnTo>
                  <a:pt x="35897" y="214313"/>
                </a:lnTo>
                <a:cubicBezTo>
                  <a:pt x="24066" y="214313"/>
                  <a:pt x="14466" y="204713"/>
                  <a:pt x="14466" y="192881"/>
                </a:cubicBezTo>
                <a:lnTo>
                  <a:pt x="14466" y="125373"/>
                </a:lnTo>
                <a:cubicBezTo>
                  <a:pt x="20047" y="127427"/>
                  <a:pt x="26119" y="128588"/>
                  <a:pt x="32549" y="128588"/>
                </a:cubicBezTo>
                <a:cubicBezTo>
                  <a:pt x="36165" y="128588"/>
                  <a:pt x="39648" y="128230"/>
                  <a:pt x="43041" y="127516"/>
                </a:cubicBezTo>
                <a:lnTo>
                  <a:pt x="43041" y="157163"/>
                </a:ln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6002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定位与业态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0955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新兴线下品牌折扣特卖零售平台(实体店为主)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4003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门店选址: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核心商业区/购物中心,面积可达数百至千平米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7051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核心定位: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为消费者提供"淘大牌、捡好货"的高性价比购物体验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238500"/>
            <a:ext cx="5619750" cy="1790700"/>
          </a:xfrm>
          <a:custGeom>
            <a:avLst/>
            <a:gdLst/>
            <a:ahLst/>
            <a:cxnLst/>
            <a:rect l="l" t="t" r="r" b="b"/>
            <a:pathLst>
              <a:path w="5619750" h="1790700">
                <a:moveTo>
                  <a:pt x="38100" y="0"/>
                </a:moveTo>
                <a:lnTo>
                  <a:pt x="5505450" y="0"/>
                </a:lnTo>
                <a:cubicBezTo>
                  <a:pt x="5568576" y="0"/>
                  <a:pt x="5619750" y="51174"/>
                  <a:pt x="5619750" y="114300"/>
                </a:cubicBezTo>
                <a:lnTo>
                  <a:pt x="5619750" y="1676400"/>
                </a:lnTo>
                <a:cubicBezTo>
                  <a:pt x="5619750" y="1739526"/>
                  <a:pt x="5568576" y="1790700"/>
                  <a:pt x="5505450" y="1790700"/>
                </a:cubicBezTo>
                <a:lnTo>
                  <a:pt x="38100" y="1790700"/>
                </a:lnTo>
                <a:cubicBezTo>
                  <a:pt x="17058" y="1790700"/>
                  <a:pt x="0" y="1773642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0050" y="32385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10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9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2105" y="15091"/>
                </a:moveTo>
                <a:cubicBezTo>
                  <a:pt x="54114" y="12368"/>
                  <a:pt x="57329" y="10716"/>
                  <a:pt x="60722" y="10716"/>
                </a:cubicBezTo>
                <a:lnTo>
                  <a:pt x="167878" y="10716"/>
                </a:lnTo>
                <a:cubicBezTo>
                  <a:pt x="171271" y="10716"/>
                  <a:pt x="174486" y="12323"/>
                  <a:pt x="176495" y="15091"/>
                </a:cubicBezTo>
                <a:lnTo>
                  <a:pt x="226502" y="82957"/>
                </a:lnTo>
                <a:cubicBezTo>
                  <a:pt x="229538" y="87064"/>
                  <a:pt x="229225" y="92735"/>
                  <a:pt x="225832" y="96530"/>
                </a:cubicBezTo>
                <a:lnTo>
                  <a:pt x="122247" y="210830"/>
                </a:lnTo>
                <a:cubicBezTo>
                  <a:pt x="120238" y="213062"/>
                  <a:pt x="117336" y="214357"/>
                  <a:pt x="114300" y="214357"/>
                </a:cubicBezTo>
                <a:cubicBezTo>
                  <a:pt x="111264" y="214357"/>
                  <a:pt x="108406" y="213062"/>
                  <a:pt x="106353" y="210830"/>
                </a:cubicBezTo>
                <a:lnTo>
                  <a:pt x="2768" y="96530"/>
                </a:lnTo>
                <a:cubicBezTo>
                  <a:pt x="-670" y="92735"/>
                  <a:pt x="-938" y="87064"/>
                  <a:pt x="2098" y="82957"/>
                </a:cubicBezTo>
                <a:lnTo>
                  <a:pt x="52105" y="15091"/>
                </a:lnTo>
                <a:close/>
                <a:moveTo>
                  <a:pt x="69294" y="32861"/>
                </a:moveTo>
                <a:cubicBezTo>
                  <a:pt x="67821" y="33977"/>
                  <a:pt x="67419" y="35987"/>
                  <a:pt x="68357" y="37549"/>
                </a:cubicBezTo>
                <a:lnTo>
                  <a:pt x="93985" y="80278"/>
                </a:lnTo>
                <a:lnTo>
                  <a:pt x="28262" y="85725"/>
                </a:lnTo>
                <a:cubicBezTo>
                  <a:pt x="26432" y="85859"/>
                  <a:pt x="25003" y="87422"/>
                  <a:pt x="25003" y="89297"/>
                </a:cubicBezTo>
                <a:cubicBezTo>
                  <a:pt x="25003" y="91172"/>
                  <a:pt x="26432" y="92690"/>
                  <a:pt x="28262" y="92869"/>
                </a:cubicBezTo>
                <a:lnTo>
                  <a:pt x="113987" y="100013"/>
                </a:lnTo>
                <a:cubicBezTo>
                  <a:pt x="114166" y="100013"/>
                  <a:pt x="114389" y="100013"/>
                  <a:pt x="114568" y="100013"/>
                </a:cubicBezTo>
                <a:lnTo>
                  <a:pt x="200293" y="92869"/>
                </a:lnTo>
                <a:cubicBezTo>
                  <a:pt x="202123" y="92735"/>
                  <a:pt x="203552" y="91172"/>
                  <a:pt x="203552" y="89297"/>
                </a:cubicBezTo>
                <a:cubicBezTo>
                  <a:pt x="203552" y="87422"/>
                  <a:pt x="202123" y="85904"/>
                  <a:pt x="200293" y="85725"/>
                </a:cubicBezTo>
                <a:lnTo>
                  <a:pt x="134570" y="80233"/>
                </a:lnTo>
                <a:lnTo>
                  <a:pt x="160199" y="37549"/>
                </a:lnTo>
                <a:cubicBezTo>
                  <a:pt x="161136" y="35987"/>
                  <a:pt x="160734" y="33933"/>
                  <a:pt x="159261" y="32861"/>
                </a:cubicBezTo>
                <a:cubicBezTo>
                  <a:pt x="157788" y="31790"/>
                  <a:pt x="155734" y="31968"/>
                  <a:pt x="154484" y="33308"/>
                </a:cubicBezTo>
                <a:lnTo>
                  <a:pt x="114300" y="76885"/>
                </a:lnTo>
                <a:lnTo>
                  <a:pt x="74072" y="33308"/>
                </a:lnTo>
                <a:cubicBezTo>
                  <a:pt x="72822" y="31968"/>
                  <a:pt x="70768" y="31790"/>
                  <a:pt x="69294" y="32861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5052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用户价值与体验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0005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核心体验: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主打"淘大牌、捡好货"的消费体验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3053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商品特点: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店内商品更新快、折扣显著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61010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目标客群: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适合追求高性价比的消费者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333500"/>
            <a:ext cx="5638800" cy="5143500"/>
          </a:xfrm>
          <a:custGeom>
            <a:avLst/>
            <a:gdLst/>
            <a:ahLst/>
            <a:cxnLst/>
            <a:rect l="l" t="t" r="r" b="b"/>
            <a:pathLst>
              <a:path w="5638800" h="5143500">
                <a:moveTo>
                  <a:pt x="114289" y="0"/>
                </a:moveTo>
                <a:lnTo>
                  <a:pt x="5524511" y="0"/>
                </a:lnTo>
                <a:cubicBezTo>
                  <a:pt x="5587589" y="0"/>
                  <a:pt x="5638800" y="51211"/>
                  <a:pt x="5638800" y="114289"/>
                </a:cubicBezTo>
                <a:lnTo>
                  <a:pt x="5638800" y="5029211"/>
                </a:lnTo>
                <a:cubicBezTo>
                  <a:pt x="5638800" y="5092331"/>
                  <a:pt x="5587631" y="5143500"/>
                  <a:pt x="5524511" y="5143500"/>
                </a:cubicBezTo>
                <a:lnTo>
                  <a:pt x="114289" y="5143500"/>
                </a:lnTo>
                <a:cubicBezTo>
                  <a:pt x="51211" y="5143500"/>
                  <a:pt x="0" y="5092289"/>
                  <a:pt x="0" y="50292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100000">
                <a:srgbClr val="8FA89B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27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4625" y="16478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24" name="Text 22"/>
          <p:cNvSpPr/>
          <p:nvPr/>
        </p:nvSpPr>
        <p:spPr>
          <a:xfrm>
            <a:off x="7010400" y="1619250"/>
            <a:ext cx="1857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商业模式亮点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2700" y="2209800"/>
            <a:ext cx="5257800" cy="762000"/>
          </a:xfrm>
          <a:custGeom>
            <a:avLst/>
            <a:gdLst/>
            <a:ahLst/>
            <a:cxnLst/>
            <a:rect l="l" t="t" r="r" b="b"/>
            <a:pathLst>
              <a:path w="5257800" h="762000">
                <a:moveTo>
                  <a:pt x="76200" y="0"/>
                </a:moveTo>
                <a:lnTo>
                  <a:pt x="5181600" y="0"/>
                </a:lnTo>
                <a:cubicBezTo>
                  <a:pt x="5223656" y="0"/>
                  <a:pt x="5257800" y="34144"/>
                  <a:pt x="5257800" y="76200"/>
                </a:cubicBezTo>
                <a:lnTo>
                  <a:pt x="5257800" y="685800"/>
                </a:lnTo>
                <a:cubicBezTo>
                  <a:pt x="5257800" y="727856"/>
                  <a:pt x="5223656" y="762000"/>
                  <a:pt x="51816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77000" y="236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7" name="Text 25"/>
          <p:cNvSpPr/>
          <p:nvPr/>
        </p:nvSpPr>
        <p:spPr>
          <a:xfrm>
            <a:off x="6599411" y="24003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6100" y="2324100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线下为核心渠道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96100" y="262890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无需依赖线上商城体验购物,实体门店提供沉浸式购物体验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2700" y="3086100"/>
            <a:ext cx="5257800" cy="762000"/>
          </a:xfrm>
          <a:custGeom>
            <a:avLst/>
            <a:gdLst/>
            <a:ahLst/>
            <a:cxnLst/>
            <a:rect l="l" t="t" r="r" b="b"/>
            <a:pathLst>
              <a:path w="5257800" h="762000">
                <a:moveTo>
                  <a:pt x="76200" y="0"/>
                </a:moveTo>
                <a:lnTo>
                  <a:pt x="5181600" y="0"/>
                </a:lnTo>
                <a:cubicBezTo>
                  <a:pt x="5223656" y="0"/>
                  <a:pt x="5257800" y="34144"/>
                  <a:pt x="5257800" y="76200"/>
                </a:cubicBezTo>
                <a:lnTo>
                  <a:pt x="5257800" y="685800"/>
                </a:lnTo>
                <a:cubicBezTo>
                  <a:pt x="5257800" y="727856"/>
                  <a:pt x="5223656" y="762000"/>
                  <a:pt x="51816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0" y="323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6538" y="32766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6100" y="3200400"/>
            <a:ext cx="440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线下特卖/闪购节奏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96100" y="3505200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常态化大牌折扣和每周上新活动驱动到店流量,保持消费者新鲜感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2700" y="3962400"/>
            <a:ext cx="5257800" cy="762000"/>
          </a:xfrm>
          <a:custGeom>
            <a:avLst/>
            <a:gdLst/>
            <a:ahLst/>
            <a:cxnLst/>
            <a:rect l="l" t="t" r="r" b="b"/>
            <a:pathLst>
              <a:path w="5257800" h="762000">
                <a:moveTo>
                  <a:pt x="76200" y="0"/>
                </a:moveTo>
                <a:lnTo>
                  <a:pt x="5181600" y="0"/>
                </a:lnTo>
                <a:cubicBezTo>
                  <a:pt x="5223656" y="0"/>
                  <a:pt x="5257800" y="34144"/>
                  <a:pt x="5257800" y="76200"/>
                </a:cubicBezTo>
                <a:lnTo>
                  <a:pt x="5257800" y="685800"/>
                </a:lnTo>
                <a:cubicBezTo>
                  <a:pt x="5257800" y="727856"/>
                  <a:pt x="5223656" y="762000"/>
                  <a:pt x="51816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4114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37" name="Text 35"/>
          <p:cNvSpPr/>
          <p:nvPr/>
        </p:nvSpPr>
        <p:spPr>
          <a:xfrm>
            <a:off x="6584528" y="41529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96100" y="4076700"/>
            <a:ext cx="413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寻宝式消费体验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96100" y="43815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多品牌折扣商品集聚,提升消费者探索购买欲,增强购物趣味性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全球竞品概览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8家核心竞争对手的市场分布与业态特征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0000"/>
            <a:ext cx="6886575" cy="5219700"/>
          </a:xfrm>
          <a:custGeom>
            <a:avLst/>
            <a:gdLst/>
            <a:ahLst/>
            <a:cxnLst/>
            <a:rect l="l" t="t" r="r" b="b"/>
            <a:pathLst>
              <a:path w="6886575" h="5219700">
                <a:moveTo>
                  <a:pt x="114311" y="0"/>
                </a:moveTo>
                <a:lnTo>
                  <a:pt x="6772264" y="0"/>
                </a:lnTo>
                <a:cubicBezTo>
                  <a:pt x="6835396" y="0"/>
                  <a:pt x="6886575" y="51179"/>
                  <a:pt x="6886575" y="114311"/>
                </a:cubicBezTo>
                <a:lnTo>
                  <a:pt x="6886575" y="5105389"/>
                </a:lnTo>
                <a:cubicBezTo>
                  <a:pt x="6886575" y="5168521"/>
                  <a:pt x="6835396" y="5219700"/>
                  <a:pt x="6772264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21910" y="1257300"/>
            <a:ext cx="4391025" cy="1104900"/>
          </a:xfrm>
          <a:custGeom>
            <a:avLst/>
            <a:gdLst/>
            <a:ahLst/>
            <a:cxnLst/>
            <a:rect l="l" t="t" r="r" b="b"/>
            <a:pathLst>
              <a:path w="4391025" h="1104900">
                <a:moveTo>
                  <a:pt x="114302" y="0"/>
                </a:moveTo>
                <a:lnTo>
                  <a:pt x="4276723" y="0"/>
                </a:lnTo>
                <a:cubicBezTo>
                  <a:pt x="4339850" y="0"/>
                  <a:pt x="4391025" y="51175"/>
                  <a:pt x="4391025" y="114302"/>
                </a:cubicBezTo>
                <a:lnTo>
                  <a:pt x="4391025" y="990598"/>
                </a:lnTo>
                <a:cubicBezTo>
                  <a:pt x="4391025" y="1053725"/>
                  <a:pt x="4339850" y="1104900"/>
                  <a:pt x="427672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100000">
                <a:srgbClr val="8FA89B"/>
              </a:gs>
            </a:gsLst>
            <a:lin ang="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64785" y="140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4869" y="89163"/>
                </a:moveTo>
                <a:lnTo>
                  <a:pt x="38666" y="102959"/>
                </a:lnTo>
                <a:cubicBezTo>
                  <a:pt x="41344" y="105638"/>
                  <a:pt x="44961" y="107156"/>
                  <a:pt x="48756" y="107156"/>
                </a:cubicBezTo>
                <a:lnTo>
                  <a:pt x="58356" y="107156"/>
                </a:lnTo>
                <a:cubicBezTo>
                  <a:pt x="62151" y="107156"/>
                  <a:pt x="65767" y="108674"/>
                  <a:pt x="68446" y="111353"/>
                </a:cubicBezTo>
                <a:lnTo>
                  <a:pt x="81528" y="124435"/>
                </a:lnTo>
                <a:cubicBezTo>
                  <a:pt x="84207" y="127114"/>
                  <a:pt x="85725" y="130731"/>
                  <a:pt x="85725" y="134526"/>
                </a:cubicBezTo>
                <a:lnTo>
                  <a:pt x="85725" y="151269"/>
                </a:lnTo>
                <a:cubicBezTo>
                  <a:pt x="85725" y="155064"/>
                  <a:pt x="87243" y="158681"/>
                  <a:pt x="89922" y="161359"/>
                </a:cubicBezTo>
                <a:lnTo>
                  <a:pt x="95860" y="167298"/>
                </a:lnTo>
                <a:cubicBezTo>
                  <a:pt x="98539" y="169977"/>
                  <a:pt x="100057" y="173593"/>
                  <a:pt x="100057" y="177388"/>
                </a:cubicBezTo>
                <a:lnTo>
                  <a:pt x="100057" y="185738"/>
                </a:lnTo>
                <a:cubicBezTo>
                  <a:pt x="100057" y="193640"/>
                  <a:pt x="106442" y="200025"/>
                  <a:pt x="114345" y="200025"/>
                </a:cubicBezTo>
                <a:cubicBezTo>
                  <a:pt x="122247" y="200025"/>
                  <a:pt x="128632" y="193640"/>
                  <a:pt x="128632" y="185738"/>
                </a:cubicBezTo>
                <a:lnTo>
                  <a:pt x="128632" y="184532"/>
                </a:lnTo>
                <a:cubicBezTo>
                  <a:pt x="128632" y="180737"/>
                  <a:pt x="130150" y="177120"/>
                  <a:pt x="132829" y="174441"/>
                </a:cubicBezTo>
                <a:lnTo>
                  <a:pt x="153055" y="154216"/>
                </a:lnTo>
                <a:cubicBezTo>
                  <a:pt x="155734" y="151537"/>
                  <a:pt x="157252" y="147920"/>
                  <a:pt x="157252" y="144125"/>
                </a:cubicBezTo>
                <a:lnTo>
                  <a:pt x="157252" y="128632"/>
                </a:lnTo>
                <a:cubicBezTo>
                  <a:pt x="157252" y="120729"/>
                  <a:pt x="150867" y="114345"/>
                  <a:pt x="142964" y="114345"/>
                </a:cubicBezTo>
                <a:lnTo>
                  <a:pt x="106040" y="114345"/>
                </a:lnTo>
                <a:cubicBezTo>
                  <a:pt x="102245" y="114345"/>
                  <a:pt x="98628" y="112827"/>
                  <a:pt x="95949" y="110148"/>
                </a:cubicBezTo>
                <a:lnTo>
                  <a:pt x="88806" y="103004"/>
                </a:lnTo>
                <a:cubicBezTo>
                  <a:pt x="86931" y="101129"/>
                  <a:pt x="85859" y="98539"/>
                  <a:pt x="85859" y="95860"/>
                </a:cubicBezTo>
                <a:cubicBezTo>
                  <a:pt x="85859" y="90279"/>
                  <a:pt x="90368" y="85770"/>
                  <a:pt x="95949" y="85770"/>
                </a:cubicBezTo>
                <a:lnTo>
                  <a:pt x="111443" y="85770"/>
                </a:lnTo>
                <a:cubicBezTo>
                  <a:pt x="117024" y="85770"/>
                  <a:pt x="121533" y="81260"/>
                  <a:pt x="121533" y="75679"/>
                </a:cubicBezTo>
                <a:cubicBezTo>
                  <a:pt x="121533" y="73000"/>
                  <a:pt x="120461" y="70411"/>
                  <a:pt x="118586" y="68535"/>
                </a:cubicBezTo>
                <a:lnTo>
                  <a:pt x="109791" y="59740"/>
                </a:lnTo>
                <a:cubicBezTo>
                  <a:pt x="108049" y="58043"/>
                  <a:pt x="107156" y="55855"/>
                  <a:pt x="107156" y="53578"/>
                </a:cubicBezTo>
                <a:cubicBezTo>
                  <a:pt x="107156" y="51301"/>
                  <a:pt x="108049" y="49113"/>
                  <a:pt x="109701" y="47461"/>
                </a:cubicBezTo>
                <a:lnTo>
                  <a:pt x="117425" y="39737"/>
                </a:lnTo>
                <a:cubicBezTo>
                  <a:pt x="120015" y="37148"/>
                  <a:pt x="121488" y="33620"/>
                  <a:pt x="121488" y="29959"/>
                </a:cubicBezTo>
                <a:cubicBezTo>
                  <a:pt x="121488" y="26744"/>
                  <a:pt x="120417" y="23842"/>
                  <a:pt x="118631" y="21521"/>
                </a:cubicBezTo>
                <a:cubicBezTo>
                  <a:pt x="117202" y="21476"/>
                  <a:pt x="115773" y="21431"/>
                  <a:pt x="114345" y="21431"/>
                </a:cubicBezTo>
                <a:cubicBezTo>
                  <a:pt x="71750" y="21431"/>
                  <a:pt x="35897" y="50096"/>
                  <a:pt x="24914" y="89163"/>
                </a:cubicBezTo>
                <a:close/>
                <a:moveTo>
                  <a:pt x="207169" y="114300"/>
                </a:moveTo>
                <a:cubicBezTo>
                  <a:pt x="207169" y="98852"/>
                  <a:pt x="203418" y="84296"/>
                  <a:pt x="196721" y="71527"/>
                </a:cubicBezTo>
                <a:cubicBezTo>
                  <a:pt x="193864" y="71929"/>
                  <a:pt x="191051" y="73268"/>
                  <a:pt x="188729" y="75590"/>
                </a:cubicBezTo>
                <a:lnTo>
                  <a:pt x="182746" y="81573"/>
                </a:lnTo>
                <a:cubicBezTo>
                  <a:pt x="180067" y="84252"/>
                  <a:pt x="178549" y="87868"/>
                  <a:pt x="178549" y="91663"/>
                </a:cubicBezTo>
                <a:lnTo>
                  <a:pt x="178549" y="107156"/>
                </a:lnTo>
                <a:cubicBezTo>
                  <a:pt x="178549" y="115059"/>
                  <a:pt x="184934" y="121444"/>
                  <a:pt x="192837" y="121444"/>
                </a:cubicBezTo>
                <a:lnTo>
                  <a:pt x="203597" y="121444"/>
                </a:lnTo>
                <a:cubicBezTo>
                  <a:pt x="204713" y="121444"/>
                  <a:pt x="205829" y="121310"/>
                  <a:pt x="206856" y="121087"/>
                </a:cubicBezTo>
                <a:cubicBezTo>
                  <a:pt x="207035" y="118854"/>
                  <a:pt x="207079" y="116577"/>
                  <a:pt x="207079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8" name="Text 6"/>
          <p:cNvSpPr/>
          <p:nvPr/>
        </p:nvSpPr>
        <p:spPr>
          <a:xfrm>
            <a:off x="7898160" y="1371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北美市场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36210" y="17526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TJX: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1977年成立,off-price折扣卖场龙头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36210" y="20193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Rue Gilt Groupe: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2007-2008年创立,线上限时闪购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1910" y="2438400"/>
            <a:ext cx="4391025" cy="838200"/>
          </a:xfrm>
          <a:custGeom>
            <a:avLst/>
            <a:gdLst/>
            <a:ahLst/>
            <a:cxnLst/>
            <a:rect l="l" t="t" r="r" b="b"/>
            <a:pathLst>
              <a:path w="4391025" h="838200">
                <a:moveTo>
                  <a:pt x="114297" y="0"/>
                </a:moveTo>
                <a:lnTo>
                  <a:pt x="4276728" y="0"/>
                </a:lnTo>
                <a:cubicBezTo>
                  <a:pt x="4339853" y="0"/>
                  <a:pt x="4391025" y="51172"/>
                  <a:pt x="4391025" y="114297"/>
                </a:cubicBezTo>
                <a:lnTo>
                  <a:pt x="4391025" y="723903"/>
                </a:lnTo>
                <a:cubicBezTo>
                  <a:pt x="4391025" y="787028"/>
                  <a:pt x="4339853" y="838200"/>
                  <a:pt x="42767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8FA89B"/>
              </a:gs>
              <a:gs pos="100000">
                <a:srgbClr val="3A6B5F"/>
              </a:gs>
            </a:gsLst>
            <a:lin ang="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64785" y="2590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89" y="21431"/>
                </a:moveTo>
                <a:cubicBezTo>
                  <a:pt x="165646" y="21476"/>
                  <a:pt x="207169" y="63044"/>
                  <a:pt x="207169" y="114300"/>
                </a:cubicBezTo>
                <a:cubicBezTo>
                  <a:pt x="207169" y="124167"/>
                  <a:pt x="205651" y="133677"/>
                  <a:pt x="202793" y="142607"/>
                </a:cubicBezTo>
                <a:cubicBezTo>
                  <a:pt x="201900" y="142786"/>
                  <a:pt x="200963" y="142875"/>
                  <a:pt x="200025" y="142875"/>
                </a:cubicBezTo>
                <a:lnTo>
                  <a:pt x="198819" y="142875"/>
                </a:lnTo>
                <a:cubicBezTo>
                  <a:pt x="195024" y="142875"/>
                  <a:pt x="191408" y="141357"/>
                  <a:pt x="188729" y="138678"/>
                </a:cubicBezTo>
                <a:lnTo>
                  <a:pt x="175647" y="125596"/>
                </a:lnTo>
                <a:cubicBezTo>
                  <a:pt x="172968" y="122917"/>
                  <a:pt x="171450" y="119301"/>
                  <a:pt x="171450" y="115506"/>
                </a:cubicBezTo>
                <a:lnTo>
                  <a:pt x="171450" y="92869"/>
                </a:lnTo>
                <a:cubicBezTo>
                  <a:pt x="171450" y="88940"/>
                  <a:pt x="174665" y="85725"/>
                  <a:pt x="178594" y="85725"/>
                </a:cubicBezTo>
                <a:cubicBezTo>
                  <a:pt x="182523" y="85725"/>
                  <a:pt x="185738" y="82510"/>
                  <a:pt x="185738" y="78581"/>
                </a:cubicBezTo>
                <a:cubicBezTo>
                  <a:pt x="185738" y="74652"/>
                  <a:pt x="182523" y="71438"/>
                  <a:pt x="178594" y="71438"/>
                </a:cubicBezTo>
                <a:lnTo>
                  <a:pt x="167878" y="71438"/>
                </a:lnTo>
                <a:cubicBezTo>
                  <a:pt x="161940" y="71438"/>
                  <a:pt x="157163" y="76215"/>
                  <a:pt x="157163" y="82153"/>
                </a:cubicBezTo>
                <a:cubicBezTo>
                  <a:pt x="157163" y="88091"/>
                  <a:pt x="152385" y="92869"/>
                  <a:pt x="146447" y="92869"/>
                </a:cubicBezTo>
                <a:lnTo>
                  <a:pt x="121444" y="92869"/>
                </a:lnTo>
                <a:cubicBezTo>
                  <a:pt x="117515" y="92869"/>
                  <a:pt x="114300" y="96083"/>
                  <a:pt x="114300" y="100013"/>
                </a:cubicBezTo>
                <a:cubicBezTo>
                  <a:pt x="114300" y="103942"/>
                  <a:pt x="111085" y="107156"/>
                  <a:pt x="107156" y="107156"/>
                </a:cubicBezTo>
                <a:lnTo>
                  <a:pt x="95816" y="107156"/>
                </a:lnTo>
                <a:cubicBezTo>
                  <a:pt x="90234" y="107156"/>
                  <a:pt x="85725" y="102647"/>
                  <a:pt x="85725" y="97066"/>
                </a:cubicBezTo>
                <a:cubicBezTo>
                  <a:pt x="85725" y="94387"/>
                  <a:pt x="86797" y="91797"/>
                  <a:pt x="88672" y="89922"/>
                </a:cubicBezTo>
                <a:lnTo>
                  <a:pt x="119970" y="58623"/>
                </a:lnTo>
                <a:cubicBezTo>
                  <a:pt x="120908" y="57686"/>
                  <a:pt x="121444" y="56391"/>
                  <a:pt x="121444" y="55052"/>
                </a:cubicBezTo>
                <a:cubicBezTo>
                  <a:pt x="121444" y="52283"/>
                  <a:pt x="119167" y="50006"/>
                  <a:pt x="116398" y="50006"/>
                </a:cubicBezTo>
                <a:lnTo>
                  <a:pt x="110103" y="50006"/>
                </a:lnTo>
                <a:cubicBezTo>
                  <a:pt x="104522" y="50006"/>
                  <a:pt x="100013" y="45497"/>
                  <a:pt x="100013" y="39916"/>
                </a:cubicBezTo>
                <a:cubicBezTo>
                  <a:pt x="100013" y="37237"/>
                  <a:pt x="101084" y="34647"/>
                  <a:pt x="102959" y="32772"/>
                </a:cubicBezTo>
                <a:lnTo>
                  <a:pt x="113273" y="22458"/>
                </a:lnTo>
                <a:cubicBezTo>
                  <a:pt x="113630" y="22101"/>
                  <a:pt x="113987" y="21788"/>
                  <a:pt x="114389" y="21476"/>
                </a:cubicBezTo>
                <a:close/>
                <a:moveTo>
                  <a:pt x="195739" y="158993"/>
                </a:moveTo>
                <a:cubicBezTo>
                  <a:pt x="181094" y="185604"/>
                  <a:pt x="153814" y="204267"/>
                  <a:pt x="121980" y="206856"/>
                </a:cubicBezTo>
                <a:cubicBezTo>
                  <a:pt x="121667" y="205829"/>
                  <a:pt x="121488" y="204713"/>
                  <a:pt x="121488" y="203597"/>
                </a:cubicBezTo>
                <a:cubicBezTo>
                  <a:pt x="121488" y="197659"/>
                  <a:pt x="116711" y="192881"/>
                  <a:pt x="110773" y="192881"/>
                </a:cubicBezTo>
                <a:lnTo>
                  <a:pt x="98852" y="192881"/>
                </a:lnTo>
                <a:cubicBezTo>
                  <a:pt x="95057" y="192881"/>
                  <a:pt x="91440" y="191363"/>
                  <a:pt x="88761" y="188684"/>
                </a:cubicBezTo>
                <a:lnTo>
                  <a:pt x="75679" y="175602"/>
                </a:lnTo>
                <a:cubicBezTo>
                  <a:pt x="73000" y="172923"/>
                  <a:pt x="71482" y="169307"/>
                  <a:pt x="71482" y="165512"/>
                </a:cubicBezTo>
                <a:lnTo>
                  <a:pt x="71482" y="135731"/>
                </a:lnTo>
                <a:cubicBezTo>
                  <a:pt x="71482" y="127828"/>
                  <a:pt x="77867" y="121444"/>
                  <a:pt x="85770" y="121444"/>
                </a:cubicBezTo>
                <a:lnTo>
                  <a:pt x="129838" y="121444"/>
                </a:lnTo>
                <a:cubicBezTo>
                  <a:pt x="133633" y="121444"/>
                  <a:pt x="137249" y="122962"/>
                  <a:pt x="139928" y="125641"/>
                </a:cubicBezTo>
                <a:lnTo>
                  <a:pt x="153010" y="138723"/>
                </a:lnTo>
                <a:cubicBezTo>
                  <a:pt x="155689" y="141402"/>
                  <a:pt x="159306" y="142920"/>
                  <a:pt x="163101" y="142920"/>
                </a:cubicBezTo>
                <a:lnTo>
                  <a:pt x="165556" y="142920"/>
                </a:lnTo>
                <a:cubicBezTo>
                  <a:pt x="169352" y="142920"/>
                  <a:pt x="172968" y="144438"/>
                  <a:pt x="175647" y="147117"/>
                </a:cubicBezTo>
                <a:lnTo>
                  <a:pt x="182791" y="154260"/>
                </a:lnTo>
                <a:cubicBezTo>
                  <a:pt x="184666" y="156136"/>
                  <a:pt x="187256" y="157207"/>
                  <a:pt x="189934" y="157207"/>
                </a:cubicBezTo>
                <a:cubicBezTo>
                  <a:pt x="192078" y="157207"/>
                  <a:pt x="194087" y="157877"/>
                  <a:pt x="195739" y="159038"/>
                </a:cubicBezTo>
                <a:close/>
                <a:moveTo>
                  <a:pt x="114300" y="228600"/>
                </a:moveTo>
                <a:lnTo>
                  <a:pt x="125998" y="228020"/>
                </a:lnTo>
                <a:cubicBezTo>
                  <a:pt x="122158" y="228421"/>
                  <a:pt x="118274" y="228600"/>
                  <a:pt x="114300" y="228600"/>
                </a:cubicBezTo>
                <a:close/>
                <a:moveTo>
                  <a:pt x="125998" y="228020"/>
                </a:moveTo>
                <a:cubicBezTo>
                  <a:pt x="183639" y="222171"/>
                  <a:pt x="228600" y="173504"/>
                  <a:pt x="228600" y="114300"/>
                </a:cubicBezTo>
                <a:cubicBezTo>
                  <a:pt x="228600" y="51167"/>
                  <a:pt x="177433" y="0"/>
                  <a:pt x="114300" y="0"/>
                </a:cubicBezTo>
                <a:lnTo>
                  <a:pt x="114300" y="0"/>
                </a:lnTo>
                <a:cubicBezTo>
                  <a:pt x="51167" y="0"/>
                  <a:pt x="0" y="51167"/>
                  <a:pt x="0" y="114300"/>
                </a:cubicBezTo>
                <a:cubicBezTo>
                  <a:pt x="0" y="171227"/>
                  <a:pt x="41612" y="218465"/>
                  <a:pt x="96128" y="227171"/>
                </a:cubicBezTo>
                <a:cubicBezTo>
                  <a:pt x="102022" y="228109"/>
                  <a:pt x="108094" y="228600"/>
                  <a:pt x="114300" y="228600"/>
                </a:cubicBezTo>
                <a:close/>
                <a:moveTo>
                  <a:pt x="83627" y="55052"/>
                </a:moveTo>
                <a:lnTo>
                  <a:pt x="69339" y="69339"/>
                </a:lnTo>
                <a:cubicBezTo>
                  <a:pt x="66571" y="72107"/>
                  <a:pt x="62017" y="72107"/>
                  <a:pt x="59248" y="69339"/>
                </a:cubicBezTo>
                <a:cubicBezTo>
                  <a:pt x="56480" y="66571"/>
                  <a:pt x="56480" y="62017"/>
                  <a:pt x="59248" y="59248"/>
                </a:cubicBezTo>
                <a:lnTo>
                  <a:pt x="73536" y="44961"/>
                </a:lnTo>
                <a:cubicBezTo>
                  <a:pt x="76304" y="42193"/>
                  <a:pt x="80858" y="42193"/>
                  <a:pt x="83627" y="44961"/>
                </a:cubicBezTo>
                <a:cubicBezTo>
                  <a:pt x="86395" y="47729"/>
                  <a:pt x="86395" y="52283"/>
                  <a:pt x="83627" y="55052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3" name="Text 11"/>
          <p:cNvSpPr/>
          <p:nvPr/>
        </p:nvSpPr>
        <p:spPr>
          <a:xfrm>
            <a:off x="7898160" y="25527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欧洲市场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36210" y="29337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Veepee: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2001年法国创立,欧洲闪购先驱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1910" y="3352800"/>
            <a:ext cx="4391025" cy="1905000"/>
          </a:xfrm>
          <a:custGeom>
            <a:avLst/>
            <a:gdLst/>
            <a:ahLst/>
            <a:cxnLst/>
            <a:rect l="l" t="t" r="r" b="b"/>
            <a:pathLst>
              <a:path w="4391025" h="1905000">
                <a:moveTo>
                  <a:pt x="114300" y="0"/>
                </a:moveTo>
                <a:lnTo>
                  <a:pt x="4276725" y="0"/>
                </a:lnTo>
                <a:cubicBezTo>
                  <a:pt x="4339809" y="0"/>
                  <a:pt x="4391025" y="51216"/>
                  <a:pt x="4391025" y="114300"/>
                </a:cubicBezTo>
                <a:lnTo>
                  <a:pt x="4391025" y="1790700"/>
                </a:lnTo>
                <a:cubicBezTo>
                  <a:pt x="4391025" y="1853784"/>
                  <a:pt x="4339809" y="1905000"/>
                  <a:pt x="4276725" y="1905000"/>
                </a:cubicBezTo>
                <a:lnTo>
                  <a:pt x="114300" y="1905000"/>
                </a:lnTo>
                <a:cubicBezTo>
                  <a:pt x="51216" y="1905000"/>
                  <a:pt x="0" y="1853784"/>
                  <a:pt x="0" y="1790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/>
              </a:gs>
              <a:gs pos="100000">
                <a:srgbClr val="8FA89B"/>
              </a:gs>
            </a:gsLst>
            <a:lin ang="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64785" y="350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324" y="127159"/>
                </a:moveTo>
                <a:cubicBezTo>
                  <a:pt x="24199" y="128096"/>
                  <a:pt x="26343" y="128588"/>
                  <a:pt x="28575" y="128588"/>
                </a:cubicBezTo>
                <a:lnTo>
                  <a:pt x="51212" y="128588"/>
                </a:lnTo>
                <a:cubicBezTo>
                  <a:pt x="55007" y="128588"/>
                  <a:pt x="58623" y="130106"/>
                  <a:pt x="61302" y="132784"/>
                </a:cubicBezTo>
                <a:lnTo>
                  <a:pt x="67241" y="138723"/>
                </a:lnTo>
                <a:cubicBezTo>
                  <a:pt x="69919" y="141402"/>
                  <a:pt x="73536" y="142920"/>
                  <a:pt x="77331" y="142920"/>
                </a:cubicBezTo>
                <a:lnTo>
                  <a:pt x="85680" y="142920"/>
                </a:lnTo>
                <a:cubicBezTo>
                  <a:pt x="93583" y="142920"/>
                  <a:pt x="99968" y="136535"/>
                  <a:pt x="99968" y="128632"/>
                </a:cubicBezTo>
                <a:lnTo>
                  <a:pt x="99968" y="110773"/>
                </a:lnTo>
                <a:cubicBezTo>
                  <a:pt x="99968" y="104835"/>
                  <a:pt x="104745" y="100057"/>
                  <a:pt x="110683" y="100057"/>
                </a:cubicBezTo>
                <a:cubicBezTo>
                  <a:pt x="116622" y="100057"/>
                  <a:pt x="121399" y="95280"/>
                  <a:pt x="121399" y="89342"/>
                </a:cubicBezTo>
                <a:lnTo>
                  <a:pt x="121399" y="70277"/>
                </a:lnTo>
                <a:cubicBezTo>
                  <a:pt x="121399" y="66482"/>
                  <a:pt x="122917" y="62865"/>
                  <a:pt x="125596" y="60186"/>
                </a:cubicBezTo>
                <a:lnTo>
                  <a:pt x="131534" y="54248"/>
                </a:lnTo>
                <a:cubicBezTo>
                  <a:pt x="134213" y="51569"/>
                  <a:pt x="135731" y="47952"/>
                  <a:pt x="135731" y="44157"/>
                </a:cubicBezTo>
                <a:lnTo>
                  <a:pt x="135731" y="25450"/>
                </a:lnTo>
                <a:cubicBezTo>
                  <a:pt x="135731" y="24914"/>
                  <a:pt x="135687" y="24423"/>
                  <a:pt x="135642" y="23887"/>
                </a:cubicBezTo>
                <a:cubicBezTo>
                  <a:pt x="128766" y="22280"/>
                  <a:pt x="121622" y="21431"/>
                  <a:pt x="114300" y="21431"/>
                </a:cubicBezTo>
                <a:cubicBezTo>
                  <a:pt x="62999" y="21431"/>
                  <a:pt x="21431" y="62999"/>
                  <a:pt x="21431" y="114300"/>
                </a:cubicBezTo>
                <a:cubicBezTo>
                  <a:pt x="21431" y="118676"/>
                  <a:pt x="21744" y="122962"/>
                  <a:pt x="22324" y="127159"/>
                </a:cubicBezTo>
                <a:close/>
                <a:moveTo>
                  <a:pt x="202391" y="143813"/>
                </a:moveTo>
                <a:cubicBezTo>
                  <a:pt x="200963" y="143188"/>
                  <a:pt x="199400" y="142875"/>
                  <a:pt x="197703" y="142875"/>
                </a:cubicBezTo>
                <a:lnTo>
                  <a:pt x="192881" y="142875"/>
                </a:lnTo>
                <a:cubicBezTo>
                  <a:pt x="188952" y="142875"/>
                  <a:pt x="185738" y="139660"/>
                  <a:pt x="185738" y="135731"/>
                </a:cubicBezTo>
                <a:cubicBezTo>
                  <a:pt x="185738" y="131802"/>
                  <a:pt x="182523" y="128588"/>
                  <a:pt x="178594" y="128588"/>
                </a:cubicBezTo>
                <a:lnTo>
                  <a:pt x="163101" y="128588"/>
                </a:lnTo>
                <a:cubicBezTo>
                  <a:pt x="159306" y="128588"/>
                  <a:pt x="155689" y="130106"/>
                  <a:pt x="153010" y="132784"/>
                </a:cubicBezTo>
                <a:lnTo>
                  <a:pt x="132784" y="153010"/>
                </a:lnTo>
                <a:cubicBezTo>
                  <a:pt x="130106" y="155689"/>
                  <a:pt x="128588" y="159306"/>
                  <a:pt x="128588" y="163101"/>
                </a:cubicBezTo>
                <a:lnTo>
                  <a:pt x="128588" y="171450"/>
                </a:lnTo>
                <a:cubicBezTo>
                  <a:pt x="128588" y="179353"/>
                  <a:pt x="134972" y="185738"/>
                  <a:pt x="142875" y="185738"/>
                </a:cubicBezTo>
                <a:lnTo>
                  <a:pt x="151224" y="185738"/>
                </a:lnTo>
                <a:cubicBezTo>
                  <a:pt x="155019" y="185738"/>
                  <a:pt x="158636" y="187256"/>
                  <a:pt x="161315" y="189934"/>
                </a:cubicBezTo>
                <a:cubicBezTo>
                  <a:pt x="162297" y="190917"/>
                  <a:pt x="163413" y="191765"/>
                  <a:pt x="164574" y="192390"/>
                </a:cubicBezTo>
                <a:cubicBezTo>
                  <a:pt x="182121" y="181049"/>
                  <a:pt x="195605" y="163994"/>
                  <a:pt x="202347" y="143813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57150" y="164306"/>
                </a:moveTo>
                <a:cubicBezTo>
                  <a:pt x="57150" y="168235"/>
                  <a:pt x="60365" y="171450"/>
                  <a:pt x="64294" y="171450"/>
                </a:cubicBezTo>
                <a:lnTo>
                  <a:pt x="78581" y="171450"/>
                </a:lnTo>
                <a:cubicBezTo>
                  <a:pt x="82510" y="171450"/>
                  <a:pt x="85725" y="168235"/>
                  <a:pt x="85725" y="164306"/>
                </a:cubicBezTo>
                <a:cubicBezTo>
                  <a:pt x="85725" y="160377"/>
                  <a:pt x="82510" y="157163"/>
                  <a:pt x="78581" y="157163"/>
                </a:cubicBezTo>
                <a:lnTo>
                  <a:pt x="64294" y="157163"/>
                </a:lnTo>
                <a:cubicBezTo>
                  <a:pt x="60365" y="157163"/>
                  <a:pt x="57150" y="160377"/>
                  <a:pt x="57150" y="164306"/>
                </a:cubicBezTo>
                <a:close/>
                <a:moveTo>
                  <a:pt x="121444" y="114300"/>
                </a:moveTo>
                <a:cubicBezTo>
                  <a:pt x="117515" y="114300"/>
                  <a:pt x="114300" y="117515"/>
                  <a:pt x="114300" y="121444"/>
                </a:cubicBezTo>
                <a:lnTo>
                  <a:pt x="114300" y="135731"/>
                </a:lnTo>
                <a:cubicBezTo>
                  <a:pt x="114300" y="139660"/>
                  <a:pt x="117515" y="142875"/>
                  <a:pt x="121444" y="142875"/>
                </a:cubicBezTo>
                <a:cubicBezTo>
                  <a:pt x="125373" y="142875"/>
                  <a:pt x="128588" y="139660"/>
                  <a:pt x="128588" y="135731"/>
                </a:cubicBezTo>
                <a:lnTo>
                  <a:pt x="128588" y="121444"/>
                </a:lnTo>
                <a:cubicBezTo>
                  <a:pt x="128588" y="117515"/>
                  <a:pt x="125373" y="114300"/>
                  <a:pt x="121444" y="114300"/>
                </a:cubicBezTo>
                <a:close/>
                <a:moveTo>
                  <a:pt x="142875" y="64294"/>
                </a:moveTo>
                <a:lnTo>
                  <a:pt x="142875" y="78581"/>
                </a:lnTo>
                <a:cubicBezTo>
                  <a:pt x="142875" y="82510"/>
                  <a:pt x="146090" y="85725"/>
                  <a:pt x="150019" y="85725"/>
                </a:cubicBezTo>
                <a:cubicBezTo>
                  <a:pt x="153948" y="85725"/>
                  <a:pt x="157163" y="82510"/>
                  <a:pt x="157163" y="78581"/>
                </a:cubicBezTo>
                <a:lnTo>
                  <a:pt x="157163" y="64294"/>
                </a:lnTo>
                <a:cubicBezTo>
                  <a:pt x="157163" y="60365"/>
                  <a:pt x="153948" y="57150"/>
                  <a:pt x="150019" y="57150"/>
                </a:cubicBezTo>
                <a:cubicBezTo>
                  <a:pt x="146090" y="57150"/>
                  <a:pt x="142875" y="60365"/>
                  <a:pt x="142875" y="64294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7898160" y="34671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中国市场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36210" y="38481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唯品会: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2008年成立,线上特卖龙头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36210" y="41148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荟品仓: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2018年成立,O2O仓储特卖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36210" y="43815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京东奥莱: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2024年启动,全渠道奥莱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36210" y="46482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BIGOFFS: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超级折扣仓储卖场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36210" y="49149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尚列: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2016年香港成立,快闪平台</a:t>
            </a:r>
            <a:endParaRPr lang="en-US" sz="1600" dirty="0"/>
          </a:p>
        </p:txBody>
      </p:sp>
      <p:pic>
        <p:nvPicPr>
          <p:cNvPr id="23" name="Image 0" descr="https://kimi-img.moonshot.cn/pub/slides/26-02-03-16:17:34-d60qu7nk67eakr4r8j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70000"/>
            <a:ext cx="6886575" cy="516493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296" y="376296"/>
            <a:ext cx="56444" cy="376296"/>
          </a:xfrm>
          <a:custGeom>
            <a:avLst/>
            <a:gdLst/>
            <a:ahLst/>
            <a:cxnLst/>
            <a:rect l="l" t="t" r="r" b="b"/>
            <a:pathLst>
              <a:path w="56444" h="376296">
                <a:moveTo>
                  <a:pt x="0" y="0"/>
                </a:moveTo>
                <a:lnTo>
                  <a:pt x="56444" y="0"/>
                </a:lnTo>
                <a:lnTo>
                  <a:pt x="56444" y="376296"/>
                </a:lnTo>
                <a:lnTo>
                  <a:pt x="0" y="376296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45630" y="376296"/>
            <a:ext cx="4957704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北美市场标杆:TJX Companies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4444" y="790222"/>
            <a:ext cx="11335926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全球off-price折扣卖场的开创者与领导者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6296" y="1147704"/>
            <a:ext cx="4506148" cy="1599259"/>
          </a:xfrm>
          <a:custGeom>
            <a:avLst/>
            <a:gdLst/>
            <a:ahLst/>
            <a:cxnLst/>
            <a:rect l="l" t="t" r="r" b="b"/>
            <a:pathLst>
              <a:path w="4506148" h="1599259">
                <a:moveTo>
                  <a:pt x="37630" y="0"/>
                </a:moveTo>
                <a:lnTo>
                  <a:pt x="4468519" y="0"/>
                </a:lnTo>
                <a:cubicBezTo>
                  <a:pt x="4489301" y="0"/>
                  <a:pt x="4506148" y="16847"/>
                  <a:pt x="4506148" y="37630"/>
                </a:cubicBezTo>
                <a:lnTo>
                  <a:pt x="4506148" y="1486368"/>
                </a:lnTo>
                <a:cubicBezTo>
                  <a:pt x="4506148" y="1548716"/>
                  <a:pt x="4455605" y="1599259"/>
                  <a:pt x="4393256" y="1599259"/>
                </a:cubicBezTo>
                <a:lnTo>
                  <a:pt x="112892" y="1599259"/>
                </a:lnTo>
                <a:cubicBezTo>
                  <a:pt x="50543" y="1599259"/>
                  <a:pt x="0" y="1548716"/>
                  <a:pt x="0" y="1486368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444" dist="3763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6296" y="1147704"/>
            <a:ext cx="4506148" cy="37630"/>
          </a:xfrm>
          <a:custGeom>
            <a:avLst/>
            <a:gdLst/>
            <a:ahLst/>
            <a:cxnLst/>
            <a:rect l="l" t="t" r="r" b="b"/>
            <a:pathLst>
              <a:path w="4506148" h="37630">
                <a:moveTo>
                  <a:pt x="37630" y="0"/>
                </a:moveTo>
                <a:lnTo>
                  <a:pt x="4468519" y="0"/>
                </a:lnTo>
                <a:cubicBezTo>
                  <a:pt x="4489301" y="0"/>
                  <a:pt x="4506148" y="16847"/>
                  <a:pt x="4506148" y="37630"/>
                </a:cubicBezTo>
                <a:lnTo>
                  <a:pt x="4506148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" name="Shape 5"/>
          <p:cNvSpPr/>
          <p:nvPr/>
        </p:nvSpPr>
        <p:spPr>
          <a:xfrm>
            <a:off x="536222" y="1317037"/>
            <a:ext cx="141111" cy="188148"/>
          </a:xfrm>
          <a:custGeom>
            <a:avLst/>
            <a:gdLst/>
            <a:ahLst/>
            <a:cxnLst/>
            <a:rect l="l" t="t" r="r" b="b"/>
            <a:pathLst>
              <a:path w="141111" h="188148">
                <a:moveTo>
                  <a:pt x="23519" y="0"/>
                </a:moveTo>
                <a:cubicBezTo>
                  <a:pt x="10547" y="0"/>
                  <a:pt x="0" y="10547"/>
                  <a:pt x="0" y="23519"/>
                </a:cubicBezTo>
                <a:lnTo>
                  <a:pt x="0" y="164630"/>
                </a:lnTo>
                <a:cubicBezTo>
                  <a:pt x="0" y="177602"/>
                  <a:pt x="10547" y="188148"/>
                  <a:pt x="23519" y="188148"/>
                </a:cubicBezTo>
                <a:lnTo>
                  <a:pt x="117593" y="188148"/>
                </a:lnTo>
                <a:cubicBezTo>
                  <a:pt x="130565" y="188148"/>
                  <a:pt x="141111" y="177602"/>
                  <a:pt x="141111" y="164630"/>
                </a:cubicBezTo>
                <a:lnTo>
                  <a:pt x="141111" y="23519"/>
                </a:lnTo>
                <a:cubicBezTo>
                  <a:pt x="141111" y="10547"/>
                  <a:pt x="130565" y="0"/>
                  <a:pt x="117593" y="0"/>
                </a:cubicBezTo>
                <a:lnTo>
                  <a:pt x="23519" y="0"/>
                </a:lnTo>
                <a:close/>
                <a:moveTo>
                  <a:pt x="64676" y="129352"/>
                </a:moveTo>
                <a:lnTo>
                  <a:pt x="76435" y="129352"/>
                </a:lnTo>
                <a:cubicBezTo>
                  <a:pt x="82940" y="129352"/>
                  <a:pt x="88194" y="134607"/>
                  <a:pt x="88194" y="141111"/>
                </a:cubicBezTo>
                <a:lnTo>
                  <a:pt x="88194" y="170509"/>
                </a:lnTo>
                <a:lnTo>
                  <a:pt x="52917" y="170509"/>
                </a:lnTo>
                <a:lnTo>
                  <a:pt x="52917" y="141111"/>
                </a:lnTo>
                <a:cubicBezTo>
                  <a:pt x="52917" y="134607"/>
                  <a:pt x="58172" y="129352"/>
                  <a:pt x="64676" y="129352"/>
                </a:cubicBezTo>
                <a:close/>
                <a:moveTo>
                  <a:pt x="35278" y="41157"/>
                </a:moveTo>
                <a:cubicBezTo>
                  <a:pt x="35278" y="37924"/>
                  <a:pt x="37924" y="35278"/>
                  <a:pt x="41157" y="35278"/>
                </a:cubicBezTo>
                <a:lnTo>
                  <a:pt x="52917" y="35278"/>
                </a:lnTo>
                <a:cubicBezTo>
                  <a:pt x="56150" y="35278"/>
                  <a:pt x="58796" y="37924"/>
                  <a:pt x="58796" y="41157"/>
                </a:cubicBezTo>
                <a:lnTo>
                  <a:pt x="58796" y="52917"/>
                </a:lnTo>
                <a:cubicBezTo>
                  <a:pt x="58796" y="56150"/>
                  <a:pt x="56150" y="58796"/>
                  <a:pt x="52917" y="58796"/>
                </a:cubicBezTo>
                <a:lnTo>
                  <a:pt x="41157" y="58796"/>
                </a:lnTo>
                <a:cubicBezTo>
                  <a:pt x="37924" y="58796"/>
                  <a:pt x="35278" y="56150"/>
                  <a:pt x="35278" y="52917"/>
                </a:cubicBezTo>
                <a:lnTo>
                  <a:pt x="35278" y="41157"/>
                </a:lnTo>
                <a:close/>
                <a:moveTo>
                  <a:pt x="88194" y="35278"/>
                </a:moveTo>
                <a:lnTo>
                  <a:pt x="99954" y="35278"/>
                </a:lnTo>
                <a:cubicBezTo>
                  <a:pt x="103188" y="35278"/>
                  <a:pt x="105833" y="37924"/>
                  <a:pt x="105833" y="41157"/>
                </a:cubicBezTo>
                <a:lnTo>
                  <a:pt x="105833" y="52917"/>
                </a:lnTo>
                <a:cubicBezTo>
                  <a:pt x="105833" y="56150"/>
                  <a:pt x="103188" y="58796"/>
                  <a:pt x="99954" y="58796"/>
                </a:cubicBezTo>
                <a:lnTo>
                  <a:pt x="88194" y="58796"/>
                </a:lnTo>
                <a:cubicBezTo>
                  <a:pt x="84961" y="58796"/>
                  <a:pt x="82315" y="56150"/>
                  <a:pt x="82315" y="52917"/>
                </a:cubicBezTo>
                <a:lnTo>
                  <a:pt x="82315" y="41157"/>
                </a:lnTo>
                <a:cubicBezTo>
                  <a:pt x="82315" y="37924"/>
                  <a:pt x="84961" y="35278"/>
                  <a:pt x="88194" y="35278"/>
                </a:cubicBezTo>
                <a:close/>
                <a:moveTo>
                  <a:pt x="35278" y="88194"/>
                </a:moveTo>
                <a:cubicBezTo>
                  <a:pt x="35278" y="84961"/>
                  <a:pt x="37924" y="82315"/>
                  <a:pt x="41157" y="82315"/>
                </a:cubicBezTo>
                <a:lnTo>
                  <a:pt x="52917" y="82315"/>
                </a:lnTo>
                <a:cubicBezTo>
                  <a:pt x="56150" y="82315"/>
                  <a:pt x="58796" y="84961"/>
                  <a:pt x="58796" y="88194"/>
                </a:cubicBezTo>
                <a:lnTo>
                  <a:pt x="58796" y="99954"/>
                </a:lnTo>
                <a:cubicBezTo>
                  <a:pt x="58796" y="103188"/>
                  <a:pt x="56150" y="105833"/>
                  <a:pt x="52917" y="105833"/>
                </a:cubicBezTo>
                <a:lnTo>
                  <a:pt x="41157" y="105833"/>
                </a:lnTo>
                <a:cubicBezTo>
                  <a:pt x="37924" y="105833"/>
                  <a:pt x="35278" y="103188"/>
                  <a:pt x="35278" y="99954"/>
                </a:cubicBezTo>
                <a:lnTo>
                  <a:pt x="35278" y="88194"/>
                </a:lnTo>
                <a:close/>
                <a:moveTo>
                  <a:pt x="88194" y="82315"/>
                </a:moveTo>
                <a:lnTo>
                  <a:pt x="99954" y="82315"/>
                </a:lnTo>
                <a:cubicBezTo>
                  <a:pt x="103188" y="82315"/>
                  <a:pt x="105833" y="84961"/>
                  <a:pt x="105833" y="88194"/>
                </a:cubicBezTo>
                <a:lnTo>
                  <a:pt x="105833" y="99954"/>
                </a:lnTo>
                <a:cubicBezTo>
                  <a:pt x="105833" y="103188"/>
                  <a:pt x="103188" y="105833"/>
                  <a:pt x="99954" y="105833"/>
                </a:cubicBezTo>
                <a:lnTo>
                  <a:pt x="88194" y="105833"/>
                </a:lnTo>
                <a:cubicBezTo>
                  <a:pt x="84961" y="105833"/>
                  <a:pt x="82315" y="103188"/>
                  <a:pt x="82315" y="99954"/>
                </a:cubicBezTo>
                <a:lnTo>
                  <a:pt x="82315" y="88194"/>
                </a:lnTo>
                <a:cubicBezTo>
                  <a:pt x="82315" y="84961"/>
                  <a:pt x="84961" y="82315"/>
                  <a:pt x="88194" y="82315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8" name="Text 6"/>
          <p:cNvSpPr/>
          <p:nvPr/>
        </p:nvSpPr>
        <p:spPr>
          <a:xfrm>
            <a:off x="799630" y="1279407"/>
            <a:ext cx="846667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公司概况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185" y="1618074"/>
            <a:ext cx="4355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成立时间:</a:t>
            </a:r>
            <a:pPr>
              <a:lnSpc>
                <a:spcPct val="13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首家T.J. Maxx店1977年开业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185" y="1881481"/>
            <a:ext cx="4355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品牌矩阵:</a:t>
            </a:r>
            <a:pPr>
              <a:lnSpc>
                <a:spcPct val="13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T.J. Maxx / Marshalls / HomeGoods等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185" y="2144889"/>
            <a:ext cx="4355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门店规模:</a:t>
            </a:r>
            <a:pPr>
              <a:lnSpc>
                <a:spcPct val="13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数千家门店覆盖北美市场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185" y="2408296"/>
            <a:ext cx="4355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以线下实体门店为主,电商为补充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6296" y="2859852"/>
            <a:ext cx="4506148" cy="1815630"/>
          </a:xfrm>
          <a:custGeom>
            <a:avLst/>
            <a:gdLst/>
            <a:ahLst/>
            <a:cxnLst/>
            <a:rect l="l" t="t" r="r" b="b"/>
            <a:pathLst>
              <a:path w="4506148" h="1815630">
                <a:moveTo>
                  <a:pt x="112896" y="0"/>
                </a:moveTo>
                <a:lnTo>
                  <a:pt x="4393252" y="0"/>
                </a:lnTo>
                <a:cubicBezTo>
                  <a:pt x="4455603" y="0"/>
                  <a:pt x="4506148" y="50545"/>
                  <a:pt x="4506148" y="112896"/>
                </a:cubicBezTo>
                <a:lnTo>
                  <a:pt x="4506148" y="1702734"/>
                </a:lnTo>
                <a:cubicBezTo>
                  <a:pt x="4506148" y="1765084"/>
                  <a:pt x="4455603" y="1815630"/>
                  <a:pt x="4393252" y="1815630"/>
                </a:cubicBezTo>
                <a:lnTo>
                  <a:pt x="112896" y="1815630"/>
                </a:lnTo>
                <a:cubicBezTo>
                  <a:pt x="50545" y="1815630"/>
                  <a:pt x="0" y="1765084"/>
                  <a:pt x="0" y="1702734"/>
                </a:cubicBezTo>
                <a:lnTo>
                  <a:pt x="0" y="112896"/>
                </a:lnTo>
                <a:cubicBezTo>
                  <a:pt x="0" y="50545"/>
                  <a:pt x="50545" y="0"/>
                  <a:pt x="1128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100000">
                <a:srgbClr val="8FA89B"/>
              </a:gs>
            </a:gsLst>
            <a:lin ang="2700000" scaled="1"/>
          </a:gradFill>
          <a:ln/>
          <a:effectLst>
            <a:outerShdw sx="100000" sy="100000" kx="0" ky="0" algn="bl" rotWithShape="0" blurRad="141111" dist="94074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704" y="3010370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23519" y="23519"/>
                </a:moveTo>
                <a:cubicBezTo>
                  <a:pt x="23519" y="17014"/>
                  <a:pt x="18264" y="11759"/>
                  <a:pt x="11759" y="11759"/>
                </a:cubicBezTo>
                <a:cubicBezTo>
                  <a:pt x="5255" y="11759"/>
                  <a:pt x="0" y="17014"/>
                  <a:pt x="0" y="23519"/>
                </a:cubicBezTo>
                <a:lnTo>
                  <a:pt x="0" y="146991"/>
                </a:lnTo>
                <a:cubicBezTo>
                  <a:pt x="0" y="163233"/>
                  <a:pt x="13156" y="176389"/>
                  <a:pt x="29398" y="176389"/>
                </a:cubicBezTo>
                <a:lnTo>
                  <a:pt x="176389" y="176389"/>
                </a:lnTo>
                <a:cubicBezTo>
                  <a:pt x="182893" y="176389"/>
                  <a:pt x="188148" y="171134"/>
                  <a:pt x="188148" y="164630"/>
                </a:cubicBezTo>
                <a:cubicBezTo>
                  <a:pt x="188148" y="158125"/>
                  <a:pt x="182893" y="152870"/>
                  <a:pt x="176389" y="152870"/>
                </a:cubicBezTo>
                <a:lnTo>
                  <a:pt x="29398" y="152870"/>
                </a:lnTo>
                <a:cubicBezTo>
                  <a:pt x="26164" y="152870"/>
                  <a:pt x="23519" y="150225"/>
                  <a:pt x="23519" y="146991"/>
                </a:cubicBezTo>
                <a:lnTo>
                  <a:pt x="23519" y="23519"/>
                </a:lnTo>
                <a:close/>
                <a:moveTo>
                  <a:pt x="172935" y="55342"/>
                </a:moveTo>
                <a:cubicBezTo>
                  <a:pt x="177528" y="50749"/>
                  <a:pt x="177528" y="43289"/>
                  <a:pt x="172935" y="38695"/>
                </a:cubicBezTo>
                <a:cubicBezTo>
                  <a:pt x="168341" y="34102"/>
                  <a:pt x="160881" y="34102"/>
                  <a:pt x="156288" y="38695"/>
                </a:cubicBezTo>
                <a:lnTo>
                  <a:pt x="117593" y="77427"/>
                </a:lnTo>
                <a:lnTo>
                  <a:pt x="96499" y="56371"/>
                </a:lnTo>
                <a:cubicBezTo>
                  <a:pt x="91906" y="51777"/>
                  <a:pt x="84446" y="51777"/>
                  <a:pt x="79853" y="56371"/>
                </a:cubicBezTo>
                <a:lnTo>
                  <a:pt x="44575" y="91649"/>
                </a:lnTo>
                <a:cubicBezTo>
                  <a:pt x="39981" y="96242"/>
                  <a:pt x="39981" y="103702"/>
                  <a:pt x="44575" y="108295"/>
                </a:cubicBezTo>
                <a:cubicBezTo>
                  <a:pt x="49168" y="112889"/>
                  <a:pt x="56628" y="112889"/>
                  <a:pt x="61222" y="108295"/>
                </a:cubicBezTo>
                <a:lnTo>
                  <a:pt x="88194" y="81323"/>
                </a:lnTo>
                <a:lnTo>
                  <a:pt x="109288" y="102416"/>
                </a:lnTo>
                <a:cubicBezTo>
                  <a:pt x="113881" y="107009"/>
                  <a:pt x="121341" y="107009"/>
                  <a:pt x="125934" y="102416"/>
                </a:cubicBezTo>
                <a:lnTo>
                  <a:pt x="172971" y="55379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5" name="Text 13"/>
          <p:cNvSpPr/>
          <p:nvPr/>
        </p:nvSpPr>
        <p:spPr>
          <a:xfrm>
            <a:off x="799630" y="2972741"/>
            <a:ext cx="846667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185" y="3311407"/>
            <a:ext cx="2107259" cy="620889"/>
          </a:xfrm>
          <a:custGeom>
            <a:avLst/>
            <a:gdLst/>
            <a:ahLst/>
            <a:cxnLst/>
            <a:rect l="l" t="t" r="r" b="b"/>
            <a:pathLst>
              <a:path w="2107259" h="620889">
                <a:moveTo>
                  <a:pt x="75258" y="0"/>
                </a:moveTo>
                <a:lnTo>
                  <a:pt x="2032001" y="0"/>
                </a:lnTo>
                <a:cubicBezTo>
                  <a:pt x="2073565" y="0"/>
                  <a:pt x="2107259" y="33694"/>
                  <a:pt x="2107259" y="75258"/>
                </a:cubicBezTo>
                <a:lnTo>
                  <a:pt x="2107259" y="545631"/>
                </a:lnTo>
                <a:cubicBezTo>
                  <a:pt x="2107259" y="587195"/>
                  <a:pt x="2073565" y="620889"/>
                  <a:pt x="2032001" y="620889"/>
                </a:cubicBezTo>
                <a:lnTo>
                  <a:pt x="75258" y="620889"/>
                </a:lnTo>
                <a:cubicBezTo>
                  <a:pt x="33694" y="620889"/>
                  <a:pt x="0" y="587195"/>
                  <a:pt x="0" y="545631"/>
                </a:cubicBezTo>
                <a:lnTo>
                  <a:pt x="0" y="75258"/>
                </a:lnTo>
                <a:cubicBezTo>
                  <a:pt x="0" y="33694"/>
                  <a:pt x="33694" y="0"/>
                  <a:pt x="75258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6815" y="3386667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85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成立年份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8000" y="3574815"/>
            <a:ext cx="2069630" cy="282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78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1977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67882" y="3311407"/>
            <a:ext cx="2107259" cy="620889"/>
          </a:xfrm>
          <a:custGeom>
            <a:avLst/>
            <a:gdLst/>
            <a:ahLst/>
            <a:cxnLst/>
            <a:rect l="l" t="t" r="r" b="b"/>
            <a:pathLst>
              <a:path w="2107259" h="620889">
                <a:moveTo>
                  <a:pt x="75258" y="0"/>
                </a:moveTo>
                <a:lnTo>
                  <a:pt x="2032001" y="0"/>
                </a:lnTo>
                <a:cubicBezTo>
                  <a:pt x="2073565" y="0"/>
                  <a:pt x="2107259" y="33694"/>
                  <a:pt x="2107259" y="75258"/>
                </a:cubicBezTo>
                <a:lnTo>
                  <a:pt x="2107259" y="545631"/>
                </a:lnTo>
                <a:cubicBezTo>
                  <a:pt x="2107259" y="587195"/>
                  <a:pt x="2073565" y="620889"/>
                  <a:pt x="2032001" y="620889"/>
                </a:cubicBezTo>
                <a:lnTo>
                  <a:pt x="75258" y="620889"/>
                </a:lnTo>
                <a:cubicBezTo>
                  <a:pt x="33694" y="620889"/>
                  <a:pt x="0" y="587195"/>
                  <a:pt x="0" y="545631"/>
                </a:cubicBezTo>
                <a:lnTo>
                  <a:pt x="0" y="75258"/>
                </a:lnTo>
                <a:cubicBezTo>
                  <a:pt x="0" y="33694"/>
                  <a:pt x="33694" y="0"/>
                  <a:pt x="75258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05512" y="3386667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85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门店数量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86697" y="3574815"/>
            <a:ext cx="2069630" cy="282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78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数千家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185" y="4007556"/>
            <a:ext cx="2107259" cy="555037"/>
          </a:xfrm>
          <a:custGeom>
            <a:avLst/>
            <a:gdLst/>
            <a:ahLst/>
            <a:cxnLst/>
            <a:rect l="l" t="t" r="r" b="b"/>
            <a:pathLst>
              <a:path w="2107259" h="555037">
                <a:moveTo>
                  <a:pt x="75257" y="0"/>
                </a:moveTo>
                <a:lnTo>
                  <a:pt x="2032002" y="0"/>
                </a:lnTo>
                <a:cubicBezTo>
                  <a:pt x="2073565" y="0"/>
                  <a:pt x="2107259" y="33694"/>
                  <a:pt x="2107259" y="75257"/>
                </a:cubicBezTo>
                <a:lnTo>
                  <a:pt x="2107259" y="479780"/>
                </a:lnTo>
                <a:cubicBezTo>
                  <a:pt x="2107259" y="521343"/>
                  <a:pt x="2073565" y="555037"/>
                  <a:pt x="2032002" y="555037"/>
                </a:cubicBezTo>
                <a:lnTo>
                  <a:pt x="75257" y="555037"/>
                </a:lnTo>
                <a:cubicBezTo>
                  <a:pt x="33722" y="555037"/>
                  <a:pt x="0" y="521315"/>
                  <a:pt x="0" y="479780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6815" y="4082815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85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2111" y="4270963"/>
            <a:ext cx="2041407" cy="216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33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Off-price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67882" y="4007556"/>
            <a:ext cx="2107259" cy="555037"/>
          </a:xfrm>
          <a:custGeom>
            <a:avLst/>
            <a:gdLst/>
            <a:ahLst/>
            <a:cxnLst/>
            <a:rect l="l" t="t" r="r" b="b"/>
            <a:pathLst>
              <a:path w="2107259" h="555037">
                <a:moveTo>
                  <a:pt x="75257" y="0"/>
                </a:moveTo>
                <a:lnTo>
                  <a:pt x="2032002" y="0"/>
                </a:lnTo>
                <a:cubicBezTo>
                  <a:pt x="2073565" y="0"/>
                  <a:pt x="2107259" y="33694"/>
                  <a:pt x="2107259" y="75257"/>
                </a:cubicBezTo>
                <a:lnTo>
                  <a:pt x="2107259" y="479780"/>
                </a:lnTo>
                <a:cubicBezTo>
                  <a:pt x="2107259" y="521343"/>
                  <a:pt x="2073565" y="555037"/>
                  <a:pt x="2032002" y="555037"/>
                </a:cubicBezTo>
                <a:lnTo>
                  <a:pt x="75257" y="555037"/>
                </a:lnTo>
                <a:cubicBezTo>
                  <a:pt x="33722" y="555037"/>
                  <a:pt x="0" y="521315"/>
                  <a:pt x="0" y="479780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05512" y="4082815"/>
            <a:ext cx="2032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85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渠道侧重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00808" y="4270963"/>
            <a:ext cx="2041407" cy="216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33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线下为主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5111" y="4783667"/>
            <a:ext cx="4487333" cy="2069630"/>
          </a:xfrm>
          <a:custGeom>
            <a:avLst/>
            <a:gdLst/>
            <a:ahLst/>
            <a:cxnLst/>
            <a:rect l="l" t="t" r="r" b="b"/>
            <a:pathLst>
              <a:path w="4487333" h="2069630">
                <a:moveTo>
                  <a:pt x="37630" y="0"/>
                </a:moveTo>
                <a:lnTo>
                  <a:pt x="4374435" y="0"/>
                </a:lnTo>
                <a:cubicBezTo>
                  <a:pt x="4436787" y="0"/>
                  <a:pt x="4487333" y="50546"/>
                  <a:pt x="4487333" y="112898"/>
                </a:cubicBezTo>
                <a:lnTo>
                  <a:pt x="4487333" y="1956731"/>
                </a:lnTo>
                <a:cubicBezTo>
                  <a:pt x="4487333" y="2019083"/>
                  <a:pt x="4436787" y="2069630"/>
                  <a:pt x="4374435" y="2069630"/>
                </a:cubicBezTo>
                <a:lnTo>
                  <a:pt x="37630" y="2069630"/>
                </a:lnTo>
                <a:cubicBezTo>
                  <a:pt x="16861" y="2069630"/>
                  <a:pt x="0" y="2052768"/>
                  <a:pt x="0" y="203200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444" dist="3763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5111" y="4783667"/>
            <a:ext cx="37630" cy="2069630"/>
          </a:xfrm>
          <a:custGeom>
            <a:avLst/>
            <a:gdLst/>
            <a:ahLst/>
            <a:cxnLst/>
            <a:rect l="l" t="t" r="r" b="b"/>
            <a:pathLst>
              <a:path w="37630" h="2069630">
                <a:moveTo>
                  <a:pt x="37630" y="0"/>
                </a:moveTo>
                <a:lnTo>
                  <a:pt x="37630" y="0"/>
                </a:lnTo>
                <a:lnTo>
                  <a:pt x="37630" y="2069630"/>
                </a:lnTo>
                <a:lnTo>
                  <a:pt x="37630" y="2069630"/>
                </a:lnTo>
                <a:cubicBezTo>
                  <a:pt x="16861" y="2069630"/>
                  <a:pt x="0" y="2052768"/>
                  <a:pt x="0" y="2032000"/>
                </a:cubicBez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30" name="Shape 28"/>
          <p:cNvSpPr/>
          <p:nvPr/>
        </p:nvSpPr>
        <p:spPr>
          <a:xfrm>
            <a:off x="550333" y="4934185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123472" y="129352"/>
                </a:moveTo>
                <a:cubicBezTo>
                  <a:pt x="159191" y="129352"/>
                  <a:pt x="188148" y="100395"/>
                  <a:pt x="188148" y="64676"/>
                </a:cubicBezTo>
                <a:cubicBezTo>
                  <a:pt x="188148" y="28957"/>
                  <a:pt x="159191" y="0"/>
                  <a:pt x="123472" y="0"/>
                </a:cubicBezTo>
                <a:cubicBezTo>
                  <a:pt x="87753" y="0"/>
                  <a:pt x="58796" y="28957"/>
                  <a:pt x="58796" y="64676"/>
                </a:cubicBezTo>
                <a:cubicBezTo>
                  <a:pt x="58796" y="71548"/>
                  <a:pt x="59862" y="78199"/>
                  <a:pt x="61846" y="84409"/>
                </a:cubicBezTo>
                <a:lnTo>
                  <a:pt x="2572" y="143683"/>
                </a:lnTo>
                <a:cubicBezTo>
                  <a:pt x="919" y="145337"/>
                  <a:pt x="0" y="147579"/>
                  <a:pt x="0" y="149931"/>
                </a:cubicBezTo>
                <a:lnTo>
                  <a:pt x="0" y="179329"/>
                </a:lnTo>
                <a:cubicBezTo>
                  <a:pt x="0" y="184216"/>
                  <a:pt x="3932" y="188148"/>
                  <a:pt x="8819" y="188148"/>
                </a:cubicBezTo>
                <a:lnTo>
                  <a:pt x="38218" y="188148"/>
                </a:lnTo>
                <a:cubicBezTo>
                  <a:pt x="43105" y="188148"/>
                  <a:pt x="47037" y="184216"/>
                  <a:pt x="47037" y="179329"/>
                </a:cubicBezTo>
                <a:lnTo>
                  <a:pt x="47037" y="164630"/>
                </a:lnTo>
                <a:lnTo>
                  <a:pt x="61736" y="164630"/>
                </a:lnTo>
                <a:cubicBezTo>
                  <a:pt x="66624" y="164630"/>
                  <a:pt x="70556" y="160698"/>
                  <a:pt x="70556" y="155810"/>
                </a:cubicBezTo>
                <a:lnTo>
                  <a:pt x="70556" y="141111"/>
                </a:lnTo>
                <a:lnTo>
                  <a:pt x="85255" y="141111"/>
                </a:lnTo>
                <a:cubicBezTo>
                  <a:pt x="87606" y="141111"/>
                  <a:pt x="89848" y="140192"/>
                  <a:pt x="91502" y="138539"/>
                </a:cubicBezTo>
                <a:lnTo>
                  <a:pt x="103739" y="126302"/>
                </a:lnTo>
                <a:cubicBezTo>
                  <a:pt x="109949" y="128286"/>
                  <a:pt x="116600" y="129352"/>
                  <a:pt x="123472" y="129352"/>
                </a:cubicBezTo>
                <a:close/>
                <a:moveTo>
                  <a:pt x="138171" y="35278"/>
                </a:moveTo>
                <a:cubicBezTo>
                  <a:pt x="146284" y="35278"/>
                  <a:pt x="152870" y="41864"/>
                  <a:pt x="152870" y="49977"/>
                </a:cubicBezTo>
                <a:cubicBezTo>
                  <a:pt x="152870" y="58089"/>
                  <a:pt x="146284" y="64676"/>
                  <a:pt x="138171" y="64676"/>
                </a:cubicBezTo>
                <a:cubicBezTo>
                  <a:pt x="130059" y="64676"/>
                  <a:pt x="123472" y="58089"/>
                  <a:pt x="123472" y="49977"/>
                </a:cubicBezTo>
                <a:cubicBezTo>
                  <a:pt x="123472" y="41864"/>
                  <a:pt x="130059" y="35278"/>
                  <a:pt x="138171" y="35278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31" name="Text 29"/>
          <p:cNvSpPr/>
          <p:nvPr/>
        </p:nvSpPr>
        <p:spPr>
          <a:xfrm>
            <a:off x="837259" y="4896556"/>
            <a:ext cx="1222963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关键成功因素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6815" y="5235222"/>
            <a:ext cx="4242741" cy="376296"/>
          </a:xfrm>
          <a:custGeom>
            <a:avLst/>
            <a:gdLst/>
            <a:ahLst/>
            <a:cxnLst/>
            <a:rect l="l" t="t" r="r" b="b"/>
            <a:pathLst>
              <a:path w="4242741" h="376296">
                <a:moveTo>
                  <a:pt x="75259" y="0"/>
                </a:moveTo>
                <a:lnTo>
                  <a:pt x="4167481" y="0"/>
                </a:lnTo>
                <a:cubicBezTo>
                  <a:pt x="4209018" y="0"/>
                  <a:pt x="4242741" y="33723"/>
                  <a:pt x="4242741" y="75259"/>
                </a:cubicBezTo>
                <a:lnTo>
                  <a:pt x="4242741" y="301037"/>
                </a:lnTo>
                <a:cubicBezTo>
                  <a:pt x="4242741" y="342574"/>
                  <a:pt x="4209018" y="376296"/>
                  <a:pt x="4167481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9704" y="5310481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12889" y="0"/>
                </a:moveTo>
                <a:lnTo>
                  <a:pt x="112889" y="0"/>
                </a:lnTo>
                <a:cubicBezTo>
                  <a:pt x="175194" y="0"/>
                  <a:pt x="225778" y="50584"/>
                  <a:pt x="225778" y="112889"/>
                </a:cubicBezTo>
                <a:lnTo>
                  <a:pt x="225778" y="112889"/>
                </a:lnTo>
                <a:cubicBezTo>
                  <a:pt x="225778" y="175194"/>
                  <a:pt x="175194" y="225778"/>
                  <a:pt x="112889" y="225778"/>
                </a:cubicBezTo>
                <a:lnTo>
                  <a:pt x="112889" y="225778"/>
                </a:lnTo>
                <a:cubicBezTo>
                  <a:pt x="50584" y="225778"/>
                  <a:pt x="0" y="175194"/>
                  <a:pt x="0" y="112889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4" name="Text 32"/>
          <p:cNvSpPr/>
          <p:nvPr/>
        </p:nvSpPr>
        <p:spPr>
          <a:xfrm>
            <a:off x="611481" y="5310481"/>
            <a:ext cx="282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0741" y="5319889"/>
            <a:ext cx="2370667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强大的全球采购网络,获取品牌尾货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6815" y="5611519"/>
            <a:ext cx="4242741" cy="376296"/>
          </a:xfrm>
          <a:custGeom>
            <a:avLst/>
            <a:gdLst/>
            <a:ahLst/>
            <a:cxnLst/>
            <a:rect l="l" t="t" r="r" b="b"/>
            <a:pathLst>
              <a:path w="4242741" h="376296">
                <a:moveTo>
                  <a:pt x="75259" y="0"/>
                </a:moveTo>
                <a:lnTo>
                  <a:pt x="4167481" y="0"/>
                </a:lnTo>
                <a:cubicBezTo>
                  <a:pt x="4209018" y="0"/>
                  <a:pt x="4242741" y="33723"/>
                  <a:pt x="4242741" y="75259"/>
                </a:cubicBezTo>
                <a:lnTo>
                  <a:pt x="4242741" y="301037"/>
                </a:lnTo>
                <a:cubicBezTo>
                  <a:pt x="4242741" y="342574"/>
                  <a:pt x="4209018" y="376296"/>
                  <a:pt x="4167481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39704" y="5686778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12889" y="0"/>
                </a:moveTo>
                <a:lnTo>
                  <a:pt x="112889" y="0"/>
                </a:lnTo>
                <a:cubicBezTo>
                  <a:pt x="175194" y="0"/>
                  <a:pt x="225778" y="50584"/>
                  <a:pt x="225778" y="112889"/>
                </a:cubicBezTo>
                <a:lnTo>
                  <a:pt x="225778" y="112889"/>
                </a:lnTo>
                <a:cubicBezTo>
                  <a:pt x="225778" y="175194"/>
                  <a:pt x="175194" y="225778"/>
                  <a:pt x="112889" y="225778"/>
                </a:cubicBezTo>
                <a:lnTo>
                  <a:pt x="112889" y="225778"/>
                </a:lnTo>
                <a:cubicBezTo>
                  <a:pt x="50584" y="225778"/>
                  <a:pt x="0" y="175194"/>
                  <a:pt x="0" y="112889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8" name="Text 36"/>
          <p:cNvSpPr/>
          <p:nvPr/>
        </p:nvSpPr>
        <p:spPr>
          <a:xfrm>
            <a:off x="611481" y="5686778"/>
            <a:ext cx="282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0741" y="5696185"/>
            <a:ext cx="203200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高频库存翻新保持商品新鲜感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6815" y="5987815"/>
            <a:ext cx="4242741" cy="376296"/>
          </a:xfrm>
          <a:custGeom>
            <a:avLst/>
            <a:gdLst/>
            <a:ahLst/>
            <a:cxnLst/>
            <a:rect l="l" t="t" r="r" b="b"/>
            <a:pathLst>
              <a:path w="4242741" h="376296">
                <a:moveTo>
                  <a:pt x="75259" y="0"/>
                </a:moveTo>
                <a:lnTo>
                  <a:pt x="4167481" y="0"/>
                </a:lnTo>
                <a:cubicBezTo>
                  <a:pt x="4209018" y="0"/>
                  <a:pt x="4242741" y="33723"/>
                  <a:pt x="4242741" y="75259"/>
                </a:cubicBezTo>
                <a:lnTo>
                  <a:pt x="4242741" y="301037"/>
                </a:lnTo>
                <a:cubicBezTo>
                  <a:pt x="4242741" y="342574"/>
                  <a:pt x="4209018" y="376296"/>
                  <a:pt x="4167481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41" name="Shape 39"/>
          <p:cNvSpPr/>
          <p:nvPr/>
        </p:nvSpPr>
        <p:spPr>
          <a:xfrm>
            <a:off x="639704" y="6063074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12889" y="0"/>
                </a:moveTo>
                <a:lnTo>
                  <a:pt x="112889" y="0"/>
                </a:lnTo>
                <a:cubicBezTo>
                  <a:pt x="175194" y="0"/>
                  <a:pt x="225778" y="50584"/>
                  <a:pt x="225778" y="112889"/>
                </a:cubicBezTo>
                <a:lnTo>
                  <a:pt x="225778" y="112889"/>
                </a:lnTo>
                <a:cubicBezTo>
                  <a:pt x="225778" y="175194"/>
                  <a:pt x="175194" y="225778"/>
                  <a:pt x="112889" y="225778"/>
                </a:cubicBezTo>
                <a:lnTo>
                  <a:pt x="112889" y="225778"/>
                </a:lnTo>
                <a:cubicBezTo>
                  <a:pt x="50584" y="225778"/>
                  <a:pt x="0" y="175194"/>
                  <a:pt x="0" y="112889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42" name="Text 40"/>
          <p:cNvSpPr/>
          <p:nvPr/>
        </p:nvSpPr>
        <p:spPr>
          <a:xfrm>
            <a:off x="611481" y="6063074"/>
            <a:ext cx="282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40741" y="6072481"/>
            <a:ext cx="1730963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仓储式陈列降低运营成本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6815" y="6364111"/>
            <a:ext cx="4242741" cy="376296"/>
          </a:xfrm>
          <a:custGeom>
            <a:avLst/>
            <a:gdLst/>
            <a:ahLst/>
            <a:cxnLst/>
            <a:rect l="l" t="t" r="r" b="b"/>
            <a:pathLst>
              <a:path w="4242741" h="376296">
                <a:moveTo>
                  <a:pt x="75259" y="0"/>
                </a:moveTo>
                <a:lnTo>
                  <a:pt x="4167481" y="0"/>
                </a:lnTo>
                <a:cubicBezTo>
                  <a:pt x="4209018" y="0"/>
                  <a:pt x="4242741" y="33723"/>
                  <a:pt x="4242741" y="75259"/>
                </a:cubicBezTo>
                <a:lnTo>
                  <a:pt x="4242741" y="301037"/>
                </a:lnTo>
                <a:cubicBezTo>
                  <a:pt x="4242741" y="342574"/>
                  <a:pt x="4209018" y="376296"/>
                  <a:pt x="4167481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39704" y="6439370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12889" y="0"/>
                </a:moveTo>
                <a:lnTo>
                  <a:pt x="112889" y="0"/>
                </a:lnTo>
                <a:cubicBezTo>
                  <a:pt x="175194" y="0"/>
                  <a:pt x="225778" y="50584"/>
                  <a:pt x="225778" y="112889"/>
                </a:cubicBezTo>
                <a:lnTo>
                  <a:pt x="225778" y="112889"/>
                </a:lnTo>
                <a:cubicBezTo>
                  <a:pt x="225778" y="175194"/>
                  <a:pt x="175194" y="225778"/>
                  <a:pt x="112889" y="225778"/>
                </a:cubicBezTo>
                <a:lnTo>
                  <a:pt x="112889" y="225778"/>
                </a:lnTo>
                <a:cubicBezTo>
                  <a:pt x="50584" y="225778"/>
                  <a:pt x="0" y="175194"/>
                  <a:pt x="0" y="112889"/>
                </a:cubicBezTo>
                <a:lnTo>
                  <a:pt x="0" y="112889"/>
                </a:lnTo>
                <a:cubicBezTo>
                  <a:pt x="0" y="50584"/>
                  <a:pt x="50584" y="0"/>
                  <a:pt x="112889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46" name="Text 44"/>
          <p:cNvSpPr/>
          <p:nvPr/>
        </p:nvSpPr>
        <p:spPr>
          <a:xfrm>
            <a:off x="611481" y="6439370"/>
            <a:ext cx="2822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40741" y="6448778"/>
            <a:ext cx="203200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寻宝式购物体验提升客户粘性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997171" y="1128889"/>
            <a:ext cx="6820370" cy="4562593"/>
          </a:xfrm>
          <a:custGeom>
            <a:avLst/>
            <a:gdLst/>
            <a:ahLst/>
            <a:cxnLst/>
            <a:rect l="l" t="t" r="r" b="b"/>
            <a:pathLst>
              <a:path w="6820370" h="4562593">
                <a:moveTo>
                  <a:pt x="112879" y="0"/>
                </a:moveTo>
                <a:lnTo>
                  <a:pt x="6707492" y="0"/>
                </a:lnTo>
                <a:cubicBezTo>
                  <a:pt x="6769833" y="0"/>
                  <a:pt x="6820370" y="50537"/>
                  <a:pt x="6820370" y="112879"/>
                </a:cubicBezTo>
                <a:lnTo>
                  <a:pt x="6820370" y="4449714"/>
                </a:lnTo>
                <a:cubicBezTo>
                  <a:pt x="6820370" y="4512055"/>
                  <a:pt x="6769833" y="4562593"/>
                  <a:pt x="6707492" y="4562593"/>
                </a:cubicBezTo>
                <a:lnTo>
                  <a:pt x="112879" y="4562593"/>
                </a:lnTo>
                <a:cubicBezTo>
                  <a:pt x="50537" y="4562593"/>
                  <a:pt x="0" y="4512055"/>
                  <a:pt x="0" y="4449714"/>
                </a:cubicBezTo>
                <a:lnTo>
                  <a:pt x="0" y="112879"/>
                </a:lnTo>
                <a:cubicBezTo>
                  <a:pt x="0" y="50579"/>
                  <a:pt x="50579" y="0"/>
                  <a:pt x="11287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1111" dist="94074" dir="540000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138282" y="1279407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84667" y="28222"/>
                </a:moveTo>
                <a:cubicBezTo>
                  <a:pt x="84667" y="20417"/>
                  <a:pt x="90973" y="14111"/>
                  <a:pt x="98778" y="14111"/>
                </a:cubicBezTo>
                <a:lnTo>
                  <a:pt x="127000" y="14111"/>
                </a:lnTo>
                <a:cubicBezTo>
                  <a:pt x="134805" y="14111"/>
                  <a:pt x="141111" y="20417"/>
                  <a:pt x="141111" y="28222"/>
                </a:cubicBezTo>
                <a:lnTo>
                  <a:pt x="141111" y="56444"/>
                </a:lnTo>
                <a:cubicBezTo>
                  <a:pt x="141111" y="64250"/>
                  <a:pt x="134805" y="70556"/>
                  <a:pt x="127000" y="70556"/>
                </a:cubicBezTo>
                <a:lnTo>
                  <a:pt x="123472" y="70556"/>
                </a:lnTo>
                <a:lnTo>
                  <a:pt x="123472" y="98778"/>
                </a:lnTo>
                <a:lnTo>
                  <a:pt x="176389" y="98778"/>
                </a:lnTo>
                <a:cubicBezTo>
                  <a:pt x="193940" y="98778"/>
                  <a:pt x="208139" y="112977"/>
                  <a:pt x="208139" y="130528"/>
                </a:cubicBezTo>
                <a:lnTo>
                  <a:pt x="208139" y="155222"/>
                </a:lnTo>
                <a:lnTo>
                  <a:pt x="211667" y="155222"/>
                </a:lnTo>
                <a:cubicBezTo>
                  <a:pt x="219472" y="155222"/>
                  <a:pt x="225778" y="161528"/>
                  <a:pt x="225778" y="169333"/>
                </a:cubicBezTo>
                <a:lnTo>
                  <a:pt x="225778" y="197556"/>
                </a:lnTo>
                <a:cubicBezTo>
                  <a:pt x="225778" y="205361"/>
                  <a:pt x="219472" y="211667"/>
                  <a:pt x="211667" y="211667"/>
                </a:cubicBezTo>
                <a:lnTo>
                  <a:pt x="183444" y="211667"/>
                </a:lnTo>
                <a:cubicBezTo>
                  <a:pt x="175639" y="211667"/>
                  <a:pt x="169333" y="205361"/>
                  <a:pt x="169333" y="197556"/>
                </a:cubicBezTo>
                <a:lnTo>
                  <a:pt x="169333" y="169333"/>
                </a:lnTo>
                <a:cubicBezTo>
                  <a:pt x="169333" y="161528"/>
                  <a:pt x="175639" y="155222"/>
                  <a:pt x="183444" y="155222"/>
                </a:cubicBezTo>
                <a:lnTo>
                  <a:pt x="186972" y="155222"/>
                </a:lnTo>
                <a:lnTo>
                  <a:pt x="186972" y="130528"/>
                </a:lnTo>
                <a:cubicBezTo>
                  <a:pt x="186972" y="124663"/>
                  <a:pt x="182254" y="119944"/>
                  <a:pt x="176389" y="119944"/>
                </a:cubicBezTo>
                <a:lnTo>
                  <a:pt x="123472" y="119944"/>
                </a:lnTo>
                <a:lnTo>
                  <a:pt x="123472" y="155222"/>
                </a:lnTo>
                <a:lnTo>
                  <a:pt x="127000" y="155222"/>
                </a:lnTo>
                <a:cubicBezTo>
                  <a:pt x="134805" y="155222"/>
                  <a:pt x="141111" y="161528"/>
                  <a:pt x="141111" y="169333"/>
                </a:cubicBezTo>
                <a:lnTo>
                  <a:pt x="141111" y="197556"/>
                </a:lnTo>
                <a:cubicBezTo>
                  <a:pt x="141111" y="205361"/>
                  <a:pt x="134805" y="211667"/>
                  <a:pt x="127000" y="211667"/>
                </a:cubicBezTo>
                <a:lnTo>
                  <a:pt x="98778" y="211667"/>
                </a:lnTo>
                <a:cubicBezTo>
                  <a:pt x="90973" y="211667"/>
                  <a:pt x="84667" y="205361"/>
                  <a:pt x="84667" y="197556"/>
                </a:cubicBezTo>
                <a:lnTo>
                  <a:pt x="84667" y="169333"/>
                </a:lnTo>
                <a:cubicBezTo>
                  <a:pt x="84667" y="161528"/>
                  <a:pt x="90973" y="155222"/>
                  <a:pt x="98778" y="155222"/>
                </a:cubicBezTo>
                <a:lnTo>
                  <a:pt x="102306" y="155222"/>
                </a:lnTo>
                <a:lnTo>
                  <a:pt x="102306" y="119944"/>
                </a:lnTo>
                <a:lnTo>
                  <a:pt x="49389" y="119944"/>
                </a:lnTo>
                <a:cubicBezTo>
                  <a:pt x="43524" y="119944"/>
                  <a:pt x="38806" y="124663"/>
                  <a:pt x="38806" y="130528"/>
                </a:cubicBezTo>
                <a:lnTo>
                  <a:pt x="38806" y="155222"/>
                </a:lnTo>
                <a:lnTo>
                  <a:pt x="42333" y="155222"/>
                </a:lnTo>
                <a:cubicBezTo>
                  <a:pt x="50139" y="155222"/>
                  <a:pt x="56444" y="161528"/>
                  <a:pt x="56444" y="169333"/>
                </a:cubicBezTo>
                <a:lnTo>
                  <a:pt x="56444" y="197556"/>
                </a:lnTo>
                <a:cubicBezTo>
                  <a:pt x="56444" y="205361"/>
                  <a:pt x="50139" y="211667"/>
                  <a:pt x="42333" y="211667"/>
                </a:cubicBezTo>
                <a:lnTo>
                  <a:pt x="14111" y="211667"/>
                </a:lnTo>
                <a:cubicBezTo>
                  <a:pt x="6306" y="211667"/>
                  <a:pt x="0" y="205361"/>
                  <a:pt x="0" y="197556"/>
                </a:cubicBezTo>
                <a:lnTo>
                  <a:pt x="0" y="169333"/>
                </a:lnTo>
                <a:cubicBezTo>
                  <a:pt x="0" y="161528"/>
                  <a:pt x="6306" y="155222"/>
                  <a:pt x="14111" y="155222"/>
                </a:cubicBezTo>
                <a:lnTo>
                  <a:pt x="17639" y="155222"/>
                </a:lnTo>
                <a:lnTo>
                  <a:pt x="17639" y="130528"/>
                </a:lnTo>
                <a:cubicBezTo>
                  <a:pt x="17639" y="112977"/>
                  <a:pt x="31838" y="98778"/>
                  <a:pt x="49389" y="98778"/>
                </a:cubicBezTo>
                <a:lnTo>
                  <a:pt x="102306" y="98778"/>
                </a:lnTo>
                <a:lnTo>
                  <a:pt x="102306" y="70556"/>
                </a:lnTo>
                <a:lnTo>
                  <a:pt x="98778" y="70556"/>
                </a:lnTo>
                <a:cubicBezTo>
                  <a:pt x="90973" y="70556"/>
                  <a:pt x="84667" y="64250"/>
                  <a:pt x="84667" y="56444"/>
                </a:cubicBezTo>
                <a:lnTo>
                  <a:pt x="84667" y="28222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50" name="Text 48"/>
          <p:cNvSpPr/>
          <p:nvPr/>
        </p:nvSpPr>
        <p:spPr>
          <a:xfrm>
            <a:off x="5392282" y="1241778"/>
            <a:ext cx="6425259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商业模式画布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119467" y="1627481"/>
            <a:ext cx="2126074" cy="1919111"/>
          </a:xfrm>
          <a:custGeom>
            <a:avLst/>
            <a:gdLst/>
            <a:ahLst/>
            <a:cxnLst/>
            <a:rect l="l" t="t" r="r" b="b"/>
            <a:pathLst>
              <a:path w="2126074" h="1919111">
                <a:moveTo>
                  <a:pt x="75268" y="0"/>
                </a:moveTo>
                <a:lnTo>
                  <a:pt x="2050807" y="0"/>
                </a:lnTo>
                <a:cubicBezTo>
                  <a:pt x="2092376" y="0"/>
                  <a:pt x="2126074" y="33698"/>
                  <a:pt x="2126074" y="75268"/>
                </a:cubicBezTo>
                <a:lnTo>
                  <a:pt x="2126074" y="1843844"/>
                </a:lnTo>
                <a:cubicBezTo>
                  <a:pt x="2126074" y="1885413"/>
                  <a:pt x="2092376" y="1919111"/>
                  <a:pt x="2050807" y="1919111"/>
                </a:cubicBezTo>
                <a:lnTo>
                  <a:pt x="75268" y="1919111"/>
                </a:lnTo>
                <a:cubicBezTo>
                  <a:pt x="33698" y="1919111"/>
                  <a:pt x="0" y="1885413"/>
                  <a:pt x="0" y="1843844"/>
                </a:cubicBezTo>
                <a:lnTo>
                  <a:pt x="0" y="75268"/>
                </a:lnTo>
                <a:cubicBezTo>
                  <a:pt x="0" y="33698"/>
                  <a:pt x="33698" y="0"/>
                  <a:pt x="75268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 w="25400">
            <a:solidFill>
              <a:srgbClr val="3A6B5F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22948" y="1730963"/>
            <a:ext cx="2003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货源获取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222948" y="2032000"/>
            <a:ext cx="199437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品牌过季尾货、退货、渠道剩余库存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42114" y="1627481"/>
            <a:ext cx="2126074" cy="1919111"/>
          </a:xfrm>
          <a:custGeom>
            <a:avLst/>
            <a:gdLst/>
            <a:ahLst/>
            <a:cxnLst/>
            <a:rect l="l" t="t" r="r" b="b"/>
            <a:pathLst>
              <a:path w="2126074" h="1919111">
                <a:moveTo>
                  <a:pt x="75268" y="0"/>
                </a:moveTo>
                <a:lnTo>
                  <a:pt x="2050807" y="0"/>
                </a:lnTo>
                <a:cubicBezTo>
                  <a:pt x="2092376" y="0"/>
                  <a:pt x="2126074" y="33698"/>
                  <a:pt x="2126074" y="75268"/>
                </a:cubicBezTo>
                <a:lnTo>
                  <a:pt x="2126074" y="1843844"/>
                </a:lnTo>
                <a:cubicBezTo>
                  <a:pt x="2126074" y="1885413"/>
                  <a:pt x="2092376" y="1919111"/>
                  <a:pt x="2050807" y="1919111"/>
                </a:cubicBezTo>
                <a:lnTo>
                  <a:pt x="75268" y="1919111"/>
                </a:lnTo>
                <a:cubicBezTo>
                  <a:pt x="33698" y="1919111"/>
                  <a:pt x="0" y="1885413"/>
                  <a:pt x="0" y="1843844"/>
                </a:cubicBezTo>
                <a:lnTo>
                  <a:pt x="0" y="75268"/>
                </a:lnTo>
                <a:cubicBezTo>
                  <a:pt x="0" y="33698"/>
                  <a:pt x="33698" y="0"/>
                  <a:pt x="75268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 w="25400">
            <a:solidFill>
              <a:srgbClr val="8FA89B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5595" y="1730963"/>
            <a:ext cx="2003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定价策略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45595" y="2032000"/>
            <a:ext cx="199437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极低折扣(20%-60% off)快速周转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564761" y="1627481"/>
            <a:ext cx="2126074" cy="1919111"/>
          </a:xfrm>
          <a:custGeom>
            <a:avLst/>
            <a:gdLst/>
            <a:ahLst/>
            <a:cxnLst/>
            <a:rect l="l" t="t" r="r" b="b"/>
            <a:pathLst>
              <a:path w="2126074" h="1919111">
                <a:moveTo>
                  <a:pt x="75268" y="0"/>
                </a:moveTo>
                <a:lnTo>
                  <a:pt x="2050807" y="0"/>
                </a:lnTo>
                <a:cubicBezTo>
                  <a:pt x="2092376" y="0"/>
                  <a:pt x="2126074" y="33698"/>
                  <a:pt x="2126074" y="75268"/>
                </a:cubicBezTo>
                <a:lnTo>
                  <a:pt x="2126074" y="1843844"/>
                </a:lnTo>
                <a:cubicBezTo>
                  <a:pt x="2126074" y="1885413"/>
                  <a:pt x="2092376" y="1919111"/>
                  <a:pt x="2050807" y="1919111"/>
                </a:cubicBezTo>
                <a:lnTo>
                  <a:pt x="75268" y="1919111"/>
                </a:lnTo>
                <a:cubicBezTo>
                  <a:pt x="33698" y="1919111"/>
                  <a:pt x="0" y="1885413"/>
                  <a:pt x="0" y="1843844"/>
                </a:cubicBezTo>
                <a:lnTo>
                  <a:pt x="0" y="75268"/>
                </a:lnTo>
                <a:cubicBezTo>
                  <a:pt x="0" y="33698"/>
                  <a:pt x="33698" y="0"/>
                  <a:pt x="75268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 w="25400">
            <a:solidFill>
              <a:srgbClr val="B89B72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68242" y="1730963"/>
            <a:ext cx="2003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销售渠道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668242" y="2032000"/>
            <a:ext cx="199437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实体仓储式卖场为主,电商补充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119467" y="3643019"/>
            <a:ext cx="2126074" cy="1919111"/>
          </a:xfrm>
          <a:custGeom>
            <a:avLst/>
            <a:gdLst/>
            <a:ahLst/>
            <a:cxnLst/>
            <a:rect l="l" t="t" r="r" b="b"/>
            <a:pathLst>
              <a:path w="2126074" h="1919111">
                <a:moveTo>
                  <a:pt x="75268" y="0"/>
                </a:moveTo>
                <a:lnTo>
                  <a:pt x="2050807" y="0"/>
                </a:lnTo>
                <a:cubicBezTo>
                  <a:pt x="2092376" y="0"/>
                  <a:pt x="2126074" y="33698"/>
                  <a:pt x="2126074" y="75268"/>
                </a:cubicBezTo>
                <a:lnTo>
                  <a:pt x="2126074" y="1843844"/>
                </a:lnTo>
                <a:cubicBezTo>
                  <a:pt x="2126074" y="1885413"/>
                  <a:pt x="2092376" y="1919111"/>
                  <a:pt x="2050807" y="1919111"/>
                </a:cubicBezTo>
                <a:lnTo>
                  <a:pt x="75268" y="1919111"/>
                </a:lnTo>
                <a:cubicBezTo>
                  <a:pt x="33698" y="1919111"/>
                  <a:pt x="0" y="1885413"/>
                  <a:pt x="0" y="1843844"/>
                </a:cubicBezTo>
                <a:lnTo>
                  <a:pt x="0" y="75268"/>
                </a:lnTo>
                <a:cubicBezTo>
                  <a:pt x="0" y="33698"/>
                  <a:pt x="33698" y="0"/>
                  <a:pt x="75268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 w="25400">
            <a:solidFill>
              <a:srgbClr val="3A6B5F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22948" y="3746500"/>
            <a:ext cx="2003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目标客群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222948" y="4047537"/>
            <a:ext cx="199437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追求高性价比的广泛大众消费者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42114" y="3643019"/>
            <a:ext cx="2126074" cy="1919111"/>
          </a:xfrm>
          <a:custGeom>
            <a:avLst/>
            <a:gdLst/>
            <a:ahLst/>
            <a:cxnLst/>
            <a:rect l="l" t="t" r="r" b="b"/>
            <a:pathLst>
              <a:path w="2126074" h="1919111">
                <a:moveTo>
                  <a:pt x="75268" y="0"/>
                </a:moveTo>
                <a:lnTo>
                  <a:pt x="2050807" y="0"/>
                </a:lnTo>
                <a:cubicBezTo>
                  <a:pt x="2092376" y="0"/>
                  <a:pt x="2126074" y="33698"/>
                  <a:pt x="2126074" y="75268"/>
                </a:cubicBezTo>
                <a:lnTo>
                  <a:pt x="2126074" y="1843844"/>
                </a:lnTo>
                <a:cubicBezTo>
                  <a:pt x="2126074" y="1885413"/>
                  <a:pt x="2092376" y="1919111"/>
                  <a:pt x="2050807" y="1919111"/>
                </a:cubicBezTo>
                <a:lnTo>
                  <a:pt x="75268" y="1919111"/>
                </a:lnTo>
                <a:cubicBezTo>
                  <a:pt x="33698" y="1919111"/>
                  <a:pt x="0" y="1885413"/>
                  <a:pt x="0" y="1843844"/>
                </a:cubicBezTo>
                <a:lnTo>
                  <a:pt x="0" y="75268"/>
                </a:lnTo>
                <a:cubicBezTo>
                  <a:pt x="0" y="33698"/>
                  <a:pt x="33698" y="0"/>
                  <a:pt x="75268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 w="25400">
            <a:solidFill>
              <a:srgbClr val="8FA89B">
                <a:alpha val="2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45595" y="3746500"/>
            <a:ext cx="2003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45595" y="4047537"/>
            <a:ext cx="199437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强采购网络、快周转运营、成本控制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564761" y="3643019"/>
            <a:ext cx="2126074" cy="1919111"/>
          </a:xfrm>
          <a:custGeom>
            <a:avLst/>
            <a:gdLst/>
            <a:ahLst/>
            <a:cxnLst/>
            <a:rect l="l" t="t" r="r" b="b"/>
            <a:pathLst>
              <a:path w="2126074" h="1919111">
                <a:moveTo>
                  <a:pt x="75268" y="0"/>
                </a:moveTo>
                <a:lnTo>
                  <a:pt x="2050807" y="0"/>
                </a:lnTo>
                <a:cubicBezTo>
                  <a:pt x="2092376" y="0"/>
                  <a:pt x="2126074" y="33698"/>
                  <a:pt x="2126074" y="75268"/>
                </a:cubicBezTo>
                <a:lnTo>
                  <a:pt x="2126074" y="1843844"/>
                </a:lnTo>
                <a:cubicBezTo>
                  <a:pt x="2126074" y="1885413"/>
                  <a:pt x="2092376" y="1919111"/>
                  <a:pt x="2050807" y="1919111"/>
                </a:cubicBezTo>
                <a:lnTo>
                  <a:pt x="75268" y="1919111"/>
                </a:lnTo>
                <a:cubicBezTo>
                  <a:pt x="33698" y="1919111"/>
                  <a:pt x="0" y="1885413"/>
                  <a:pt x="0" y="1843844"/>
                </a:cubicBezTo>
                <a:lnTo>
                  <a:pt x="0" y="75268"/>
                </a:lnTo>
                <a:cubicBezTo>
                  <a:pt x="0" y="33698"/>
                  <a:pt x="33698" y="0"/>
                  <a:pt x="75268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 w="25400">
            <a:solidFill>
              <a:srgbClr val="B89B72">
                <a:alpha val="2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68242" y="3746500"/>
            <a:ext cx="200377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价值主张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668242" y="4047537"/>
            <a:ext cx="199437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大牌低价、寻宝体验、高频上新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006578" y="5809074"/>
            <a:ext cx="6801556" cy="1034815"/>
          </a:xfrm>
          <a:custGeom>
            <a:avLst/>
            <a:gdLst/>
            <a:ahLst/>
            <a:cxnLst/>
            <a:rect l="l" t="t" r="r" b="b"/>
            <a:pathLst>
              <a:path w="6801556" h="1034815">
                <a:moveTo>
                  <a:pt x="112888" y="0"/>
                </a:moveTo>
                <a:lnTo>
                  <a:pt x="6688668" y="0"/>
                </a:lnTo>
                <a:cubicBezTo>
                  <a:pt x="6751014" y="0"/>
                  <a:pt x="6801556" y="50542"/>
                  <a:pt x="6801556" y="112888"/>
                </a:cubicBezTo>
                <a:lnTo>
                  <a:pt x="6801556" y="921927"/>
                </a:lnTo>
                <a:cubicBezTo>
                  <a:pt x="6801556" y="984273"/>
                  <a:pt x="6751014" y="1034815"/>
                  <a:pt x="6688668" y="1034815"/>
                </a:cubicBezTo>
                <a:lnTo>
                  <a:pt x="112888" y="1034815"/>
                </a:lnTo>
                <a:cubicBezTo>
                  <a:pt x="50542" y="1034815"/>
                  <a:pt x="0" y="984273"/>
                  <a:pt x="0" y="921927"/>
                </a:cubicBezTo>
                <a:lnTo>
                  <a:pt x="0" y="112888"/>
                </a:lnTo>
                <a:cubicBezTo>
                  <a:pt x="0" y="50542"/>
                  <a:pt x="50542" y="0"/>
                  <a:pt x="112888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>
                  <a:alpha val="20000"/>
                </a:srgbClr>
              </a:gs>
              <a:gs pos="100000">
                <a:srgbClr val="8FA89B">
                  <a:alpha val="20000"/>
                </a:srgbClr>
              </a:gs>
            </a:gsLst>
            <a:lin ang="0" scaled="1"/>
          </a:gradFill>
          <a:ln w="25400">
            <a:solidFill>
              <a:srgbClr val="B89B72">
                <a:alpha val="40000"/>
              </a:srgbClr>
            </a:solidFill>
            <a:prstDash val="solid"/>
          </a:ln>
          <a:effectLst>
            <a:outerShdw sx="100000" sy="100000" kx="0" ky="0" algn="bl" rotWithShape="0" blurRad="56444" dist="37630" dir="5400000">
              <a:srgbClr val="000000">
                <a:alpha val="10196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175911" y="5969000"/>
            <a:ext cx="141111" cy="188148"/>
          </a:xfrm>
          <a:custGeom>
            <a:avLst/>
            <a:gdLst/>
            <a:ahLst/>
            <a:cxnLst/>
            <a:rect l="l" t="t" r="r" b="b"/>
            <a:pathLst>
              <a:path w="141111" h="188148">
                <a:moveTo>
                  <a:pt x="107634" y="141111"/>
                </a:moveTo>
                <a:cubicBezTo>
                  <a:pt x="110317" y="132916"/>
                  <a:pt x="115682" y="125493"/>
                  <a:pt x="121745" y="119099"/>
                </a:cubicBezTo>
                <a:cubicBezTo>
                  <a:pt x="133762" y="106458"/>
                  <a:pt x="141111" y="89370"/>
                  <a:pt x="141111" y="70556"/>
                </a:cubicBezTo>
                <a:cubicBezTo>
                  <a:pt x="141111" y="31603"/>
                  <a:pt x="109508" y="0"/>
                  <a:pt x="70556" y="0"/>
                </a:cubicBezTo>
                <a:cubicBezTo>
                  <a:pt x="31603" y="0"/>
                  <a:pt x="0" y="31603"/>
                  <a:pt x="0" y="70556"/>
                </a:cubicBezTo>
                <a:cubicBezTo>
                  <a:pt x="0" y="89370"/>
                  <a:pt x="7350" y="106458"/>
                  <a:pt x="19366" y="119099"/>
                </a:cubicBezTo>
                <a:cubicBezTo>
                  <a:pt x="25429" y="125493"/>
                  <a:pt x="30831" y="132916"/>
                  <a:pt x="33477" y="141111"/>
                </a:cubicBezTo>
                <a:lnTo>
                  <a:pt x="107597" y="141111"/>
                </a:lnTo>
                <a:close/>
                <a:moveTo>
                  <a:pt x="105833" y="158750"/>
                </a:moveTo>
                <a:lnTo>
                  <a:pt x="35278" y="158750"/>
                </a:lnTo>
                <a:lnTo>
                  <a:pt x="35278" y="164630"/>
                </a:lnTo>
                <a:cubicBezTo>
                  <a:pt x="35278" y="180872"/>
                  <a:pt x="48433" y="194028"/>
                  <a:pt x="64676" y="194028"/>
                </a:cubicBezTo>
                <a:lnTo>
                  <a:pt x="76435" y="194028"/>
                </a:lnTo>
                <a:cubicBezTo>
                  <a:pt x="92678" y="194028"/>
                  <a:pt x="105833" y="180872"/>
                  <a:pt x="105833" y="164630"/>
                </a:cubicBezTo>
                <a:lnTo>
                  <a:pt x="105833" y="158750"/>
                </a:lnTo>
                <a:close/>
                <a:moveTo>
                  <a:pt x="67616" y="41157"/>
                </a:moveTo>
                <a:cubicBezTo>
                  <a:pt x="52990" y="41157"/>
                  <a:pt x="41157" y="52990"/>
                  <a:pt x="41157" y="67616"/>
                </a:cubicBezTo>
                <a:cubicBezTo>
                  <a:pt x="41157" y="72503"/>
                  <a:pt x="37225" y="76435"/>
                  <a:pt x="32338" y="76435"/>
                </a:cubicBezTo>
                <a:cubicBezTo>
                  <a:pt x="27451" y="76435"/>
                  <a:pt x="23519" y="72503"/>
                  <a:pt x="23519" y="67616"/>
                </a:cubicBezTo>
                <a:cubicBezTo>
                  <a:pt x="23519" y="43252"/>
                  <a:pt x="43252" y="23519"/>
                  <a:pt x="67616" y="23519"/>
                </a:cubicBezTo>
                <a:cubicBezTo>
                  <a:pt x="72503" y="23519"/>
                  <a:pt x="76435" y="27451"/>
                  <a:pt x="76435" y="32338"/>
                </a:cubicBezTo>
                <a:cubicBezTo>
                  <a:pt x="76435" y="37225"/>
                  <a:pt x="72503" y="41157"/>
                  <a:pt x="67616" y="41157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71" name="Text 69"/>
          <p:cNvSpPr/>
          <p:nvPr/>
        </p:nvSpPr>
        <p:spPr>
          <a:xfrm>
            <a:off x="5439319" y="5931370"/>
            <a:ext cx="185325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对openmaxx的启示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5147689" y="6326481"/>
            <a:ext cx="131704" cy="131704"/>
          </a:xfrm>
          <a:custGeom>
            <a:avLst/>
            <a:gdLst/>
            <a:ahLst/>
            <a:cxnLst/>
            <a:rect l="l" t="t" r="r" b="b"/>
            <a:pathLst>
              <a:path w="131704" h="131704">
                <a:moveTo>
                  <a:pt x="65852" y="131704"/>
                </a:moveTo>
                <a:cubicBezTo>
                  <a:pt x="102196" y="131704"/>
                  <a:pt x="131704" y="102196"/>
                  <a:pt x="131704" y="65852"/>
                </a:cubicBezTo>
                <a:cubicBezTo>
                  <a:pt x="131704" y="29507"/>
                  <a:pt x="102196" y="0"/>
                  <a:pt x="65852" y="0"/>
                </a:cubicBezTo>
                <a:cubicBezTo>
                  <a:pt x="29507" y="0"/>
                  <a:pt x="0" y="29507"/>
                  <a:pt x="0" y="65852"/>
                </a:cubicBezTo>
                <a:cubicBezTo>
                  <a:pt x="0" y="102196"/>
                  <a:pt x="29507" y="131704"/>
                  <a:pt x="65852" y="131704"/>
                </a:cubicBezTo>
                <a:close/>
                <a:moveTo>
                  <a:pt x="87562" y="54714"/>
                </a:moveTo>
                <a:lnTo>
                  <a:pt x="66984" y="87640"/>
                </a:lnTo>
                <a:cubicBezTo>
                  <a:pt x="65903" y="89363"/>
                  <a:pt x="64051" y="90443"/>
                  <a:pt x="62019" y="90546"/>
                </a:cubicBezTo>
                <a:cubicBezTo>
                  <a:pt x="59987" y="90649"/>
                  <a:pt x="58032" y="89723"/>
                  <a:pt x="56823" y="88077"/>
                </a:cubicBezTo>
                <a:lnTo>
                  <a:pt x="44476" y="71614"/>
                </a:lnTo>
                <a:cubicBezTo>
                  <a:pt x="42418" y="68887"/>
                  <a:pt x="42984" y="65029"/>
                  <a:pt x="45710" y="62971"/>
                </a:cubicBezTo>
                <a:cubicBezTo>
                  <a:pt x="48437" y="60913"/>
                  <a:pt x="52296" y="61479"/>
                  <a:pt x="54354" y="64206"/>
                </a:cubicBezTo>
                <a:lnTo>
                  <a:pt x="61299" y="73466"/>
                </a:lnTo>
                <a:lnTo>
                  <a:pt x="77093" y="48180"/>
                </a:lnTo>
                <a:cubicBezTo>
                  <a:pt x="78894" y="45299"/>
                  <a:pt x="82701" y="44399"/>
                  <a:pt x="85607" y="46225"/>
                </a:cubicBezTo>
                <a:cubicBezTo>
                  <a:pt x="88514" y="48051"/>
                  <a:pt x="89389" y="51833"/>
                  <a:pt x="87562" y="5473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3" name="Text 71"/>
          <p:cNvSpPr/>
          <p:nvPr/>
        </p:nvSpPr>
        <p:spPr>
          <a:xfrm>
            <a:off x="5368763" y="6270037"/>
            <a:ext cx="3019778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采购网络建设:</a:t>
            </a:r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建立稳定的品牌尾货供应渠道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481660" y="6326481"/>
            <a:ext cx="131704" cy="131704"/>
          </a:xfrm>
          <a:custGeom>
            <a:avLst/>
            <a:gdLst/>
            <a:ahLst/>
            <a:cxnLst/>
            <a:rect l="l" t="t" r="r" b="b"/>
            <a:pathLst>
              <a:path w="131704" h="131704">
                <a:moveTo>
                  <a:pt x="65852" y="131704"/>
                </a:moveTo>
                <a:cubicBezTo>
                  <a:pt x="102196" y="131704"/>
                  <a:pt x="131704" y="102196"/>
                  <a:pt x="131704" y="65852"/>
                </a:cubicBezTo>
                <a:cubicBezTo>
                  <a:pt x="131704" y="29507"/>
                  <a:pt x="102196" y="0"/>
                  <a:pt x="65852" y="0"/>
                </a:cubicBezTo>
                <a:cubicBezTo>
                  <a:pt x="29507" y="0"/>
                  <a:pt x="0" y="29507"/>
                  <a:pt x="0" y="65852"/>
                </a:cubicBezTo>
                <a:cubicBezTo>
                  <a:pt x="0" y="102196"/>
                  <a:pt x="29507" y="131704"/>
                  <a:pt x="65852" y="131704"/>
                </a:cubicBezTo>
                <a:close/>
                <a:moveTo>
                  <a:pt x="87562" y="54714"/>
                </a:moveTo>
                <a:lnTo>
                  <a:pt x="66984" y="87640"/>
                </a:lnTo>
                <a:cubicBezTo>
                  <a:pt x="65903" y="89363"/>
                  <a:pt x="64051" y="90443"/>
                  <a:pt x="62019" y="90546"/>
                </a:cubicBezTo>
                <a:cubicBezTo>
                  <a:pt x="59987" y="90649"/>
                  <a:pt x="58032" y="89723"/>
                  <a:pt x="56823" y="88077"/>
                </a:cubicBezTo>
                <a:lnTo>
                  <a:pt x="44476" y="71614"/>
                </a:lnTo>
                <a:cubicBezTo>
                  <a:pt x="42418" y="68887"/>
                  <a:pt x="42984" y="65029"/>
                  <a:pt x="45710" y="62971"/>
                </a:cubicBezTo>
                <a:cubicBezTo>
                  <a:pt x="48437" y="60913"/>
                  <a:pt x="52296" y="61479"/>
                  <a:pt x="54354" y="64206"/>
                </a:cubicBezTo>
                <a:lnTo>
                  <a:pt x="61299" y="73466"/>
                </a:lnTo>
                <a:lnTo>
                  <a:pt x="77093" y="48180"/>
                </a:lnTo>
                <a:cubicBezTo>
                  <a:pt x="78894" y="45299"/>
                  <a:pt x="82701" y="44399"/>
                  <a:pt x="85607" y="46225"/>
                </a:cubicBezTo>
                <a:cubicBezTo>
                  <a:pt x="88514" y="48051"/>
                  <a:pt x="89389" y="51833"/>
                  <a:pt x="87562" y="5473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5" name="Text 73"/>
          <p:cNvSpPr/>
          <p:nvPr/>
        </p:nvSpPr>
        <p:spPr>
          <a:xfrm>
            <a:off x="8702734" y="6270037"/>
            <a:ext cx="2568222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快周转运营:</a:t>
            </a:r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高频上新保持门店新鲜感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5147689" y="6571074"/>
            <a:ext cx="131704" cy="131704"/>
          </a:xfrm>
          <a:custGeom>
            <a:avLst/>
            <a:gdLst/>
            <a:ahLst/>
            <a:cxnLst/>
            <a:rect l="l" t="t" r="r" b="b"/>
            <a:pathLst>
              <a:path w="131704" h="131704">
                <a:moveTo>
                  <a:pt x="65852" y="131704"/>
                </a:moveTo>
                <a:cubicBezTo>
                  <a:pt x="102196" y="131704"/>
                  <a:pt x="131704" y="102196"/>
                  <a:pt x="131704" y="65852"/>
                </a:cubicBezTo>
                <a:cubicBezTo>
                  <a:pt x="131704" y="29507"/>
                  <a:pt x="102196" y="0"/>
                  <a:pt x="65852" y="0"/>
                </a:cubicBezTo>
                <a:cubicBezTo>
                  <a:pt x="29507" y="0"/>
                  <a:pt x="0" y="29507"/>
                  <a:pt x="0" y="65852"/>
                </a:cubicBezTo>
                <a:cubicBezTo>
                  <a:pt x="0" y="102196"/>
                  <a:pt x="29507" y="131704"/>
                  <a:pt x="65852" y="131704"/>
                </a:cubicBezTo>
                <a:close/>
                <a:moveTo>
                  <a:pt x="87562" y="54714"/>
                </a:moveTo>
                <a:lnTo>
                  <a:pt x="66984" y="87640"/>
                </a:lnTo>
                <a:cubicBezTo>
                  <a:pt x="65903" y="89363"/>
                  <a:pt x="64051" y="90443"/>
                  <a:pt x="62019" y="90546"/>
                </a:cubicBezTo>
                <a:cubicBezTo>
                  <a:pt x="59987" y="90649"/>
                  <a:pt x="58032" y="89723"/>
                  <a:pt x="56823" y="88077"/>
                </a:cubicBezTo>
                <a:lnTo>
                  <a:pt x="44476" y="71614"/>
                </a:lnTo>
                <a:cubicBezTo>
                  <a:pt x="42418" y="68887"/>
                  <a:pt x="42984" y="65029"/>
                  <a:pt x="45710" y="62971"/>
                </a:cubicBezTo>
                <a:cubicBezTo>
                  <a:pt x="48437" y="60913"/>
                  <a:pt x="52296" y="61479"/>
                  <a:pt x="54354" y="64206"/>
                </a:cubicBezTo>
                <a:lnTo>
                  <a:pt x="61299" y="73466"/>
                </a:lnTo>
                <a:lnTo>
                  <a:pt x="77093" y="48180"/>
                </a:lnTo>
                <a:cubicBezTo>
                  <a:pt x="78894" y="45299"/>
                  <a:pt x="82701" y="44399"/>
                  <a:pt x="85607" y="46225"/>
                </a:cubicBezTo>
                <a:cubicBezTo>
                  <a:pt x="88514" y="48051"/>
                  <a:pt x="89389" y="51833"/>
                  <a:pt x="87562" y="5473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7" name="Text 75"/>
          <p:cNvSpPr/>
          <p:nvPr/>
        </p:nvSpPr>
        <p:spPr>
          <a:xfrm>
            <a:off x="5368763" y="6514630"/>
            <a:ext cx="2417704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成本控制:</a:t>
            </a:r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仓储式陈列降低运营成本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481660" y="6571074"/>
            <a:ext cx="131704" cy="131704"/>
          </a:xfrm>
          <a:custGeom>
            <a:avLst/>
            <a:gdLst/>
            <a:ahLst/>
            <a:cxnLst/>
            <a:rect l="l" t="t" r="r" b="b"/>
            <a:pathLst>
              <a:path w="131704" h="131704">
                <a:moveTo>
                  <a:pt x="65852" y="131704"/>
                </a:moveTo>
                <a:cubicBezTo>
                  <a:pt x="102196" y="131704"/>
                  <a:pt x="131704" y="102196"/>
                  <a:pt x="131704" y="65852"/>
                </a:cubicBezTo>
                <a:cubicBezTo>
                  <a:pt x="131704" y="29507"/>
                  <a:pt x="102196" y="0"/>
                  <a:pt x="65852" y="0"/>
                </a:cubicBezTo>
                <a:cubicBezTo>
                  <a:pt x="29507" y="0"/>
                  <a:pt x="0" y="29507"/>
                  <a:pt x="0" y="65852"/>
                </a:cubicBezTo>
                <a:cubicBezTo>
                  <a:pt x="0" y="102196"/>
                  <a:pt x="29507" y="131704"/>
                  <a:pt x="65852" y="131704"/>
                </a:cubicBezTo>
                <a:close/>
                <a:moveTo>
                  <a:pt x="87562" y="54714"/>
                </a:moveTo>
                <a:lnTo>
                  <a:pt x="66984" y="87640"/>
                </a:lnTo>
                <a:cubicBezTo>
                  <a:pt x="65903" y="89363"/>
                  <a:pt x="64051" y="90443"/>
                  <a:pt x="62019" y="90546"/>
                </a:cubicBezTo>
                <a:cubicBezTo>
                  <a:pt x="59987" y="90649"/>
                  <a:pt x="58032" y="89723"/>
                  <a:pt x="56823" y="88077"/>
                </a:cubicBezTo>
                <a:lnTo>
                  <a:pt x="44476" y="71614"/>
                </a:lnTo>
                <a:cubicBezTo>
                  <a:pt x="42418" y="68887"/>
                  <a:pt x="42984" y="65029"/>
                  <a:pt x="45710" y="62971"/>
                </a:cubicBezTo>
                <a:cubicBezTo>
                  <a:pt x="48437" y="60913"/>
                  <a:pt x="52296" y="61479"/>
                  <a:pt x="54354" y="64206"/>
                </a:cubicBezTo>
                <a:lnTo>
                  <a:pt x="61299" y="73466"/>
                </a:lnTo>
                <a:lnTo>
                  <a:pt x="77093" y="48180"/>
                </a:lnTo>
                <a:cubicBezTo>
                  <a:pt x="78894" y="45299"/>
                  <a:pt x="82701" y="44399"/>
                  <a:pt x="85607" y="46225"/>
                </a:cubicBezTo>
                <a:cubicBezTo>
                  <a:pt x="88514" y="48051"/>
                  <a:pt x="89389" y="51833"/>
                  <a:pt x="87562" y="5473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9" name="Text 77"/>
          <p:cNvSpPr/>
          <p:nvPr/>
        </p:nvSpPr>
        <p:spPr>
          <a:xfrm>
            <a:off x="8702734" y="6514630"/>
            <a:ext cx="2116667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体验设计:</a:t>
            </a:r>
            <a:pPr>
              <a:lnSpc>
                <a:spcPct val="110000"/>
              </a:lnSpc>
            </a:pPr>
            <a:r>
              <a:rPr lang="en-US" sz="1185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打造寻宝式购物氛围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9134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线上闪购先驱:Rue Gilt Groupe &amp; Veepee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会员制限时闪购模式的欧洲与北美代表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5638800" cy="4324350"/>
          </a:xfrm>
          <a:custGeom>
            <a:avLst/>
            <a:gdLst/>
            <a:ahLst/>
            <a:cxnLst/>
            <a:rect l="l" t="t" r="r" b="b"/>
            <a:pathLst>
              <a:path w="5638800" h="43243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210057"/>
                </a:lnTo>
                <a:cubicBezTo>
                  <a:pt x="5638800" y="4273179"/>
                  <a:pt x="5587629" y="4324350"/>
                  <a:pt x="5524507" y="4324350"/>
                </a:cubicBezTo>
                <a:lnTo>
                  <a:pt x="114293" y="4324350"/>
                </a:lnTo>
                <a:cubicBezTo>
                  <a:pt x="51213" y="4324350"/>
                  <a:pt x="0" y="4273137"/>
                  <a:pt x="0" y="42100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525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8" name="Text 6"/>
          <p:cNvSpPr/>
          <p:nvPr/>
        </p:nvSpPr>
        <p:spPr>
          <a:xfrm>
            <a:off x="541139" y="1638300"/>
            <a:ext cx="62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RGG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5240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Rue Gilt Groupe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8288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北美线上闪购领导者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1717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2479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发展历程: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Gilt创立于2007年,Rue La La约在2008年,2018年合并成立Rue Gilt Groupe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8575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29337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以线上为主(会员制/限时活动的网站与App),线下门店/仓储并非核心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5433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36195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几乎只有/以"品牌限时闪购(flash-sale)"为主,会员制、限时限量的日常促销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2291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43053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商业模式: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会员制/邀约型的限时闪购平台——通过限定时间、多品牌联合的"日常大牌折扣活动"制造稀缺与冲动购买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9149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" y="49911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市场定位: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偏"线上折扣+奢侈/高端品牌的打折入口",靠流量池与品牌合作拿到低价货源/独家场次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352550"/>
            <a:ext cx="5638800" cy="4324350"/>
          </a:xfrm>
          <a:custGeom>
            <a:avLst/>
            <a:gdLst/>
            <a:ahLst/>
            <a:cxnLst/>
            <a:rect l="l" t="t" r="r" b="b"/>
            <a:pathLst>
              <a:path w="5638800" h="432435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4210057"/>
                </a:lnTo>
                <a:cubicBezTo>
                  <a:pt x="5638800" y="4273179"/>
                  <a:pt x="5587629" y="4324350"/>
                  <a:pt x="5524507" y="4324350"/>
                </a:cubicBezTo>
                <a:lnTo>
                  <a:pt x="114293" y="4324350"/>
                </a:lnTo>
                <a:cubicBezTo>
                  <a:pt x="51213" y="4324350"/>
                  <a:pt x="0" y="4273137"/>
                  <a:pt x="0" y="42100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3525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38100" y="0"/>
                </a:moveTo>
                <a:lnTo>
                  <a:pt x="5600700" y="0"/>
                </a:lnTo>
                <a:cubicBezTo>
                  <a:pt x="5621728" y="0"/>
                  <a:pt x="5638800" y="17072"/>
                  <a:pt x="5638800" y="38100"/>
                </a:cubicBezTo>
                <a:lnTo>
                  <a:pt x="5638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89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46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FA89B"/>
          </a:solidFill>
          <a:ln/>
        </p:spPr>
      </p:sp>
      <p:sp>
        <p:nvSpPr>
          <p:cNvPr id="24" name="Text 22"/>
          <p:cNvSpPr/>
          <p:nvPr/>
        </p:nvSpPr>
        <p:spPr>
          <a:xfrm>
            <a:off x="6430417" y="1638300"/>
            <a:ext cx="43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VP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2300" y="15240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Veepee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72300" y="18288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欧洲闪购先驱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24600" y="21717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2479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发展历程: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2001年在法国创立(vente-privée),创始人为Jacques-Antoine Granjon等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24600" y="28575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9337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以线上限时特卖为主(起家于每日/限时的线上特卖),近年全球拓展并发展多元业务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4600" y="354330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304800"/>
                </a:lnTo>
                <a:cubicBezTo>
                  <a:pt x="5334000" y="346856"/>
                  <a:pt x="5299856" y="381000"/>
                  <a:pt x="5257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6195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以"品牌限时闪购(flash-sale)为主",是欧洲最典型的闪购先驱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24600" y="4000500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0767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商业模式: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平台化的限时特卖(库存来自品牌或工厂尾货),靠大量场次与会员制建立长期复购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4600" y="468630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304800"/>
                </a:lnTo>
                <a:cubicBezTo>
                  <a:pt x="5334000" y="346856"/>
                  <a:pt x="5299856" y="381000"/>
                  <a:pt x="5257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7625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市场定位: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"在线特卖/日常发现高性价比大牌"的入口,欧洲市场领导者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5829300"/>
            <a:ext cx="11430000" cy="1028700"/>
          </a:xfrm>
          <a:custGeom>
            <a:avLst/>
            <a:gdLst/>
            <a:ahLst/>
            <a:cxnLst/>
            <a:rect l="l" t="t" r="r" b="b"/>
            <a:pathLst>
              <a:path w="11430000" h="1028700">
                <a:moveTo>
                  <a:pt x="114299" y="0"/>
                </a:moveTo>
                <a:lnTo>
                  <a:pt x="11315701" y="0"/>
                </a:lnTo>
                <a:cubicBezTo>
                  <a:pt x="11378827" y="0"/>
                  <a:pt x="11430000" y="51173"/>
                  <a:pt x="11430000" y="114299"/>
                </a:cubicBezTo>
                <a:lnTo>
                  <a:pt x="11430000" y="914401"/>
                </a:lnTo>
                <a:cubicBezTo>
                  <a:pt x="11430000" y="977527"/>
                  <a:pt x="11378827" y="1028700"/>
                  <a:pt x="11315701" y="1028700"/>
                </a:cubicBezTo>
                <a:lnTo>
                  <a:pt x="114299" y="1028700"/>
                </a:lnTo>
                <a:cubicBezTo>
                  <a:pt x="51173" y="1028700"/>
                  <a:pt x="0" y="977527"/>
                  <a:pt x="0" y="9144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10000"/>
                </a:srgbClr>
              </a:gs>
              <a:gs pos="50000">
                <a:srgbClr val="8FA89B">
                  <a:alpha val="10000"/>
                </a:srgbClr>
              </a:gs>
              <a:gs pos="100000">
                <a:srgbClr val="B89B72">
                  <a:alpha val="1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5300" y="59626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39" name="Text 37"/>
          <p:cNvSpPr/>
          <p:nvPr/>
        </p:nvSpPr>
        <p:spPr>
          <a:xfrm>
            <a:off x="895350" y="59436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模式对比与启示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4825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41" name="Text 39"/>
          <p:cNvSpPr/>
          <p:nvPr/>
        </p:nvSpPr>
        <p:spPr>
          <a:xfrm>
            <a:off x="739601" y="6286500"/>
            <a:ext cx="3486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共同点: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均依托会员制+限时闪购制造稀缺感,线上渠道为主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76725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43" name="Text 41"/>
          <p:cNvSpPr/>
          <p:nvPr/>
        </p:nvSpPr>
        <p:spPr>
          <a:xfrm>
            <a:off x="4511576" y="6286500"/>
            <a:ext cx="3486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差异点: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RGG偏高端奢侈品牌,Veepee覆盖更广泛品牌层级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39100" y="632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45" name="Text 43"/>
          <p:cNvSpPr/>
          <p:nvPr/>
        </p:nvSpPr>
        <p:spPr>
          <a:xfrm>
            <a:off x="8267700" y="62865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对openmaxx: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可借鉴会员制运营与限时活动机制,但需结合线下优势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541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中国线上特卖龙头:唯品会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从线上闪购到全渠道折扣生态的转型之路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33500"/>
            <a:ext cx="5076825" cy="2819400"/>
          </a:xfrm>
          <a:custGeom>
            <a:avLst/>
            <a:gdLst/>
            <a:ahLst/>
            <a:cxnLst/>
            <a:rect l="l" t="t" r="r" b="b"/>
            <a:pathLst>
              <a:path w="5076825" h="2819400">
                <a:moveTo>
                  <a:pt x="114298" y="0"/>
                </a:moveTo>
                <a:lnTo>
                  <a:pt x="4962527" y="0"/>
                </a:lnTo>
                <a:cubicBezTo>
                  <a:pt x="5025652" y="0"/>
                  <a:pt x="5076825" y="51173"/>
                  <a:pt x="5076825" y="114298"/>
                </a:cubicBezTo>
                <a:lnTo>
                  <a:pt x="5076825" y="2705102"/>
                </a:lnTo>
                <a:cubicBezTo>
                  <a:pt x="5076825" y="2768227"/>
                  <a:pt x="5025652" y="2819400"/>
                  <a:pt x="4962527" y="2819400"/>
                </a:cubicBezTo>
                <a:lnTo>
                  <a:pt x="114298" y="2819400"/>
                </a:lnTo>
                <a:cubicBezTo>
                  <a:pt x="51173" y="2819400"/>
                  <a:pt x="0" y="2768227"/>
                  <a:pt x="0" y="27051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100000">
                <a:srgbClr val="8FA89B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543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7" name="Shape 5"/>
          <p:cNvSpPr/>
          <p:nvPr/>
        </p:nvSpPr>
        <p:spPr>
          <a:xfrm>
            <a:off x="679847" y="16668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4687" y="48667"/>
                </a:moveTo>
                <a:cubicBezTo>
                  <a:pt x="179822" y="44593"/>
                  <a:pt x="183059" y="38286"/>
                  <a:pt x="183059" y="31254"/>
                </a:cubicBezTo>
                <a:cubicBezTo>
                  <a:pt x="183059" y="18920"/>
                  <a:pt x="173069" y="8930"/>
                  <a:pt x="160734" y="8930"/>
                </a:cubicBezTo>
                <a:cubicBezTo>
                  <a:pt x="148400" y="8930"/>
                  <a:pt x="138410" y="18920"/>
                  <a:pt x="138410" y="31254"/>
                </a:cubicBezTo>
                <a:cubicBezTo>
                  <a:pt x="138410" y="38286"/>
                  <a:pt x="141703" y="44593"/>
                  <a:pt x="146782" y="48667"/>
                </a:cubicBezTo>
                <a:lnTo>
                  <a:pt x="108607" y="108719"/>
                </a:lnTo>
                <a:cubicBezTo>
                  <a:pt x="103026" y="117481"/>
                  <a:pt x="91139" y="119658"/>
                  <a:pt x="82823" y="113407"/>
                </a:cubicBezTo>
                <a:lnTo>
                  <a:pt x="49616" y="88571"/>
                </a:lnTo>
                <a:cubicBezTo>
                  <a:pt x="52127" y="84999"/>
                  <a:pt x="53578" y="80590"/>
                  <a:pt x="53578" y="75902"/>
                </a:cubicBezTo>
                <a:cubicBezTo>
                  <a:pt x="53578" y="63568"/>
                  <a:pt x="43588" y="53578"/>
                  <a:pt x="31254" y="53578"/>
                </a:cubicBezTo>
                <a:cubicBezTo>
                  <a:pt x="18920" y="53578"/>
                  <a:pt x="8930" y="63568"/>
                  <a:pt x="8930" y="75902"/>
                </a:cubicBezTo>
                <a:cubicBezTo>
                  <a:pt x="8930" y="88069"/>
                  <a:pt x="18697" y="98003"/>
                  <a:pt x="30807" y="98227"/>
                </a:cubicBezTo>
                <a:lnTo>
                  <a:pt x="49002" y="219615"/>
                </a:lnTo>
                <a:cubicBezTo>
                  <a:pt x="51625" y="237083"/>
                  <a:pt x="66638" y="250031"/>
                  <a:pt x="84330" y="250031"/>
                </a:cubicBezTo>
                <a:lnTo>
                  <a:pt x="237139" y="250031"/>
                </a:lnTo>
                <a:cubicBezTo>
                  <a:pt x="254831" y="250031"/>
                  <a:pt x="269844" y="237083"/>
                  <a:pt x="272467" y="219615"/>
                </a:cubicBezTo>
                <a:lnTo>
                  <a:pt x="290661" y="98227"/>
                </a:lnTo>
                <a:cubicBezTo>
                  <a:pt x="302772" y="98003"/>
                  <a:pt x="312539" y="88069"/>
                  <a:pt x="312539" y="75902"/>
                </a:cubicBezTo>
                <a:cubicBezTo>
                  <a:pt x="312539" y="63568"/>
                  <a:pt x="302549" y="53578"/>
                  <a:pt x="290215" y="53578"/>
                </a:cubicBezTo>
                <a:cubicBezTo>
                  <a:pt x="277881" y="53578"/>
                  <a:pt x="267891" y="63568"/>
                  <a:pt x="267891" y="75902"/>
                </a:cubicBezTo>
                <a:cubicBezTo>
                  <a:pt x="267891" y="80590"/>
                  <a:pt x="269342" y="84999"/>
                  <a:pt x="271853" y="88571"/>
                </a:cubicBezTo>
                <a:lnTo>
                  <a:pt x="238702" y="113463"/>
                </a:lnTo>
                <a:cubicBezTo>
                  <a:pt x="230386" y="119714"/>
                  <a:pt x="218498" y="117537"/>
                  <a:pt x="212917" y="108775"/>
                </a:cubicBezTo>
                <a:lnTo>
                  <a:pt x="174687" y="48667"/>
                </a:ln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1524000"/>
            <a:ext cx="1000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唯品会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86690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Vipshop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247900"/>
            <a:ext cx="2286000" cy="838200"/>
          </a:xfrm>
          <a:custGeom>
            <a:avLst/>
            <a:gdLst/>
            <a:ahLst/>
            <a:cxnLst/>
            <a:rect l="l" t="t" r="r" b="b"/>
            <a:pathLst>
              <a:path w="2286000" h="838200">
                <a:moveTo>
                  <a:pt x="76201" y="0"/>
                </a:moveTo>
                <a:lnTo>
                  <a:pt x="2209799" y="0"/>
                </a:lnTo>
                <a:cubicBezTo>
                  <a:pt x="2251884" y="0"/>
                  <a:pt x="2286000" y="34116"/>
                  <a:pt x="2286000" y="76201"/>
                </a:cubicBezTo>
                <a:lnTo>
                  <a:pt x="2286000" y="761999"/>
                </a:lnTo>
                <a:cubicBezTo>
                  <a:pt x="2286000" y="804084"/>
                  <a:pt x="2251884" y="838200"/>
                  <a:pt x="22097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23622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成立时间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363" y="2628900"/>
            <a:ext cx="220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2008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75595" y="2247900"/>
            <a:ext cx="2286000" cy="838200"/>
          </a:xfrm>
          <a:custGeom>
            <a:avLst/>
            <a:gdLst/>
            <a:ahLst/>
            <a:cxnLst/>
            <a:rect l="l" t="t" r="r" b="b"/>
            <a:pathLst>
              <a:path w="2286000" h="838200">
                <a:moveTo>
                  <a:pt x="76201" y="0"/>
                </a:moveTo>
                <a:lnTo>
                  <a:pt x="2209799" y="0"/>
                </a:lnTo>
                <a:cubicBezTo>
                  <a:pt x="2251884" y="0"/>
                  <a:pt x="2286000" y="34116"/>
                  <a:pt x="2286000" y="76201"/>
                </a:cubicBezTo>
                <a:lnTo>
                  <a:pt x="2286000" y="761999"/>
                </a:lnTo>
                <a:cubicBezTo>
                  <a:pt x="2286000" y="804084"/>
                  <a:pt x="2251884" y="838200"/>
                  <a:pt x="22097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051795" y="23622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上市时间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8458" y="2628900"/>
            <a:ext cx="2200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2012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320040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56" y="0"/>
                  <a:pt x="2286000" y="34144"/>
                  <a:pt x="2286000" y="76200"/>
                </a:cubicBezTo>
                <a:lnTo>
                  <a:pt x="2286000" y="685800"/>
                </a:lnTo>
                <a:cubicBezTo>
                  <a:pt x="2286000" y="727856"/>
                  <a:pt x="2251856" y="762000"/>
                  <a:pt x="2209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7700" y="33147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175" y="358140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线上+线下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75595" y="3200400"/>
            <a:ext cx="2286000" cy="762000"/>
          </a:xfrm>
          <a:custGeom>
            <a:avLst/>
            <a:gdLst/>
            <a:ahLst/>
            <a:cxnLst/>
            <a:rect l="l" t="t" r="r" b="b"/>
            <a:pathLst>
              <a:path w="2286000" h="762000">
                <a:moveTo>
                  <a:pt x="76200" y="0"/>
                </a:moveTo>
                <a:lnTo>
                  <a:pt x="2209800" y="0"/>
                </a:lnTo>
                <a:cubicBezTo>
                  <a:pt x="2251856" y="0"/>
                  <a:pt x="2286000" y="34144"/>
                  <a:pt x="2286000" y="76200"/>
                </a:cubicBezTo>
                <a:lnTo>
                  <a:pt x="2286000" y="685800"/>
                </a:lnTo>
                <a:cubicBezTo>
                  <a:pt x="2286000" y="727856"/>
                  <a:pt x="2251856" y="762000"/>
                  <a:pt x="2209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051795" y="33147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42270" y="358140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B89B72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闪购+奥莱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4305300"/>
            <a:ext cx="5057775" cy="2247900"/>
          </a:xfrm>
          <a:custGeom>
            <a:avLst/>
            <a:gdLst/>
            <a:ahLst/>
            <a:cxnLst/>
            <a:rect l="l" t="t" r="r" b="b"/>
            <a:pathLst>
              <a:path w="5057775" h="2247900">
                <a:moveTo>
                  <a:pt x="38100" y="0"/>
                </a:moveTo>
                <a:lnTo>
                  <a:pt x="4943469" y="0"/>
                </a:lnTo>
                <a:cubicBezTo>
                  <a:pt x="5006599" y="0"/>
                  <a:pt x="5057775" y="51176"/>
                  <a:pt x="5057775" y="114306"/>
                </a:cubicBezTo>
                <a:lnTo>
                  <a:pt x="5057775" y="2133594"/>
                </a:lnTo>
                <a:cubicBezTo>
                  <a:pt x="5057775" y="2196724"/>
                  <a:pt x="5006599" y="2247900"/>
                  <a:pt x="4943469" y="2247900"/>
                </a:cubicBez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0050" y="43053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3810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175" y="453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650" y="44958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发展历程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09600" y="4914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27" name="Text 25"/>
          <p:cNvSpPr/>
          <p:nvPr/>
        </p:nvSpPr>
        <p:spPr>
          <a:xfrm>
            <a:off x="581025" y="49149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4914900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2008年: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开始运营,以线上特卖/闪购为主定位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9600" y="5219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0" name="Text 28"/>
          <p:cNvSpPr/>
          <p:nvPr/>
        </p:nvSpPr>
        <p:spPr>
          <a:xfrm>
            <a:off x="581025" y="52197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521970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2010年: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成立离岸控股结构,为海外融资/上市做准备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9600" y="5524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3" name="Text 31"/>
          <p:cNvSpPr/>
          <p:nvPr/>
        </p:nvSpPr>
        <p:spPr>
          <a:xfrm>
            <a:off x="581025" y="55245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55245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2012年: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纽交所上市,成为中国特卖电商第一股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9600" y="582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6" name="Text 34"/>
          <p:cNvSpPr/>
          <p:nvPr/>
        </p:nvSpPr>
        <p:spPr>
          <a:xfrm>
            <a:off x="581025" y="58293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4400" y="5829300"/>
            <a:ext cx="304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近年: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试水并扩张线下奥莱/仓储门店(唯品仓)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9600" y="6134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9" name="Text 37"/>
          <p:cNvSpPr/>
          <p:nvPr/>
        </p:nvSpPr>
        <p:spPr>
          <a:xfrm>
            <a:off x="581025" y="6134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4400" y="613410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战略: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收购杉杉集团等动作用于布局线下奥莱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08290" y="1333500"/>
            <a:ext cx="6200775" cy="3276600"/>
          </a:xfrm>
          <a:custGeom>
            <a:avLst/>
            <a:gdLst/>
            <a:ahLst/>
            <a:cxnLst/>
            <a:rect l="l" t="t" r="r" b="b"/>
            <a:pathLst>
              <a:path w="6200775" h="3276600">
                <a:moveTo>
                  <a:pt x="114288" y="0"/>
                </a:moveTo>
                <a:lnTo>
                  <a:pt x="6086487" y="0"/>
                </a:lnTo>
                <a:cubicBezTo>
                  <a:pt x="6149607" y="0"/>
                  <a:pt x="6200775" y="51168"/>
                  <a:pt x="6200775" y="114288"/>
                </a:cubicBezTo>
                <a:lnTo>
                  <a:pt x="6200775" y="3162312"/>
                </a:lnTo>
                <a:cubicBezTo>
                  <a:pt x="6200775" y="3225432"/>
                  <a:pt x="6149607" y="3276600"/>
                  <a:pt x="6086487" y="3276600"/>
                </a:cubicBezTo>
                <a:lnTo>
                  <a:pt x="114288" y="3276600"/>
                </a:lnTo>
                <a:cubicBezTo>
                  <a:pt x="51168" y="3276600"/>
                  <a:pt x="0" y="3225432"/>
                  <a:pt x="0" y="3162312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827365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43" name="Text 41"/>
          <p:cNvSpPr/>
          <p:nvPr/>
        </p:nvSpPr>
        <p:spPr>
          <a:xfrm>
            <a:off x="6084540" y="1524000"/>
            <a:ext cx="564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全渠道战略布局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17815" y="4772025"/>
            <a:ext cx="6181725" cy="1771650"/>
          </a:xfrm>
          <a:custGeom>
            <a:avLst/>
            <a:gdLst/>
            <a:ahLst/>
            <a:cxnLst/>
            <a:rect l="l" t="t" r="r" b="b"/>
            <a:pathLst>
              <a:path w="6181725" h="1771650">
                <a:moveTo>
                  <a:pt x="114307" y="0"/>
                </a:moveTo>
                <a:lnTo>
                  <a:pt x="6067418" y="0"/>
                </a:lnTo>
                <a:cubicBezTo>
                  <a:pt x="6130506" y="0"/>
                  <a:pt x="6181725" y="51219"/>
                  <a:pt x="6181725" y="114307"/>
                </a:cubicBezTo>
                <a:lnTo>
                  <a:pt x="6181725" y="1657343"/>
                </a:lnTo>
                <a:cubicBezTo>
                  <a:pt x="6181725" y="1720431"/>
                  <a:pt x="6130506" y="1771650"/>
                  <a:pt x="6067418" y="1771650"/>
                </a:cubicBezTo>
                <a:lnTo>
                  <a:pt x="114307" y="1771650"/>
                </a:lnTo>
                <a:cubicBezTo>
                  <a:pt x="51219" y="1771650"/>
                  <a:pt x="0" y="1720431"/>
                  <a:pt x="0" y="16573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>
                  <a:alpha val="20000"/>
                </a:srgbClr>
              </a:gs>
              <a:gs pos="100000">
                <a:srgbClr val="8FA89B">
                  <a:alpha val="20000"/>
                </a:srgbClr>
              </a:gs>
            </a:gsLst>
            <a:lin ang="0" scaled="1"/>
          </a:gradFill>
          <a:ln w="25400">
            <a:solidFill>
              <a:srgbClr val="B89B72">
                <a:alpha val="40000"/>
              </a:srgbClr>
            </a:solidFill>
            <a:prstDash val="solid"/>
          </a:ln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08315" y="4972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46" name="Text 44"/>
          <p:cNvSpPr/>
          <p:nvPr/>
        </p:nvSpPr>
        <p:spPr>
          <a:xfrm>
            <a:off x="6179790" y="4933950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对openmaxx的威胁分析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79740" y="5410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48" name="Text 46"/>
          <p:cNvSpPr/>
          <p:nvPr/>
        </p:nvSpPr>
        <p:spPr>
          <a:xfrm>
            <a:off x="5974259" y="5353050"/>
            <a:ext cx="275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线上线下双轨: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业务布局与openmaxx有一定重叠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776320" y="5410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0" name="Text 48"/>
          <p:cNvSpPr/>
          <p:nvPr/>
        </p:nvSpPr>
        <p:spPr>
          <a:xfrm>
            <a:off x="8977685" y="5353050"/>
            <a:ext cx="2733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品牌资源: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强大的品牌合作和市场覆盖能力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794028" y="598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2" name="Text 50"/>
          <p:cNvSpPr/>
          <p:nvPr/>
        </p:nvSpPr>
        <p:spPr>
          <a:xfrm>
            <a:off x="5998815" y="5924550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流量争夺: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在大牌折扣领域直接竞争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771558" y="5981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4" name="Text 52"/>
          <p:cNvSpPr/>
          <p:nvPr/>
        </p:nvSpPr>
        <p:spPr>
          <a:xfrm>
            <a:off x="8967415" y="5924550"/>
            <a:ext cx="275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通过差异化仓储+闪购结合进行竞争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60977"/>
            <a:ext cx="54147" cy="433172"/>
          </a:xfrm>
          <a:custGeom>
            <a:avLst/>
            <a:gdLst/>
            <a:ahLst/>
            <a:cxnLst/>
            <a:rect l="l" t="t" r="r" b="b"/>
            <a:pathLst>
              <a:path w="54147" h="433172">
                <a:moveTo>
                  <a:pt x="0" y="0"/>
                </a:moveTo>
                <a:lnTo>
                  <a:pt x="54147" y="0"/>
                </a:lnTo>
                <a:lnTo>
                  <a:pt x="54147" y="433172"/>
                </a:lnTo>
                <a:lnTo>
                  <a:pt x="0" y="433172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23417" y="360977"/>
            <a:ext cx="4891239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1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中国线下仓储新势力(一)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1466" y="830247"/>
            <a:ext cx="1137980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荟品仓 &amp; BIGOFFS:仓储式卖场的本土创新者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977" y="1173175"/>
            <a:ext cx="5667340" cy="4656604"/>
          </a:xfrm>
          <a:custGeom>
            <a:avLst/>
            <a:gdLst/>
            <a:ahLst/>
            <a:cxnLst/>
            <a:rect l="l" t="t" r="r" b="b"/>
            <a:pathLst>
              <a:path w="5667340" h="4656604">
                <a:moveTo>
                  <a:pt x="36098" y="0"/>
                </a:moveTo>
                <a:lnTo>
                  <a:pt x="5631242" y="0"/>
                </a:lnTo>
                <a:cubicBezTo>
                  <a:pt x="5651178" y="0"/>
                  <a:pt x="5667340" y="16161"/>
                  <a:pt x="5667340" y="36098"/>
                </a:cubicBezTo>
                <a:lnTo>
                  <a:pt x="5667340" y="4548291"/>
                </a:lnTo>
                <a:cubicBezTo>
                  <a:pt x="5667340" y="4608111"/>
                  <a:pt x="5618847" y="4656604"/>
                  <a:pt x="5559027" y="4656604"/>
                </a:cubicBezTo>
                <a:lnTo>
                  <a:pt x="108313" y="4656604"/>
                </a:lnTo>
                <a:cubicBezTo>
                  <a:pt x="48493" y="4656604"/>
                  <a:pt x="0" y="4608111"/>
                  <a:pt x="0" y="454829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5366" dist="90244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0977" y="1173175"/>
            <a:ext cx="5667340" cy="36098"/>
          </a:xfrm>
          <a:custGeom>
            <a:avLst/>
            <a:gdLst/>
            <a:ahLst/>
            <a:cxnLst/>
            <a:rect l="l" t="t" r="r" b="b"/>
            <a:pathLst>
              <a:path w="5667340" h="36098">
                <a:moveTo>
                  <a:pt x="36098" y="0"/>
                </a:moveTo>
                <a:lnTo>
                  <a:pt x="5631242" y="0"/>
                </a:lnTo>
                <a:cubicBezTo>
                  <a:pt x="5651178" y="0"/>
                  <a:pt x="5667340" y="16161"/>
                  <a:pt x="5667340" y="36098"/>
                </a:cubicBezTo>
                <a:lnTo>
                  <a:pt x="5667340" y="36098"/>
                </a:lnTo>
                <a:lnTo>
                  <a:pt x="0" y="36098"/>
                </a:ln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7" name="Shape 5"/>
          <p:cNvSpPr/>
          <p:nvPr/>
        </p:nvSpPr>
        <p:spPr>
          <a:xfrm>
            <a:off x="505368" y="137171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8" name="Text 6"/>
          <p:cNvSpPr/>
          <p:nvPr/>
        </p:nvSpPr>
        <p:spPr>
          <a:xfrm>
            <a:off x="519892" y="1461957"/>
            <a:ext cx="496343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HPC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6833" y="1335615"/>
            <a:ext cx="884394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荟品仓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6833" y="1624397"/>
            <a:ext cx="84829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HuiPinCang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5368" y="1949276"/>
            <a:ext cx="5378558" cy="1119029"/>
          </a:xfrm>
          <a:custGeom>
            <a:avLst/>
            <a:gdLst/>
            <a:ahLst/>
            <a:cxnLst/>
            <a:rect l="l" t="t" r="r" b="b"/>
            <a:pathLst>
              <a:path w="5378558" h="1119029">
                <a:moveTo>
                  <a:pt x="72200" y="0"/>
                </a:moveTo>
                <a:lnTo>
                  <a:pt x="5306358" y="0"/>
                </a:lnTo>
                <a:cubicBezTo>
                  <a:pt x="5346233" y="0"/>
                  <a:pt x="5378558" y="32325"/>
                  <a:pt x="5378558" y="72200"/>
                </a:cubicBezTo>
                <a:lnTo>
                  <a:pt x="5378558" y="1046829"/>
                </a:lnTo>
                <a:cubicBezTo>
                  <a:pt x="5378558" y="1086704"/>
                  <a:pt x="5346233" y="1119029"/>
                  <a:pt x="5306358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7563" y="2021472"/>
            <a:ext cx="53153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563" y="2310253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成立时间: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2018年左右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7563" y="2544888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仓储式卖场/城市奥莱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7563" y="2779523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O2O模式+线下仓储门店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5368" y="3140500"/>
            <a:ext cx="5378558" cy="866345"/>
          </a:xfrm>
          <a:custGeom>
            <a:avLst/>
            <a:gdLst/>
            <a:ahLst/>
            <a:cxnLst/>
            <a:rect l="l" t="t" r="r" b="b"/>
            <a:pathLst>
              <a:path w="5378558" h="866345">
                <a:moveTo>
                  <a:pt x="72193" y="0"/>
                </a:moveTo>
                <a:lnTo>
                  <a:pt x="5306366" y="0"/>
                </a:lnTo>
                <a:cubicBezTo>
                  <a:pt x="5346236" y="0"/>
                  <a:pt x="5378558" y="32322"/>
                  <a:pt x="5378558" y="72193"/>
                </a:cubicBezTo>
                <a:lnTo>
                  <a:pt x="5378558" y="794152"/>
                </a:lnTo>
                <a:cubicBezTo>
                  <a:pt x="5378558" y="834023"/>
                  <a:pt x="5346236" y="866345"/>
                  <a:pt x="5306366" y="866345"/>
                </a:cubicBezTo>
                <a:lnTo>
                  <a:pt x="72193" y="866345"/>
                </a:lnTo>
                <a:cubicBezTo>
                  <a:pt x="32322" y="866345"/>
                  <a:pt x="0" y="834023"/>
                  <a:pt x="0" y="794152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7563" y="3212696"/>
            <a:ext cx="53153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7563" y="3501477"/>
            <a:ext cx="5306363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聚焦"工厂特卖/仓储直购+O2O体验",强调源头直采与会员制,定位为"城市型大型仓储体验店+在线预览/下单"的折扣零售解决方案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368" y="4079041"/>
            <a:ext cx="5378558" cy="1119029"/>
          </a:xfrm>
          <a:custGeom>
            <a:avLst/>
            <a:gdLst/>
            <a:ahLst/>
            <a:cxnLst/>
            <a:rect l="l" t="t" r="r" b="b"/>
            <a:pathLst>
              <a:path w="5378558" h="1119029">
                <a:moveTo>
                  <a:pt x="72200" y="0"/>
                </a:moveTo>
                <a:lnTo>
                  <a:pt x="5306358" y="0"/>
                </a:lnTo>
                <a:cubicBezTo>
                  <a:pt x="5346233" y="0"/>
                  <a:pt x="5378558" y="32325"/>
                  <a:pt x="5378558" y="72200"/>
                </a:cubicBezTo>
                <a:lnTo>
                  <a:pt x="5378558" y="1046829"/>
                </a:lnTo>
                <a:cubicBezTo>
                  <a:pt x="5378558" y="1086704"/>
                  <a:pt x="5346233" y="1119029"/>
                  <a:pt x="5306358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7563" y="4151236"/>
            <a:ext cx="53153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7563" y="4440018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强线下仓储式卖场+O2O模式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7563" y="4674653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针对大宗折扣需求的顾客群体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563" y="4909288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较强的地理扩张潜力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392" y="5279289"/>
            <a:ext cx="5360509" cy="379026"/>
          </a:xfrm>
          <a:custGeom>
            <a:avLst/>
            <a:gdLst/>
            <a:ahLst/>
            <a:cxnLst/>
            <a:rect l="l" t="t" r="r" b="b"/>
            <a:pathLst>
              <a:path w="5360509" h="379026">
                <a:moveTo>
                  <a:pt x="72197" y="0"/>
                </a:moveTo>
                <a:lnTo>
                  <a:pt x="5288312" y="0"/>
                </a:lnTo>
                <a:cubicBezTo>
                  <a:pt x="5328186" y="0"/>
                  <a:pt x="5360509" y="32324"/>
                  <a:pt x="5360509" y="72197"/>
                </a:cubicBezTo>
                <a:lnTo>
                  <a:pt x="5360509" y="306829"/>
                </a:lnTo>
                <a:cubicBezTo>
                  <a:pt x="5360509" y="346702"/>
                  <a:pt x="5328186" y="379026"/>
                  <a:pt x="5288312" y="379026"/>
                </a:cubicBezTo>
                <a:lnTo>
                  <a:pt x="72197" y="379026"/>
                </a:lnTo>
                <a:cubicBezTo>
                  <a:pt x="32324" y="379026"/>
                  <a:pt x="0" y="346702"/>
                  <a:pt x="0" y="306829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10000"/>
                </a:srgbClr>
              </a:gs>
              <a:gs pos="100000">
                <a:srgbClr val="B89B72">
                  <a:alpha val="10000"/>
                </a:srgbClr>
              </a:gs>
            </a:gsLst>
            <a:lin ang="0" scaled="1"/>
          </a:gradFill>
          <a:ln w="25400">
            <a:solidFill>
              <a:srgbClr val="3A6B5F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661" y="5387583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72195" y="38354"/>
                </a:moveTo>
                <a:cubicBezTo>
                  <a:pt x="75946" y="38354"/>
                  <a:pt x="78964" y="41371"/>
                  <a:pt x="78964" y="45122"/>
                </a:cubicBezTo>
                <a:lnTo>
                  <a:pt x="78964" y="76708"/>
                </a:lnTo>
                <a:cubicBezTo>
                  <a:pt x="78964" y="80458"/>
                  <a:pt x="75946" y="83476"/>
                  <a:pt x="72195" y="83476"/>
                </a:cubicBezTo>
                <a:cubicBezTo>
                  <a:pt x="68445" y="83476"/>
                  <a:pt x="65427" y="80458"/>
                  <a:pt x="65427" y="76708"/>
                </a:cubicBezTo>
                <a:lnTo>
                  <a:pt x="65427" y="45122"/>
                </a:lnTo>
                <a:cubicBezTo>
                  <a:pt x="65427" y="41371"/>
                  <a:pt x="68445" y="38354"/>
                  <a:pt x="72195" y="38354"/>
                </a:cubicBezTo>
                <a:close/>
                <a:moveTo>
                  <a:pt x="64666" y="99269"/>
                </a:moveTo>
                <a:cubicBezTo>
                  <a:pt x="64494" y="96474"/>
                  <a:pt x="65888" y="93815"/>
                  <a:pt x="68284" y="92365"/>
                </a:cubicBezTo>
                <a:cubicBezTo>
                  <a:pt x="70680" y="90916"/>
                  <a:pt x="73682" y="90916"/>
                  <a:pt x="76078" y="92365"/>
                </a:cubicBezTo>
                <a:cubicBezTo>
                  <a:pt x="78474" y="93815"/>
                  <a:pt x="79868" y="96474"/>
                  <a:pt x="79697" y="99269"/>
                </a:cubicBezTo>
                <a:cubicBezTo>
                  <a:pt x="79868" y="102064"/>
                  <a:pt x="78474" y="104723"/>
                  <a:pt x="76078" y="106172"/>
                </a:cubicBezTo>
                <a:cubicBezTo>
                  <a:pt x="73682" y="107621"/>
                  <a:pt x="70680" y="107621"/>
                  <a:pt x="68284" y="106172"/>
                </a:cubicBezTo>
                <a:cubicBezTo>
                  <a:pt x="65888" y="104723"/>
                  <a:pt x="64494" y="102064"/>
                  <a:pt x="64666" y="99269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6" name="Text 24"/>
          <p:cNvSpPr/>
          <p:nvPr/>
        </p:nvSpPr>
        <p:spPr>
          <a:xfrm>
            <a:off x="827402" y="5360509"/>
            <a:ext cx="503847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威胁等级: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高威胁 - 给openmaxx带来直接竞争压力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8689" y="1173175"/>
            <a:ext cx="5667340" cy="4656604"/>
          </a:xfrm>
          <a:custGeom>
            <a:avLst/>
            <a:gdLst/>
            <a:ahLst/>
            <a:cxnLst/>
            <a:rect l="l" t="t" r="r" b="b"/>
            <a:pathLst>
              <a:path w="5667340" h="4656604">
                <a:moveTo>
                  <a:pt x="36098" y="0"/>
                </a:moveTo>
                <a:lnTo>
                  <a:pt x="5631242" y="0"/>
                </a:lnTo>
                <a:cubicBezTo>
                  <a:pt x="5651178" y="0"/>
                  <a:pt x="5667340" y="16161"/>
                  <a:pt x="5667340" y="36098"/>
                </a:cubicBezTo>
                <a:lnTo>
                  <a:pt x="5667340" y="4548291"/>
                </a:lnTo>
                <a:cubicBezTo>
                  <a:pt x="5667340" y="4608111"/>
                  <a:pt x="5618847" y="4656604"/>
                  <a:pt x="5559027" y="4656604"/>
                </a:cubicBezTo>
                <a:lnTo>
                  <a:pt x="108313" y="4656604"/>
                </a:lnTo>
                <a:cubicBezTo>
                  <a:pt x="48493" y="4656604"/>
                  <a:pt x="0" y="4608111"/>
                  <a:pt x="0" y="4548291"/>
                </a:cubicBez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5366" dist="90244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8689" y="1173175"/>
            <a:ext cx="5667340" cy="36098"/>
          </a:xfrm>
          <a:custGeom>
            <a:avLst/>
            <a:gdLst/>
            <a:ahLst/>
            <a:cxnLst/>
            <a:rect l="l" t="t" r="r" b="b"/>
            <a:pathLst>
              <a:path w="5667340" h="36098">
                <a:moveTo>
                  <a:pt x="36098" y="0"/>
                </a:moveTo>
                <a:lnTo>
                  <a:pt x="5631242" y="0"/>
                </a:lnTo>
                <a:cubicBezTo>
                  <a:pt x="5651178" y="0"/>
                  <a:pt x="5667340" y="16161"/>
                  <a:pt x="5667340" y="36098"/>
                </a:cubicBezTo>
                <a:lnTo>
                  <a:pt x="5667340" y="36098"/>
                </a:lnTo>
                <a:lnTo>
                  <a:pt x="0" y="36098"/>
                </a:lnTo>
                <a:lnTo>
                  <a:pt x="0" y="36098"/>
                </a:lnTo>
                <a:cubicBezTo>
                  <a:pt x="0" y="16161"/>
                  <a:pt x="16161" y="0"/>
                  <a:pt x="36098" y="0"/>
                </a:cubicBezTo>
                <a:close/>
              </a:path>
            </a:pathLst>
          </a:custGeom>
          <a:solidFill>
            <a:srgbClr val="8FA89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13080" y="1371713"/>
            <a:ext cx="433172" cy="433172"/>
          </a:xfrm>
          <a:custGeom>
            <a:avLst/>
            <a:gdLst/>
            <a:ahLst/>
            <a:cxnLst/>
            <a:rect l="l" t="t" r="r" b="b"/>
            <a:pathLst>
              <a:path w="433172" h="433172">
                <a:moveTo>
                  <a:pt x="216586" y="0"/>
                </a:moveTo>
                <a:lnTo>
                  <a:pt x="216586" y="0"/>
                </a:lnTo>
                <a:cubicBezTo>
                  <a:pt x="336204" y="0"/>
                  <a:pt x="433172" y="96969"/>
                  <a:pt x="433172" y="216586"/>
                </a:cubicBezTo>
                <a:lnTo>
                  <a:pt x="433172" y="216586"/>
                </a:lnTo>
                <a:cubicBezTo>
                  <a:pt x="433172" y="336204"/>
                  <a:pt x="336204" y="433172"/>
                  <a:pt x="216586" y="433172"/>
                </a:cubicBezTo>
                <a:lnTo>
                  <a:pt x="216586" y="433172"/>
                </a:lnTo>
                <a:cubicBezTo>
                  <a:pt x="96969" y="433172"/>
                  <a:pt x="0" y="336204"/>
                  <a:pt x="0" y="216586"/>
                </a:cubicBezTo>
                <a:lnTo>
                  <a:pt x="0" y="216586"/>
                </a:lnTo>
                <a:cubicBezTo>
                  <a:pt x="0" y="96969"/>
                  <a:pt x="96969" y="0"/>
                  <a:pt x="216586" y="0"/>
                </a:cubicBezTo>
                <a:close/>
              </a:path>
            </a:pathLst>
          </a:custGeom>
          <a:solidFill>
            <a:srgbClr val="8FA89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8977" y="1461957"/>
            <a:ext cx="433172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BIG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4545" y="1335615"/>
            <a:ext cx="1100980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BIGOFFS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4545" y="1624397"/>
            <a:ext cx="1064882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超级折扣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3080" y="1949276"/>
            <a:ext cx="5378558" cy="1119029"/>
          </a:xfrm>
          <a:custGeom>
            <a:avLst/>
            <a:gdLst/>
            <a:ahLst/>
            <a:cxnLst/>
            <a:rect l="l" t="t" r="r" b="b"/>
            <a:pathLst>
              <a:path w="5378558" h="1119029">
                <a:moveTo>
                  <a:pt x="72200" y="0"/>
                </a:moveTo>
                <a:lnTo>
                  <a:pt x="5306358" y="0"/>
                </a:lnTo>
                <a:cubicBezTo>
                  <a:pt x="5346233" y="0"/>
                  <a:pt x="5378558" y="32325"/>
                  <a:pt x="5378558" y="72200"/>
                </a:cubicBezTo>
                <a:lnTo>
                  <a:pt x="5378558" y="1046829"/>
                </a:lnTo>
                <a:cubicBezTo>
                  <a:pt x="5378558" y="1086704"/>
                  <a:pt x="5346233" y="1119029"/>
                  <a:pt x="5306358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85275" y="2021472"/>
            <a:ext cx="53153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85275" y="2310253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成立时间: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2017-2023年间快速扩张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85275" y="2544888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仓储式卖场(城市型折扣大卖场)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5275" y="2779523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线下仓储式门店为主+配套线上APP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3080" y="3140500"/>
            <a:ext cx="5378558" cy="866345"/>
          </a:xfrm>
          <a:custGeom>
            <a:avLst/>
            <a:gdLst/>
            <a:ahLst/>
            <a:cxnLst/>
            <a:rect l="l" t="t" r="r" b="b"/>
            <a:pathLst>
              <a:path w="5378558" h="866345">
                <a:moveTo>
                  <a:pt x="72193" y="0"/>
                </a:moveTo>
                <a:lnTo>
                  <a:pt x="5306366" y="0"/>
                </a:lnTo>
                <a:cubicBezTo>
                  <a:pt x="5346236" y="0"/>
                  <a:pt x="5378558" y="32322"/>
                  <a:pt x="5378558" y="72193"/>
                </a:cubicBezTo>
                <a:lnTo>
                  <a:pt x="5378558" y="794152"/>
                </a:lnTo>
                <a:cubicBezTo>
                  <a:pt x="5378558" y="834023"/>
                  <a:pt x="5346236" y="866345"/>
                  <a:pt x="5306366" y="866345"/>
                </a:cubicBezTo>
                <a:lnTo>
                  <a:pt x="72193" y="866345"/>
                </a:lnTo>
                <a:cubicBezTo>
                  <a:pt x="32322" y="866345"/>
                  <a:pt x="0" y="834023"/>
                  <a:pt x="0" y="794152"/>
                </a:cubicBezTo>
                <a:lnTo>
                  <a:pt x="0" y="72193"/>
                </a:lnTo>
                <a:cubicBezTo>
                  <a:pt x="0" y="32348"/>
                  <a:pt x="32348" y="0"/>
                  <a:pt x="72193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85275" y="3212696"/>
            <a:ext cx="53153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5275" y="3501477"/>
            <a:ext cx="5306363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面向希望"线下捡宝"的高性价比消费者,主打大量品牌库存、折扣深、店面面积大、频繁上新,强调线下体验与低价获取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3080" y="4079041"/>
            <a:ext cx="5378558" cy="1119029"/>
          </a:xfrm>
          <a:custGeom>
            <a:avLst/>
            <a:gdLst/>
            <a:ahLst/>
            <a:cxnLst/>
            <a:rect l="l" t="t" r="r" b="b"/>
            <a:pathLst>
              <a:path w="5378558" h="1119029">
                <a:moveTo>
                  <a:pt x="72200" y="0"/>
                </a:moveTo>
                <a:lnTo>
                  <a:pt x="5306358" y="0"/>
                </a:lnTo>
                <a:cubicBezTo>
                  <a:pt x="5346233" y="0"/>
                  <a:pt x="5378558" y="32325"/>
                  <a:pt x="5378558" y="72200"/>
                </a:cubicBezTo>
                <a:lnTo>
                  <a:pt x="5378558" y="1046829"/>
                </a:lnTo>
                <a:cubicBezTo>
                  <a:pt x="5378558" y="1086704"/>
                  <a:pt x="5346233" y="1119029"/>
                  <a:pt x="5306358" y="1119029"/>
                </a:cubicBezTo>
                <a:lnTo>
                  <a:pt x="72200" y="1119029"/>
                </a:lnTo>
                <a:cubicBezTo>
                  <a:pt x="32325" y="1119029"/>
                  <a:pt x="0" y="1086704"/>
                  <a:pt x="0" y="1046829"/>
                </a:cubicBezTo>
                <a:lnTo>
                  <a:pt x="0" y="72200"/>
                </a:lnTo>
                <a:cubicBezTo>
                  <a:pt x="0" y="32352"/>
                  <a:pt x="32352" y="0"/>
                  <a:pt x="72200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85275" y="4151236"/>
            <a:ext cx="5315387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9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5275" y="4440018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大面积线下仓储式折扣卖场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5275" y="4674653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低价策略与openmaxx相似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5275" y="4909288"/>
            <a:ext cx="5306363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快速扩张的门店模式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2104" y="5279289"/>
            <a:ext cx="5360509" cy="379026"/>
          </a:xfrm>
          <a:custGeom>
            <a:avLst/>
            <a:gdLst/>
            <a:ahLst/>
            <a:cxnLst/>
            <a:rect l="l" t="t" r="r" b="b"/>
            <a:pathLst>
              <a:path w="5360509" h="379026">
                <a:moveTo>
                  <a:pt x="72197" y="0"/>
                </a:moveTo>
                <a:lnTo>
                  <a:pt x="5288312" y="0"/>
                </a:lnTo>
                <a:cubicBezTo>
                  <a:pt x="5328186" y="0"/>
                  <a:pt x="5360509" y="32324"/>
                  <a:pt x="5360509" y="72197"/>
                </a:cubicBezTo>
                <a:lnTo>
                  <a:pt x="5360509" y="306829"/>
                </a:lnTo>
                <a:cubicBezTo>
                  <a:pt x="5360509" y="346702"/>
                  <a:pt x="5328186" y="379026"/>
                  <a:pt x="5288312" y="379026"/>
                </a:cubicBezTo>
                <a:lnTo>
                  <a:pt x="72197" y="379026"/>
                </a:lnTo>
                <a:cubicBezTo>
                  <a:pt x="32324" y="379026"/>
                  <a:pt x="0" y="346702"/>
                  <a:pt x="0" y="306829"/>
                </a:cubicBezTo>
                <a:lnTo>
                  <a:pt x="0" y="72197"/>
                </a:lnTo>
                <a:cubicBezTo>
                  <a:pt x="0" y="32350"/>
                  <a:pt x="32350" y="0"/>
                  <a:pt x="72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8FA89B">
                  <a:alpha val="10000"/>
                </a:srgbClr>
              </a:gs>
              <a:gs pos="100000">
                <a:srgbClr val="B89B72">
                  <a:alpha val="10000"/>
                </a:srgbClr>
              </a:gs>
            </a:gsLst>
            <a:lin ang="0" scaled="1"/>
          </a:gradFill>
          <a:ln w="25400">
            <a:solidFill>
              <a:srgbClr val="8FA89B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1373" y="5387583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72195" y="38354"/>
                </a:moveTo>
                <a:cubicBezTo>
                  <a:pt x="75946" y="38354"/>
                  <a:pt x="78964" y="41371"/>
                  <a:pt x="78964" y="45122"/>
                </a:cubicBezTo>
                <a:lnTo>
                  <a:pt x="78964" y="76708"/>
                </a:lnTo>
                <a:cubicBezTo>
                  <a:pt x="78964" y="80458"/>
                  <a:pt x="75946" y="83476"/>
                  <a:pt x="72195" y="83476"/>
                </a:cubicBezTo>
                <a:cubicBezTo>
                  <a:pt x="68445" y="83476"/>
                  <a:pt x="65427" y="80458"/>
                  <a:pt x="65427" y="76708"/>
                </a:cubicBezTo>
                <a:lnTo>
                  <a:pt x="65427" y="45122"/>
                </a:lnTo>
                <a:cubicBezTo>
                  <a:pt x="65427" y="41371"/>
                  <a:pt x="68445" y="38354"/>
                  <a:pt x="72195" y="38354"/>
                </a:cubicBezTo>
                <a:close/>
                <a:moveTo>
                  <a:pt x="64666" y="99269"/>
                </a:moveTo>
                <a:cubicBezTo>
                  <a:pt x="64494" y="96474"/>
                  <a:pt x="65888" y="93815"/>
                  <a:pt x="68284" y="92365"/>
                </a:cubicBezTo>
                <a:cubicBezTo>
                  <a:pt x="70680" y="90916"/>
                  <a:pt x="73682" y="90916"/>
                  <a:pt x="76078" y="92365"/>
                </a:cubicBezTo>
                <a:cubicBezTo>
                  <a:pt x="78474" y="93815"/>
                  <a:pt x="79868" y="96474"/>
                  <a:pt x="79697" y="99269"/>
                </a:cubicBezTo>
                <a:cubicBezTo>
                  <a:pt x="79868" y="102064"/>
                  <a:pt x="78474" y="104723"/>
                  <a:pt x="76078" y="106172"/>
                </a:cubicBezTo>
                <a:cubicBezTo>
                  <a:pt x="73682" y="107621"/>
                  <a:pt x="70680" y="107621"/>
                  <a:pt x="68284" y="106172"/>
                </a:cubicBezTo>
                <a:cubicBezTo>
                  <a:pt x="65888" y="104723"/>
                  <a:pt x="64494" y="102064"/>
                  <a:pt x="64666" y="99269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48" name="Text 46"/>
          <p:cNvSpPr/>
          <p:nvPr/>
        </p:nvSpPr>
        <p:spPr>
          <a:xfrm>
            <a:off x="6635114" y="5360509"/>
            <a:ext cx="503847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威胁等级: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高威胁 - 非常符合openmaxx的战略领域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60977" y="5903949"/>
            <a:ext cx="11470046" cy="974638"/>
          </a:xfrm>
          <a:custGeom>
            <a:avLst/>
            <a:gdLst/>
            <a:ahLst/>
            <a:cxnLst/>
            <a:rect l="l" t="t" r="r" b="b"/>
            <a:pathLst>
              <a:path w="11470046" h="974638">
                <a:moveTo>
                  <a:pt x="108292" y="0"/>
                </a:moveTo>
                <a:lnTo>
                  <a:pt x="11361754" y="0"/>
                </a:lnTo>
                <a:cubicBezTo>
                  <a:pt x="11421562" y="0"/>
                  <a:pt x="11470046" y="48484"/>
                  <a:pt x="11470046" y="108292"/>
                </a:cubicBezTo>
                <a:lnTo>
                  <a:pt x="11470046" y="866346"/>
                </a:lnTo>
                <a:cubicBezTo>
                  <a:pt x="11470046" y="926154"/>
                  <a:pt x="11421562" y="974638"/>
                  <a:pt x="11361754" y="974638"/>
                </a:cubicBezTo>
                <a:lnTo>
                  <a:pt x="108292" y="974638"/>
                </a:lnTo>
                <a:cubicBezTo>
                  <a:pt x="48484" y="974638"/>
                  <a:pt x="0" y="926154"/>
                  <a:pt x="0" y="866346"/>
                </a:cubicBezTo>
                <a:lnTo>
                  <a:pt x="0" y="108292"/>
                </a:lnTo>
                <a:cubicBezTo>
                  <a:pt x="0" y="48484"/>
                  <a:pt x="48484" y="0"/>
                  <a:pt x="108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10000"/>
                </a:srgbClr>
              </a:gs>
              <a:gs pos="50000">
                <a:srgbClr val="8FA89B">
                  <a:alpha val="10000"/>
                </a:srgbClr>
              </a:gs>
              <a:gs pos="100000">
                <a:srgbClr val="B89B72">
                  <a:alpha val="1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54147" dist="36098" dir="540000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9270" y="6030291"/>
            <a:ext cx="270733" cy="216586"/>
          </a:xfrm>
          <a:custGeom>
            <a:avLst/>
            <a:gdLst/>
            <a:ahLst/>
            <a:cxnLst/>
            <a:rect l="l" t="t" r="r" b="b"/>
            <a:pathLst>
              <a:path w="270733" h="216586">
                <a:moveTo>
                  <a:pt x="162440" y="13537"/>
                </a:moveTo>
                <a:lnTo>
                  <a:pt x="216586" y="13537"/>
                </a:lnTo>
                <a:cubicBezTo>
                  <a:pt x="224074" y="13537"/>
                  <a:pt x="230123" y="19586"/>
                  <a:pt x="230123" y="27073"/>
                </a:cubicBezTo>
                <a:cubicBezTo>
                  <a:pt x="230123" y="34561"/>
                  <a:pt x="224074" y="40610"/>
                  <a:pt x="216586" y="40610"/>
                </a:cubicBezTo>
                <a:lnTo>
                  <a:pt x="168531" y="40610"/>
                </a:lnTo>
                <a:cubicBezTo>
                  <a:pt x="166331" y="51524"/>
                  <a:pt x="158844" y="60534"/>
                  <a:pt x="148903" y="64849"/>
                </a:cubicBezTo>
                <a:lnTo>
                  <a:pt x="148903" y="189513"/>
                </a:lnTo>
                <a:lnTo>
                  <a:pt x="216586" y="189513"/>
                </a:lnTo>
                <a:cubicBezTo>
                  <a:pt x="224074" y="189513"/>
                  <a:pt x="230123" y="195562"/>
                  <a:pt x="230123" y="203050"/>
                </a:cubicBezTo>
                <a:cubicBezTo>
                  <a:pt x="230123" y="210537"/>
                  <a:pt x="224074" y="216586"/>
                  <a:pt x="216586" y="216586"/>
                </a:cubicBezTo>
                <a:lnTo>
                  <a:pt x="54147" y="216586"/>
                </a:lnTo>
                <a:cubicBezTo>
                  <a:pt x="46659" y="216586"/>
                  <a:pt x="40610" y="210537"/>
                  <a:pt x="40610" y="203050"/>
                </a:cubicBezTo>
                <a:cubicBezTo>
                  <a:pt x="40610" y="195562"/>
                  <a:pt x="46659" y="189513"/>
                  <a:pt x="54147" y="189513"/>
                </a:cubicBezTo>
                <a:lnTo>
                  <a:pt x="121830" y="189513"/>
                </a:lnTo>
                <a:lnTo>
                  <a:pt x="121830" y="64849"/>
                </a:lnTo>
                <a:cubicBezTo>
                  <a:pt x="111889" y="60492"/>
                  <a:pt x="104401" y="51482"/>
                  <a:pt x="102202" y="40610"/>
                </a:cubicBezTo>
                <a:lnTo>
                  <a:pt x="54147" y="40610"/>
                </a:lnTo>
                <a:cubicBezTo>
                  <a:pt x="46659" y="40610"/>
                  <a:pt x="40610" y="34561"/>
                  <a:pt x="40610" y="27073"/>
                </a:cubicBezTo>
                <a:cubicBezTo>
                  <a:pt x="40610" y="19586"/>
                  <a:pt x="46659" y="13537"/>
                  <a:pt x="54147" y="13537"/>
                </a:cubicBezTo>
                <a:lnTo>
                  <a:pt x="108293" y="13537"/>
                </a:lnTo>
                <a:cubicBezTo>
                  <a:pt x="114469" y="5330"/>
                  <a:pt x="124283" y="0"/>
                  <a:pt x="135366" y="0"/>
                </a:cubicBezTo>
                <a:cubicBezTo>
                  <a:pt x="146450" y="0"/>
                  <a:pt x="156264" y="5330"/>
                  <a:pt x="162440" y="13537"/>
                </a:cubicBezTo>
                <a:close/>
                <a:moveTo>
                  <a:pt x="185960" y="135366"/>
                </a:moveTo>
                <a:lnTo>
                  <a:pt x="247213" y="135366"/>
                </a:lnTo>
                <a:lnTo>
                  <a:pt x="216586" y="82827"/>
                </a:lnTo>
                <a:lnTo>
                  <a:pt x="185960" y="135366"/>
                </a:lnTo>
                <a:close/>
                <a:moveTo>
                  <a:pt x="216586" y="175976"/>
                </a:moveTo>
                <a:cubicBezTo>
                  <a:pt x="189978" y="175976"/>
                  <a:pt x="167854" y="161594"/>
                  <a:pt x="163286" y="142600"/>
                </a:cubicBezTo>
                <a:cubicBezTo>
                  <a:pt x="162186" y="137947"/>
                  <a:pt x="163709" y="133167"/>
                  <a:pt x="166120" y="129021"/>
                </a:cubicBezTo>
                <a:lnTo>
                  <a:pt x="206391" y="59984"/>
                </a:lnTo>
                <a:cubicBezTo>
                  <a:pt x="208507" y="56346"/>
                  <a:pt x="212398" y="54147"/>
                  <a:pt x="216586" y="54147"/>
                </a:cubicBezTo>
                <a:cubicBezTo>
                  <a:pt x="220774" y="54147"/>
                  <a:pt x="224666" y="56389"/>
                  <a:pt x="226781" y="59984"/>
                </a:cubicBezTo>
                <a:lnTo>
                  <a:pt x="267053" y="129021"/>
                </a:lnTo>
                <a:cubicBezTo>
                  <a:pt x="269464" y="133167"/>
                  <a:pt x="270987" y="137947"/>
                  <a:pt x="269887" y="142600"/>
                </a:cubicBezTo>
                <a:cubicBezTo>
                  <a:pt x="265318" y="161551"/>
                  <a:pt x="243194" y="175976"/>
                  <a:pt x="216586" y="175976"/>
                </a:cubicBezTo>
                <a:close/>
                <a:moveTo>
                  <a:pt x="53639" y="82827"/>
                </a:moveTo>
                <a:lnTo>
                  <a:pt x="23012" y="135366"/>
                </a:lnTo>
                <a:lnTo>
                  <a:pt x="84308" y="135366"/>
                </a:lnTo>
                <a:lnTo>
                  <a:pt x="53639" y="82827"/>
                </a:lnTo>
                <a:close/>
                <a:moveTo>
                  <a:pt x="381" y="142600"/>
                </a:moveTo>
                <a:cubicBezTo>
                  <a:pt x="-719" y="137947"/>
                  <a:pt x="804" y="133167"/>
                  <a:pt x="3215" y="129021"/>
                </a:cubicBezTo>
                <a:lnTo>
                  <a:pt x="43486" y="59984"/>
                </a:lnTo>
                <a:cubicBezTo>
                  <a:pt x="45602" y="56346"/>
                  <a:pt x="49493" y="54147"/>
                  <a:pt x="53681" y="54147"/>
                </a:cubicBezTo>
                <a:cubicBezTo>
                  <a:pt x="57869" y="54147"/>
                  <a:pt x="61761" y="56389"/>
                  <a:pt x="63876" y="59984"/>
                </a:cubicBezTo>
                <a:lnTo>
                  <a:pt x="104148" y="129021"/>
                </a:lnTo>
                <a:cubicBezTo>
                  <a:pt x="106559" y="133167"/>
                  <a:pt x="108082" y="137947"/>
                  <a:pt x="106982" y="142600"/>
                </a:cubicBezTo>
                <a:cubicBezTo>
                  <a:pt x="102413" y="161551"/>
                  <a:pt x="80289" y="175976"/>
                  <a:pt x="53681" y="175976"/>
                </a:cubicBezTo>
                <a:cubicBezTo>
                  <a:pt x="27073" y="175976"/>
                  <a:pt x="4949" y="161594"/>
                  <a:pt x="381" y="14260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51" name="Text 49"/>
          <p:cNvSpPr/>
          <p:nvPr/>
        </p:nvSpPr>
        <p:spPr>
          <a:xfrm>
            <a:off x="848296" y="6012242"/>
            <a:ext cx="1714641" cy="252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1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两者对比与竞争格局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87319" y="6373219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3" name="Text 51"/>
          <p:cNvSpPr/>
          <p:nvPr/>
        </p:nvSpPr>
        <p:spPr>
          <a:xfrm>
            <a:off x="721954" y="6337121"/>
            <a:ext cx="3366111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共同点: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均以线下仓储式卖场为核心,强调寻宝式体验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274899" y="6373219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5" name="Text 53"/>
          <p:cNvSpPr/>
          <p:nvPr/>
        </p:nvSpPr>
        <p:spPr>
          <a:xfrm>
            <a:off x="4507207" y="6337121"/>
            <a:ext cx="350147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差异点: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荟品仓强调O2O融合,BIGOFFS更侧重线下规模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57967" y="6373219"/>
            <a:ext cx="144391" cy="144391"/>
          </a:xfrm>
          <a:custGeom>
            <a:avLst/>
            <a:gdLst/>
            <a:ahLst/>
            <a:cxnLst/>
            <a:rect l="l" t="t" r="r" b="b"/>
            <a:pathLst>
              <a:path w="144391" h="144391">
                <a:moveTo>
                  <a:pt x="72195" y="144391"/>
                </a:moveTo>
                <a:cubicBezTo>
                  <a:pt x="112041" y="144391"/>
                  <a:pt x="144391" y="112041"/>
                  <a:pt x="144391" y="72195"/>
                </a:cubicBezTo>
                <a:cubicBezTo>
                  <a:pt x="144391" y="32350"/>
                  <a:pt x="112041" y="0"/>
                  <a:pt x="72195" y="0"/>
                </a:cubicBezTo>
                <a:cubicBezTo>
                  <a:pt x="32350" y="0"/>
                  <a:pt x="0" y="32350"/>
                  <a:pt x="0" y="72195"/>
                </a:cubicBezTo>
                <a:cubicBezTo>
                  <a:pt x="0" y="112041"/>
                  <a:pt x="32350" y="144391"/>
                  <a:pt x="72195" y="144391"/>
                </a:cubicBezTo>
                <a:close/>
                <a:moveTo>
                  <a:pt x="95997" y="59984"/>
                </a:moveTo>
                <a:lnTo>
                  <a:pt x="73436" y="96082"/>
                </a:lnTo>
                <a:cubicBezTo>
                  <a:pt x="72252" y="97971"/>
                  <a:pt x="70221" y="99156"/>
                  <a:pt x="67993" y="99269"/>
                </a:cubicBezTo>
                <a:cubicBezTo>
                  <a:pt x="65766" y="99381"/>
                  <a:pt x="63622" y="98366"/>
                  <a:pt x="62297" y="96561"/>
                </a:cubicBezTo>
                <a:lnTo>
                  <a:pt x="48760" y="78513"/>
                </a:lnTo>
                <a:cubicBezTo>
                  <a:pt x="46504" y="75523"/>
                  <a:pt x="47124" y="71293"/>
                  <a:pt x="50114" y="69037"/>
                </a:cubicBezTo>
                <a:cubicBezTo>
                  <a:pt x="53103" y="66781"/>
                  <a:pt x="57333" y="67401"/>
                  <a:pt x="59589" y="70391"/>
                </a:cubicBezTo>
                <a:lnTo>
                  <a:pt x="67204" y="80543"/>
                </a:lnTo>
                <a:lnTo>
                  <a:pt x="84519" y="52821"/>
                </a:lnTo>
                <a:cubicBezTo>
                  <a:pt x="86493" y="49663"/>
                  <a:pt x="90667" y="48675"/>
                  <a:pt x="93854" y="50678"/>
                </a:cubicBezTo>
                <a:cubicBezTo>
                  <a:pt x="97041" y="52680"/>
                  <a:pt x="98000" y="56826"/>
                  <a:pt x="95997" y="60012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7" name="Text 55"/>
          <p:cNvSpPr/>
          <p:nvPr/>
        </p:nvSpPr>
        <p:spPr>
          <a:xfrm>
            <a:off x="8291897" y="6337121"/>
            <a:ext cx="3501477" cy="4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7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对openmaxx:</a:t>
            </a:r>
            <a:pPr>
              <a:lnSpc>
                <a:spcPct val="130000"/>
              </a:lnSpc>
            </a:pPr>
            <a:r>
              <a:rPr lang="en-US" sz="1137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两者均为直接竞争对手,需强化差异化优势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346364"/>
            <a:ext cx="51955" cy="415636"/>
          </a:xfrm>
          <a:custGeom>
            <a:avLst/>
            <a:gdLst/>
            <a:ahLst/>
            <a:cxnLst/>
            <a:rect l="l" t="t" r="r" b="b"/>
            <a:pathLst>
              <a:path w="51955" h="415636">
                <a:moveTo>
                  <a:pt x="0" y="0"/>
                </a:moveTo>
                <a:lnTo>
                  <a:pt x="51955" y="0"/>
                </a:lnTo>
                <a:lnTo>
                  <a:pt x="51955" y="415636"/>
                </a:lnTo>
                <a:lnTo>
                  <a:pt x="0" y="415636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02227" y="346364"/>
            <a:ext cx="4693227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73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中国线下仓储新势力(二)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9545" y="831273"/>
            <a:ext cx="11412682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京东奥莱 &amp; 尚列:全渠道与快闪的创新探索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364" y="1160318"/>
            <a:ext cx="5680364" cy="5238750"/>
          </a:xfrm>
          <a:custGeom>
            <a:avLst/>
            <a:gdLst/>
            <a:ahLst/>
            <a:cxnLst/>
            <a:rect l="l" t="t" r="r" b="b"/>
            <a:pathLst>
              <a:path w="5680364" h="5238750">
                <a:moveTo>
                  <a:pt x="34636" y="0"/>
                </a:moveTo>
                <a:lnTo>
                  <a:pt x="5645727" y="0"/>
                </a:lnTo>
                <a:cubicBezTo>
                  <a:pt x="5664856" y="0"/>
                  <a:pt x="5680364" y="15507"/>
                  <a:pt x="5680364" y="34636"/>
                </a:cubicBezTo>
                <a:lnTo>
                  <a:pt x="5680364" y="5134866"/>
                </a:lnTo>
                <a:cubicBezTo>
                  <a:pt x="5680364" y="5192239"/>
                  <a:pt x="5633853" y="5238750"/>
                  <a:pt x="5576479" y="5238750"/>
                </a:cubicBezTo>
                <a:lnTo>
                  <a:pt x="103884" y="5238750"/>
                </a:lnTo>
                <a:cubicBezTo>
                  <a:pt x="46511" y="5238750"/>
                  <a:pt x="0" y="5192239"/>
                  <a:pt x="0" y="5134866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9886" dist="86591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6364" y="1160318"/>
            <a:ext cx="5680364" cy="34636"/>
          </a:xfrm>
          <a:custGeom>
            <a:avLst/>
            <a:gdLst/>
            <a:ahLst/>
            <a:cxnLst/>
            <a:rect l="l" t="t" r="r" b="b"/>
            <a:pathLst>
              <a:path w="5680364" h="34636">
                <a:moveTo>
                  <a:pt x="34636" y="0"/>
                </a:moveTo>
                <a:lnTo>
                  <a:pt x="5645727" y="0"/>
                </a:lnTo>
                <a:cubicBezTo>
                  <a:pt x="5664856" y="0"/>
                  <a:pt x="5680364" y="15507"/>
                  <a:pt x="5680364" y="34636"/>
                </a:cubicBezTo>
                <a:lnTo>
                  <a:pt x="5680364" y="34636"/>
                </a:lnTo>
                <a:lnTo>
                  <a:pt x="0" y="34636"/>
                </a:ln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7" name="Shape 5"/>
          <p:cNvSpPr/>
          <p:nvPr/>
        </p:nvSpPr>
        <p:spPr>
          <a:xfrm>
            <a:off x="484909" y="1350818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8" name="Text 6"/>
          <p:cNvSpPr/>
          <p:nvPr/>
        </p:nvSpPr>
        <p:spPr>
          <a:xfrm>
            <a:off x="587330" y="1437409"/>
            <a:ext cx="29440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JD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4455" y="1316182"/>
            <a:ext cx="935182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京东奥莱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4455" y="1593273"/>
            <a:ext cx="90054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 Outlet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909" y="1905000"/>
            <a:ext cx="5403273" cy="1298864"/>
          </a:xfrm>
          <a:custGeom>
            <a:avLst/>
            <a:gdLst/>
            <a:ahLst/>
            <a:cxnLst/>
            <a:rect l="l" t="t" r="r" b="b"/>
            <a:pathLst>
              <a:path w="5403273" h="1298864">
                <a:moveTo>
                  <a:pt x="69268" y="0"/>
                </a:moveTo>
                <a:lnTo>
                  <a:pt x="5334004" y="0"/>
                </a:lnTo>
                <a:cubicBezTo>
                  <a:pt x="5372260" y="0"/>
                  <a:pt x="5403273" y="31013"/>
                  <a:pt x="5403273" y="69268"/>
                </a:cubicBezTo>
                <a:lnTo>
                  <a:pt x="5403273" y="1229595"/>
                </a:lnTo>
                <a:cubicBezTo>
                  <a:pt x="5403273" y="1267851"/>
                  <a:pt x="5372260" y="1298864"/>
                  <a:pt x="5334004" y="1298864"/>
                </a:cubicBezTo>
                <a:lnTo>
                  <a:pt x="69268" y="1298864"/>
                </a:lnTo>
                <a:cubicBezTo>
                  <a:pt x="31038" y="1298864"/>
                  <a:pt x="0" y="1267826"/>
                  <a:pt x="0" y="1229595"/>
                </a:cubicBezTo>
                <a:lnTo>
                  <a:pt x="0" y="69268"/>
                </a:lnTo>
                <a:cubicBezTo>
                  <a:pt x="0" y="31038"/>
                  <a:pt x="31038" y="0"/>
                  <a:pt x="69268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4182" y="1974273"/>
            <a:ext cx="534265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4182" y="2251364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上线时间: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2023-2024年间系统性上线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4182" y="2476500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首店开业: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2024年9月(无锡/江阴)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4182" y="2701636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仓储式/奥莱(outlet)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4182" y="2926773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线上+线下并重,全渠道奥莱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909" y="3273136"/>
            <a:ext cx="5403273" cy="831273"/>
          </a:xfrm>
          <a:custGeom>
            <a:avLst/>
            <a:gdLst/>
            <a:ahLst/>
            <a:cxnLst/>
            <a:rect l="l" t="t" r="r" b="b"/>
            <a:pathLst>
              <a:path w="5403273" h="831273">
                <a:moveTo>
                  <a:pt x="69270" y="0"/>
                </a:moveTo>
                <a:lnTo>
                  <a:pt x="5334003" y="0"/>
                </a:lnTo>
                <a:cubicBezTo>
                  <a:pt x="5372260" y="0"/>
                  <a:pt x="5403273" y="31013"/>
                  <a:pt x="5403273" y="69270"/>
                </a:cubicBezTo>
                <a:lnTo>
                  <a:pt x="5403273" y="762003"/>
                </a:lnTo>
                <a:cubicBezTo>
                  <a:pt x="5403273" y="800260"/>
                  <a:pt x="5372260" y="831273"/>
                  <a:pt x="5334003" y="831273"/>
                </a:cubicBezTo>
                <a:lnTo>
                  <a:pt x="69270" y="831273"/>
                </a:lnTo>
                <a:cubicBezTo>
                  <a:pt x="31013" y="831273"/>
                  <a:pt x="0" y="800260"/>
                  <a:pt x="0" y="762003"/>
                </a:cubicBezTo>
                <a:lnTo>
                  <a:pt x="0" y="69270"/>
                </a:lnTo>
                <a:cubicBezTo>
                  <a:pt x="0" y="31039"/>
                  <a:pt x="31039" y="0"/>
                  <a:pt x="69270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54182" y="3342409"/>
            <a:ext cx="534265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4182" y="3619500"/>
            <a:ext cx="533400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依托京东的供给链与物流能力,推出"官方/自营+品牌自营的奥莱频道",并通过与海澜之家等合作开线下门店,目标是覆盖"新品—爆款—奥莱"商品生命周期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909" y="4173682"/>
            <a:ext cx="5403273" cy="1298864"/>
          </a:xfrm>
          <a:custGeom>
            <a:avLst/>
            <a:gdLst/>
            <a:ahLst/>
            <a:cxnLst/>
            <a:rect l="l" t="t" r="r" b="b"/>
            <a:pathLst>
              <a:path w="5403273" h="1298864">
                <a:moveTo>
                  <a:pt x="69268" y="0"/>
                </a:moveTo>
                <a:lnTo>
                  <a:pt x="5334004" y="0"/>
                </a:lnTo>
                <a:cubicBezTo>
                  <a:pt x="5372260" y="0"/>
                  <a:pt x="5403273" y="31013"/>
                  <a:pt x="5403273" y="69268"/>
                </a:cubicBezTo>
                <a:lnTo>
                  <a:pt x="5403273" y="1229595"/>
                </a:lnTo>
                <a:cubicBezTo>
                  <a:pt x="5403273" y="1267851"/>
                  <a:pt x="5372260" y="1298864"/>
                  <a:pt x="5334004" y="1298864"/>
                </a:cubicBezTo>
                <a:lnTo>
                  <a:pt x="69268" y="1298864"/>
                </a:lnTo>
                <a:cubicBezTo>
                  <a:pt x="31038" y="1298864"/>
                  <a:pt x="0" y="1267826"/>
                  <a:pt x="0" y="1229595"/>
                </a:cubicBezTo>
                <a:lnTo>
                  <a:pt x="0" y="69268"/>
                </a:lnTo>
                <a:cubicBezTo>
                  <a:pt x="0" y="31038"/>
                  <a:pt x="31038" y="0"/>
                  <a:pt x="69268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54182" y="4242955"/>
            <a:ext cx="534265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4182" y="4520045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强供应链背景及京东的资源支持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4182" y="4745182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线上线下全渠道模式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4182" y="4970318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轻资产、多店复制战略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4182" y="5195455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2024/2025年开始加速扩张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568" y="5550477"/>
            <a:ext cx="5385955" cy="363682"/>
          </a:xfrm>
          <a:custGeom>
            <a:avLst/>
            <a:gdLst/>
            <a:ahLst/>
            <a:cxnLst/>
            <a:rect l="l" t="t" r="r" b="b"/>
            <a:pathLst>
              <a:path w="5385955" h="363682">
                <a:moveTo>
                  <a:pt x="69274" y="0"/>
                </a:moveTo>
                <a:lnTo>
                  <a:pt x="5316680" y="0"/>
                </a:lnTo>
                <a:cubicBezTo>
                  <a:pt x="5354939" y="0"/>
                  <a:pt x="5385955" y="31015"/>
                  <a:pt x="5385955" y="69274"/>
                </a:cubicBezTo>
                <a:lnTo>
                  <a:pt x="5385955" y="294408"/>
                </a:lnTo>
                <a:cubicBezTo>
                  <a:pt x="5385955" y="332667"/>
                  <a:pt x="5354939" y="363682"/>
                  <a:pt x="5316680" y="363682"/>
                </a:cubicBezTo>
                <a:lnTo>
                  <a:pt x="69274" y="363682"/>
                </a:lnTo>
                <a:cubicBezTo>
                  <a:pt x="31041" y="363682"/>
                  <a:pt x="0" y="332641"/>
                  <a:pt x="0" y="294408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>
                  <a:alpha val="10000"/>
                </a:srgbClr>
              </a:gs>
              <a:gs pos="100000">
                <a:srgbClr val="3A6B5F">
                  <a:alpha val="10000"/>
                </a:srgbClr>
              </a:gs>
            </a:gsLst>
            <a:lin ang="0" scaled="1"/>
          </a:gradFill>
          <a:ln w="25400">
            <a:solidFill>
              <a:srgbClr val="B89B72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818" y="5654386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138545"/>
                </a:moveTo>
                <a:cubicBezTo>
                  <a:pt x="107505" y="138545"/>
                  <a:pt x="138545" y="107505"/>
                  <a:pt x="138545" y="69273"/>
                </a:cubicBezTo>
                <a:cubicBezTo>
                  <a:pt x="138545" y="31040"/>
                  <a:pt x="107505" y="0"/>
                  <a:pt x="69273" y="0"/>
                </a:cubicBezTo>
                <a:cubicBezTo>
                  <a:pt x="31040" y="0"/>
                  <a:pt x="0" y="31040"/>
                  <a:pt x="0" y="69273"/>
                </a:cubicBezTo>
                <a:cubicBezTo>
                  <a:pt x="0" y="107505"/>
                  <a:pt x="31040" y="138545"/>
                  <a:pt x="69273" y="138545"/>
                </a:cubicBezTo>
                <a:close/>
                <a:moveTo>
                  <a:pt x="69273" y="36801"/>
                </a:moveTo>
                <a:cubicBezTo>
                  <a:pt x="72872" y="36801"/>
                  <a:pt x="75767" y="39697"/>
                  <a:pt x="75767" y="43295"/>
                </a:cubicBezTo>
                <a:lnTo>
                  <a:pt x="75767" y="73602"/>
                </a:lnTo>
                <a:cubicBezTo>
                  <a:pt x="75767" y="77201"/>
                  <a:pt x="72872" y="80097"/>
                  <a:pt x="69273" y="80097"/>
                </a:cubicBezTo>
                <a:cubicBezTo>
                  <a:pt x="65674" y="80097"/>
                  <a:pt x="62778" y="77201"/>
                  <a:pt x="62778" y="73602"/>
                </a:cubicBezTo>
                <a:lnTo>
                  <a:pt x="62778" y="43295"/>
                </a:lnTo>
                <a:cubicBezTo>
                  <a:pt x="62778" y="39697"/>
                  <a:pt x="65674" y="36801"/>
                  <a:pt x="69273" y="36801"/>
                </a:cubicBezTo>
                <a:close/>
                <a:moveTo>
                  <a:pt x="62048" y="95250"/>
                </a:moveTo>
                <a:cubicBezTo>
                  <a:pt x="61883" y="92568"/>
                  <a:pt x="63221" y="90017"/>
                  <a:pt x="65520" y="88626"/>
                </a:cubicBezTo>
                <a:cubicBezTo>
                  <a:pt x="67819" y="87235"/>
                  <a:pt x="70700" y="87235"/>
                  <a:pt x="72999" y="88626"/>
                </a:cubicBezTo>
                <a:cubicBezTo>
                  <a:pt x="75298" y="90017"/>
                  <a:pt x="76635" y="92568"/>
                  <a:pt x="76471" y="95250"/>
                </a:cubicBezTo>
                <a:cubicBezTo>
                  <a:pt x="76635" y="97932"/>
                  <a:pt x="75298" y="100483"/>
                  <a:pt x="72999" y="101874"/>
                </a:cubicBezTo>
                <a:cubicBezTo>
                  <a:pt x="70700" y="103265"/>
                  <a:pt x="67819" y="103265"/>
                  <a:pt x="65520" y="101874"/>
                </a:cubicBezTo>
                <a:cubicBezTo>
                  <a:pt x="63221" y="100483"/>
                  <a:pt x="61883" y="97932"/>
                  <a:pt x="62048" y="9525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8" name="Text 26"/>
          <p:cNvSpPr/>
          <p:nvPr/>
        </p:nvSpPr>
        <p:spPr>
          <a:xfrm>
            <a:off x="791913" y="5628409"/>
            <a:ext cx="507895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威胁等级: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高威胁 - 在仓储式卖场和线上流量引导方面形成挑战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5273" y="1160318"/>
            <a:ext cx="5680364" cy="5238750"/>
          </a:xfrm>
          <a:custGeom>
            <a:avLst/>
            <a:gdLst/>
            <a:ahLst/>
            <a:cxnLst/>
            <a:rect l="l" t="t" r="r" b="b"/>
            <a:pathLst>
              <a:path w="5680364" h="5238750">
                <a:moveTo>
                  <a:pt x="34636" y="0"/>
                </a:moveTo>
                <a:lnTo>
                  <a:pt x="5645727" y="0"/>
                </a:lnTo>
                <a:cubicBezTo>
                  <a:pt x="5664856" y="0"/>
                  <a:pt x="5680364" y="15507"/>
                  <a:pt x="5680364" y="34636"/>
                </a:cubicBezTo>
                <a:lnTo>
                  <a:pt x="5680364" y="5134866"/>
                </a:lnTo>
                <a:cubicBezTo>
                  <a:pt x="5680364" y="5192239"/>
                  <a:pt x="5633853" y="5238750"/>
                  <a:pt x="5576479" y="5238750"/>
                </a:cubicBezTo>
                <a:lnTo>
                  <a:pt x="103884" y="5238750"/>
                </a:lnTo>
                <a:cubicBezTo>
                  <a:pt x="46511" y="5238750"/>
                  <a:pt x="0" y="5192239"/>
                  <a:pt x="0" y="5134866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9886" dist="86591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5273" y="1160318"/>
            <a:ext cx="5680364" cy="34636"/>
          </a:xfrm>
          <a:custGeom>
            <a:avLst/>
            <a:gdLst/>
            <a:ahLst/>
            <a:cxnLst/>
            <a:rect l="l" t="t" r="r" b="b"/>
            <a:pathLst>
              <a:path w="5680364" h="34636">
                <a:moveTo>
                  <a:pt x="34636" y="0"/>
                </a:moveTo>
                <a:lnTo>
                  <a:pt x="5645727" y="0"/>
                </a:lnTo>
                <a:cubicBezTo>
                  <a:pt x="5664856" y="0"/>
                  <a:pt x="5680364" y="15507"/>
                  <a:pt x="5680364" y="34636"/>
                </a:cubicBezTo>
                <a:lnTo>
                  <a:pt x="5680364" y="34636"/>
                </a:lnTo>
                <a:lnTo>
                  <a:pt x="0" y="34636"/>
                </a:ln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3818" y="1350818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834" y="1437409"/>
            <a:ext cx="450273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OTL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23364" y="1316182"/>
            <a:ext cx="753341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尚列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3364" y="1593273"/>
            <a:ext cx="71870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OnTheList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3818" y="1905000"/>
            <a:ext cx="5403273" cy="1298864"/>
          </a:xfrm>
          <a:custGeom>
            <a:avLst/>
            <a:gdLst/>
            <a:ahLst/>
            <a:cxnLst/>
            <a:rect l="l" t="t" r="r" b="b"/>
            <a:pathLst>
              <a:path w="5403273" h="1298864">
                <a:moveTo>
                  <a:pt x="69268" y="0"/>
                </a:moveTo>
                <a:lnTo>
                  <a:pt x="5334004" y="0"/>
                </a:lnTo>
                <a:cubicBezTo>
                  <a:pt x="5372260" y="0"/>
                  <a:pt x="5403273" y="31013"/>
                  <a:pt x="5403273" y="69268"/>
                </a:cubicBezTo>
                <a:lnTo>
                  <a:pt x="5403273" y="1229595"/>
                </a:lnTo>
                <a:cubicBezTo>
                  <a:pt x="5403273" y="1267851"/>
                  <a:pt x="5372260" y="1298864"/>
                  <a:pt x="5334004" y="1298864"/>
                </a:cubicBezTo>
                <a:lnTo>
                  <a:pt x="69268" y="1298864"/>
                </a:lnTo>
                <a:cubicBezTo>
                  <a:pt x="31038" y="1298864"/>
                  <a:pt x="0" y="1267826"/>
                  <a:pt x="0" y="1229595"/>
                </a:cubicBezTo>
                <a:lnTo>
                  <a:pt x="0" y="69268"/>
                </a:lnTo>
                <a:cubicBezTo>
                  <a:pt x="0" y="31038"/>
                  <a:pt x="31038" y="0"/>
                  <a:pt x="69268" y="0"/>
                </a:cubicBezTo>
                <a:close/>
              </a:path>
            </a:pathLst>
          </a:custGeom>
          <a:solidFill>
            <a:srgbClr val="3A6B5F">
              <a:alpha val="5098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73091" y="1974273"/>
            <a:ext cx="534265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73091" y="2251364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成立时间: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2016年在香港成立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73091" y="2476500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创始人: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Delphine &amp; Diego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3091" y="2701636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业态类型: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限时快闪/特卖(flash/pop-up)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73091" y="2926773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渠道策略: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线上平台入口+线下快闪活动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03818" y="3273136"/>
            <a:ext cx="5403273" cy="831273"/>
          </a:xfrm>
          <a:custGeom>
            <a:avLst/>
            <a:gdLst/>
            <a:ahLst/>
            <a:cxnLst/>
            <a:rect l="l" t="t" r="r" b="b"/>
            <a:pathLst>
              <a:path w="5403273" h="831273">
                <a:moveTo>
                  <a:pt x="69270" y="0"/>
                </a:moveTo>
                <a:lnTo>
                  <a:pt x="5334003" y="0"/>
                </a:lnTo>
                <a:cubicBezTo>
                  <a:pt x="5372260" y="0"/>
                  <a:pt x="5403273" y="31013"/>
                  <a:pt x="5403273" y="69270"/>
                </a:cubicBezTo>
                <a:lnTo>
                  <a:pt x="5403273" y="762003"/>
                </a:lnTo>
                <a:cubicBezTo>
                  <a:pt x="5403273" y="800260"/>
                  <a:pt x="5372260" y="831273"/>
                  <a:pt x="5334003" y="831273"/>
                </a:cubicBezTo>
                <a:lnTo>
                  <a:pt x="69270" y="831273"/>
                </a:lnTo>
                <a:cubicBezTo>
                  <a:pt x="31013" y="831273"/>
                  <a:pt x="0" y="800260"/>
                  <a:pt x="0" y="762003"/>
                </a:cubicBezTo>
                <a:lnTo>
                  <a:pt x="0" y="69270"/>
                </a:lnTo>
                <a:cubicBezTo>
                  <a:pt x="0" y="31039"/>
                  <a:pt x="31039" y="0"/>
                  <a:pt x="69270" y="0"/>
                </a:cubicBezTo>
                <a:close/>
              </a:path>
            </a:pathLst>
          </a:custGeom>
          <a:solidFill>
            <a:srgbClr val="8FA89B">
              <a:alpha val="5098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373091" y="3342409"/>
            <a:ext cx="534265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73091" y="3619500"/>
            <a:ext cx="5334000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作为第三方快闪/特卖平台,连接品牌与"线下短期特卖场景",强调会员和体验式的限时折扣,面向寻求短周期曝光的品牌与寻宝类消费者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3818" y="4173682"/>
            <a:ext cx="5403273" cy="1298864"/>
          </a:xfrm>
          <a:custGeom>
            <a:avLst/>
            <a:gdLst/>
            <a:ahLst/>
            <a:cxnLst/>
            <a:rect l="l" t="t" r="r" b="b"/>
            <a:pathLst>
              <a:path w="5403273" h="1298864">
                <a:moveTo>
                  <a:pt x="69268" y="0"/>
                </a:moveTo>
                <a:lnTo>
                  <a:pt x="5334004" y="0"/>
                </a:lnTo>
                <a:cubicBezTo>
                  <a:pt x="5372260" y="0"/>
                  <a:pt x="5403273" y="31013"/>
                  <a:pt x="5403273" y="69268"/>
                </a:cubicBezTo>
                <a:lnTo>
                  <a:pt x="5403273" y="1229595"/>
                </a:lnTo>
                <a:cubicBezTo>
                  <a:pt x="5403273" y="1267851"/>
                  <a:pt x="5372260" y="1298864"/>
                  <a:pt x="5334004" y="1298864"/>
                </a:cubicBezTo>
                <a:lnTo>
                  <a:pt x="69268" y="1298864"/>
                </a:lnTo>
                <a:cubicBezTo>
                  <a:pt x="31038" y="1298864"/>
                  <a:pt x="0" y="1267826"/>
                  <a:pt x="0" y="1229595"/>
                </a:cubicBezTo>
                <a:lnTo>
                  <a:pt x="0" y="69268"/>
                </a:lnTo>
                <a:cubicBezTo>
                  <a:pt x="0" y="31038"/>
                  <a:pt x="31038" y="0"/>
                  <a:pt x="69268" y="0"/>
                </a:cubicBezTo>
                <a:close/>
              </a:path>
            </a:pathLst>
          </a:custGeom>
          <a:solidFill>
            <a:srgbClr val="B89B72">
              <a:alpha val="5098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73091" y="4242955"/>
            <a:ext cx="5342659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7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73091" y="4520045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会员制快闪模式创新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73091" y="4745182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帮助品牌消化库存或渠道推广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73091" y="4970318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灵活的短期线下活动形式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73091" y="5195455"/>
            <a:ext cx="53340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香港市场起步,辐射亚洲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2477" y="5550477"/>
            <a:ext cx="5385955" cy="363682"/>
          </a:xfrm>
          <a:custGeom>
            <a:avLst/>
            <a:gdLst/>
            <a:ahLst/>
            <a:cxnLst/>
            <a:rect l="l" t="t" r="r" b="b"/>
            <a:pathLst>
              <a:path w="5385955" h="363682">
                <a:moveTo>
                  <a:pt x="69274" y="0"/>
                </a:moveTo>
                <a:lnTo>
                  <a:pt x="5316680" y="0"/>
                </a:lnTo>
                <a:cubicBezTo>
                  <a:pt x="5354939" y="0"/>
                  <a:pt x="5385955" y="31015"/>
                  <a:pt x="5385955" y="69274"/>
                </a:cubicBezTo>
                <a:lnTo>
                  <a:pt x="5385955" y="294408"/>
                </a:lnTo>
                <a:cubicBezTo>
                  <a:pt x="5385955" y="332667"/>
                  <a:pt x="5354939" y="363682"/>
                  <a:pt x="5316680" y="363682"/>
                </a:cubicBezTo>
                <a:lnTo>
                  <a:pt x="69274" y="363682"/>
                </a:lnTo>
                <a:cubicBezTo>
                  <a:pt x="31041" y="363682"/>
                  <a:pt x="0" y="332641"/>
                  <a:pt x="0" y="294408"/>
                </a:cubicBezTo>
                <a:lnTo>
                  <a:pt x="0" y="69274"/>
                </a:lnTo>
                <a:cubicBezTo>
                  <a:pt x="0" y="31041"/>
                  <a:pt x="31041" y="0"/>
                  <a:pt x="69274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10000"/>
                </a:srgbClr>
              </a:gs>
              <a:gs pos="100000">
                <a:srgbClr val="8FA89B">
                  <a:alpha val="10000"/>
                </a:srgbClr>
              </a:gs>
            </a:gsLst>
            <a:lin ang="0" scaled="1"/>
          </a:gradFill>
          <a:ln w="25400">
            <a:solidFill>
              <a:srgbClr val="3A6B5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7727" y="5654386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69273" y="138545"/>
                </a:moveTo>
                <a:cubicBezTo>
                  <a:pt x="107505" y="138545"/>
                  <a:pt x="138545" y="107505"/>
                  <a:pt x="138545" y="69273"/>
                </a:cubicBezTo>
                <a:cubicBezTo>
                  <a:pt x="138545" y="31040"/>
                  <a:pt x="107505" y="0"/>
                  <a:pt x="69273" y="0"/>
                </a:cubicBezTo>
                <a:cubicBezTo>
                  <a:pt x="31040" y="0"/>
                  <a:pt x="0" y="31040"/>
                  <a:pt x="0" y="69273"/>
                </a:cubicBezTo>
                <a:cubicBezTo>
                  <a:pt x="0" y="107505"/>
                  <a:pt x="31040" y="138545"/>
                  <a:pt x="69273" y="138545"/>
                </a:cubicBezTo>
                <a:close/>
                <a:moveTo>
                  <a:pt x="60614" y="43295"/>
                </a:moveTo>
                <a:cubicBezTo>
                  <a:pt x="60614" y="38516"/>
                  <a:pt x="64494" y="34636"/>
                  <a:pt x="69273" y="34636"/>
                </a:cubicBezTo>
                <a:cubicBezTo>
                  <a:pt x="74052" y="34636"/>
                  <a:pt x="77932" y="38516"/>
                  <a:pt x="77932" y="43295"/>
                </a:cubicBezTo>
                <a:cubicBezTo>
                  <a:pt x="77932" y="48075"/>
                  <a:pt x="74052" y="51955"/>
                  <a:pt x="69273" y="51955"/>
                </a:cubicBezTo>
                <a:cubicBezTo>
                  <a:pt x="64494" y="51955"/>
                  <a:pt x="60614" y="48075"/>
                  <a:pt x="60614" y="43295"/>
                </a:cubicBezTo>
                <a:close/>
                <a:moveTo>
                  <a:pt x="58449" y="60614"/>
                </a:moveTo>
                <a:lnTo>
                  <a:pt x="71437" y="60614"/>
                </a:lnTo>
                <a:cubicBezTo>
                  <a:pt x="75036" y="60614"/>
                  <a:pt x="77932" y="63509"/>
                  <a:pt x="77932" y="67108"/>
                </a:cubicBezTo>
                <a:lnTo>
                  <a:pt x="77932" y="90920"/>
                </a:lnTo>
                <a:lnTo>
                  <a:pt x="80097" y="90920"/>
                </a:lnTo>
                <a:cubicBezTo>
                  <a:pt x="83696" y="90920"/>
                  <a:pt x="86591" y="93816"/>
                  <a:pt x="86591" y="97415"/>
                </a:cubicBezTo>
                <a:cubicBezTo>
                  <a:pt x="86591" y="101014"/>
                  <a:pt x="83696" y="103909"/>
                  <a:pt x="80097" y="103909"/>
                </a:cubicBezTo>
                <a:lnTo>
                  <a:pt x="58449" y="103909"/>
                </a:lnTo>
                <a:cubicBezTo>
                  <a:pt x="54850" y="103909"/>
                  <a:pt x="51955" y="101014"/>
                  <a:pt x="51955" y="97415"/>
                </a:cubicBezTo>
                <a:cubicBezTo>
                  <a:pt x="51955" y="93816"/>
                  <a:pt x="54850" y="90920"/>
                  <a:pt x="58449" y="90920"/>
                </a:cubicBezTo>
                <a:lnTo>
                  <a:pt x="64943" y="90920"/>
                </a:lnTo>
                <a:lnTo>
                  <a:pt x="64943" y="73602"/>
                </a:lnTo>
                <a:lnTo>
                  <a:pt x="58449" y="73602"/>
                </a:lnTo>
                <a:cubicBezTo>
                  <a:pt x="54850" y="73602"/>
                  <a:pt x="51955" y="70707"/>
                  <a:pt x="51955" y="67108"/>
                </a:cubicBezTo>
                <a:cubicBezTo>
                  <a:pt x="51955" y="63509"/>
                  <a:pt x="54850" y="60614"/>
                  <a:pt x="58449" y="60614"/>
                </a:cubicBezTo>
                <a:close/>
              </a:path>
            </a:pathLst>
          </a:custGeom>
          <a:solidFill>
            <a:srgbClr val="8FA89B"/>
          </a:solidFill>
          <a:ln/>
        </p:spPr>
      </p:sp>
      <p:sp>
        <p:nvSpPr>
          <p:cNvPr id="52" name="Text 50"/>
          <p:cNvSpPr/>
          <p:nvPr/>
        </p:nvSpPr>
        <p:spPr>
          <a:xfrm>
            <a:off x="6610822" y="5628409"/>
            <a:ext cx="507895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威胁等级: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低威胁 - 以快闪为主,与openmaxx常驻卖场模式差异较大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46364" y="6470032"/>
            <a:ext cx="11499273" cy="727364"/>
          </a:xfrm>
          <a:custGeom>
            <a:avLst/>
            <a:gdLst/>
            <a:ahLst/>
            <a:cxnLst/>
            <a:rect l="l" t="t" r="r" b="b"/>
            <a:pathLst>
              <a:path w="11499273" h="727364">
                <a:moveTo>
                  <a:pt x="103911" y="0"/>
                </a:moveTo>
                <a:lnTo>
                  <a:pt x="11395362" y="0"/>
                </a:lnTo>
                <a:cubicBezTo>
                  <a:pt x="11452750" y="0"/>
                  <a:pt x="11499273" y="46523"/>
                  <a:pt x="11499273" y="103911"/>
                </a:cubicBezTo>
                <a:lnTo>
                  <a:pt x="11499273" y="623452"/>
                </a:lnTo>
                <a:cubicBezTo>
                  <a:pt x="11499273" y="680841"/>
                  <a:pt x="11452750" y="727364"/>
                  <a:pt x="11395362" y="727364"/>
                </a:cubicBezTo>
                <a:lnTo>
                  <a:pt x="103911" y="727364"/>
                </a:lnTo>
                <a:cubicBezTo>
                  <a:pt x="46523" y="727364"/>
                  <a:pt x="0" y="680841"/>
                  <a:pt x="0" y="623452"/>
                </a:cubicBezTo>
                <a:lnTo>
                  <a:pt x="0" y="103911"/>
                </a:lnTo>
                <a:cubicBezTo>
                  <a:pt x="0" y="46561"/>
                  <a:pt x="46561" y="0"/>
                  <a:pt x="103911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>
                  <a:alpha val="10000"/>
                </a:srgbClr>
              </a:gs>
              <a:gs pos="50000">
                <a:srgbClr val="3A6B5F">
                  <a:alpha val="10000"/>
                </a:srgbClr>
              </a:gs>
              <a:gs pos="100000">
                <a:srgbClr val="8FA89B">
                  <a:alpha val="1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51955" dist="34636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227" y="6591259"/>
            <a:ext cx="155864" cy="207818"/>
          </a:xfrm>
          <a:custGeom>
            <a:avLst/>
            <a:gdLst/>
            <a:ahLst/>
            <a:cxnLst/>
            <a:rect l="l" t="t" r="r" b="b"/>
            <a:pathLst>
              <a:path w="155864" h="207818">
                <a:moveTo>
                  <a:pt x="118887" y="155864"/>
                </a:moveTo>
                <a:cubicBezTo>
                  <a:pt x="121850" y="146812"/>
                  <a:pt x="127776" y="138613"/>
                  <a:pt x="134473" y="131551"/>
                </a:cubicBezTo>
                <a:cubicBezTo>
                  <a:pt x="147746" y="117588"/>
                  <a:pt x="155864" y="98714"/>
                  <a:pt x="155864" y="77932"/>
                </a:cubicBezTo>
                <a:cubicBezTo>
                  <a:pt x="155864" y="34907"/>
                  <a:pt x="120957" y="0"/>
                  <a:pt x="77932" y="0"/>
                </a:cubicBezTo>
                <a:cubicBezTo>
                  <a:pt x="34907" y="0"/>
                  <a:pt x="0" y="34907"/>
                  <a:pt x="0" y="77932"/>
                </a:cubicBezTo>
                <a:cubicBezTo>
                  <a:pt x="0" y="98714"/>
                  <a:pt x="8118" y="117588"/>
                  <a:pt x="21391" y="131551"/>
                </a:cubicBezTo>
                <a:cubicBezTo>
                  <a:pt x="28088" y="138613"/>
                  <a:pt x="34055" y="146812"/>
                  <a:pt x="36977" y="155864"/>
                </a:cubicBezTo>
                <a:lnTo>
                  <a:pt x="118846" y="155864"/>
                </a:lnTo>
                <a:close/>
                <a:moveTo>
                  <a:pt x="116898" y="175347"/>
                </a:moveTo>
                <a:lnTo>
                  <a:pt x="38966" y="175347"/>
                </a:lnTo>
                <a:lnTo>
                  <a:pt x="38966" y="181841"/>
                </a:lnTo>
                <a:cubicBezTo>
                  <a:pt x="38966" y="199781"/>
                  <a:pt x="53497" y="214312"/>
                  <a:pt x="71438" y="214312"/>
                </a:cubicBezTo>
                <a:lnTo>
                  <a:pt x="84426" y="214312"/>
                </a:lnTo>
                <a:cubicBezTo>
                  <a:pt x="102367" y="214312"/>
                  <a:pt x="116898" y="199781"/>
                  <a:pt x="116898" y="181841"/>
                </a:cubicBezTo>
                <a:lnTo>
                  <a:pt x="116898" y="175347"/>
                </a:lnTo>
                <a:close/>
                <a:moveTo>
                  <a:pt x="74685" y="45460"/>
                </a:moveTo>
                <a:cubicBezTo>
                  <a:pt x="58530" y="45460"/>
                  <a:pt x="45460" y="58530"/>
                  <a:pt x="45460" y="74685"/>
                </a:cubicBezTo>
                <a:cubicBezTo>
                  <a:pt x="45460" y="80083"/>
                  <a:pt x="41117" y="84426"/>
                  <a:pt x="35719" y="84426"/>
                </a:cubicBezTo>
                <a:cubicBezTo>
                  <a:pt x="30320" y="84426"/>
                  <a:pt x="25977" y="80083"/>
                  <a:pt x="25977" y="74685"/>
                </a:cubicBezTo>
                <a:cubicBezTo>
                  <a:pt x="25977" y="47774"/>
                  <a:pt x="47774" y="25977"/>
                  <a:pt x="74685" y="25977"/>
                </a:cubicBezTo>
                <a:cubicBezTo>
                  <a:pt x="80083" y="25977"/>
                  <a:pt x="84426" y="30320"/>
                  <a:pt x="84426" y="35719"/>
                </a:cubicBezTo>
                <a:cubicBezTo>
                  <a:pt x="84426" y="41117"/>
                  <a:pt x="80083" y="45460"/>
                  <a:pt x="74685" y="4546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55" name="Text 53"/>
          <p:cNvSpPr/>
          <p:nvPr/>
        </p:nvSpPr>
        <p:spPr>
          <a:xfrm>
            <a:off x="813955" y="6573941"/>
            <a:ext cx="779318" cy="24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4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战略启示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67591" y="6920305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36002" y="75388"/>
                </a:moveTo>
                <a:cubicBezTo>
                  <a:pt x="139384" y="72006"/>
                  <a:pt x="139384" y="66513"/>
                  <a:pt x="136002" y="63130"/>
                </a:cubicBezTo>
                <a:lnTo>
                  <a:pt x="92706" y="19835"/>
                </a:lnTo>
                <a:cubicBezTo>
                  <a:pt x="89324" y="16452"/>
                  <a:pt x="83831" y="16452"/>
                  <a:pt x="80448" y="19835"/>
                </a:cubicBezTo>
                <a:cubicBezTo>
                  <a:pt x="77066" y="23217"/>
                  <a:pt x="77066" y="28710"/>
                  <a:pt x="80448" y="32093"/>
                </a:cubicBezTo>
                <a:lnTo>
                  <a:pt x="108969" y="60614"/>
                </a:lnTo>
                <a:lnTo>
                  <a:pt x="8659" y="60614"/>
                </a:lnTo>
                <a:cubicBezTo>
                  <a:pt x="3870" y="60614"/>
                  <a:pt x="0" y="64483"/>
                  <a:pt x="0" y="69273"/>
                </a:cubicBezTo>
                <a:cubicBezTo>
                  <a:pt x="0" y="74062"/>
                  <a:pt x="3870" y="77932"/>
                  <a:pt x="8659" y="77932"/>
                </a:cubicBezTo>
                <a:lnTo>
                  <a:pt x="108969" y="77932"/>
                </a:lnTo>
                <a:lnTo>
                  <a:pt x="80448" y="106453"/>
                </a:lnTo>
                <a:cubicBezTo>
                  <a:pt x="77066" y="109835"/>
                  <a:pt x="77066" y="115328"/>
                  <a:pt x="80448" y="118711"/>
                </a:cubicBezTo>
                <a:cubicBezTo>
                  <a:pt x="83831" y="122093"/>
                  <a:pt x="89324" y="122093"/>
                  <a:pt x="92706" y="118711"/>
                </a:cubicBezTo>
                <a:lnTo>
                  <a:pt x="136002" y="75415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7" name="Text 55"/>
          <p:cNvSpPr/>
          <p:nvPr/>
        </p:nvSpPr>
        <p:spPr>
          <a:xfrm>
            <a:off x="692727" y="6885669"/>
            <a:ext cx="378402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京东奥莱: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全渠道整合是趋势,需关注其供应链优势与扩张速度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65273" y="6920305"/>
            <a:ext cx="138545" cy="138545"/>
          </a:xfrm>
          <a:custGeom>
            <a:avLst/>
            <a:gdLst/>
            <a:ahLst/>
            <a:cxnLst/>
            <a:rect l="l" t="t" r="r" b="b"/>
            <a:pathLst>
              <a:path w="138545" h="138545">
                <a:moveTo>
                  <a:pt x="136002" y="75388"/>
                </a:moveTo>
                <a:cubicBezTo>
                  <a:pt x="139384" y="72006"/>
                  <a:pt x="139384" y="66513"/>
                  <a:pt x="136002" y="63130"/>
                </a:cubicBezTo>
                <a:lnTo>
                  <a:pt x="92706" y="19835"/>
                </a:lnTo>
                <a:cubicBezTo>
                  <a:pt x="89324" y="16452"/>
                  <a:pt x="83831" y="16452"/>
                  <a:pt x="80448" y="19835"/>
                </a:cubicBezTo>
                <a:cubicBezTo>
                  <a:pt x="77066" y="23217"/>
                  <a:pt x="77066" y="28710"/>
                  <a:pt x="80448" y="32093"/>
                </a:cubicBezTo>
                <a:lnTo>
                  <a:pt x="108969" y="60614"/>
                </a:lnTo>
                <a:lnTo>
                  <a:pt x="8659" y="60614"/>
                </a:lnTo>
                <a:cubicBezTo>
                  <a:pt x="3870" y="60614"/>
                  <a:pt x="0" y="64483"/>
                  <a:pt x="0" y="69273"/>
                </a:cubicBezTo>
                <a:cubicBezTo>
                  <a:pt x="0" y="74062"/>
                  <a:pt x="3870" y="77932"/>
                  <a:pt x="8659" y="77932"/>
                </a:cubicBezTo>
                <a:lnTo>
                  <a:pt x="108969" y="77932"/>
                </a:lnTo>
                <a:lnTo>
                  <a:pt x="80448" y="106453"/>
                </a:lnTo>
                <a:cubicBezTo>
                  <a:pt x="77066" y="109835"/>
                  <a:pt x="77066" y="115328"/>
                  <a:pt x="80448" y="118711"/>
                </a:cubicBezTo>
                <a:cubicBezTo>
                  <a:pt x="83831" y="122093"/>
                  <a:pt x="89324" y="122093"/>
                  <a:pt x="92706" y="118711"/>
                </a:cubicBezTo>
                <a:lnTo>
                  <a:pt x="136002" y="75415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9" name="Text 57"/>
          <p:cNvSpPr/>
          <p:nvPr/>
        </p:nvSpPr>
        <p:spPr>
          <a:xfrm>
            <a:off x="6390409" y="6885669"/>
            <a:ext cx="387927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尚列:</a:t>
            </a:r>
            <a:pPr>
              <a:lnSpc>
                <a:spcPct val="130000"/>
              </a:lnSpc>
            </a:pPr>
            <a:r>
              <a:rPr lang="en-US" sz="109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快闪模式可作为补充业态,为openmaxx提供活动运营参考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竞争格局对比矩阵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基于渠道侧重与业态类型的多维度竞争定位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7439025" cy="5219700"/>
          </a:xfrm>
          <a:custGeom>
            <a:avLst/>
            <a:gdLst/>
            <a:ahLst/>
            <a:cxnLst/>
            <a:rect l="l" t="t" r="r" b="b"/>
            <a:pathLst>
              <a:path w="7439025" h="5219700">
                <a:moveTo>
                  <a:pt x="114311" y="0"/>
                </a:moveTo>
                <a:lnTo>
                  <a:pt x="7324714" y="0"/>
                </a:lnTo>
                <a:cubicBezTo>
                  <a:pt x="7387846" y="0"/>
                  <a:pt x="7439025" y="51179"/>
                  <a:pt x="7439025" y="114311"/>
                </a:cubicBezTo>
                <a:lnTo>
                  <a:pt x="7439025" y="5105389"/>
                </a:lnTo>
                <a:cubicBezTo>
                  <a:pt x="7439025" y="5168521"/>
                  <a:pt x="7387846" y="5219700"/>
                  <a:pt x="7324714" y="5219700"/>
                </a:cubicBezTo>
                <a:lnTo>
                  <a:pt x="114311" y="5219700"/>
                </a:lnTo>
                <a:cubicBezTo>
                  <a:pt x="51179" y="5219700"/>
                  <a:pt x="0" y="5168521"/>
                  <a:pt x="0" y="5105389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70490" y="1257300"/>
            <a:ext cx="3838575" cy="1333500"/>
          </a:xfrm>
          <a:custGeom>
            <a:avLst/>
            <a:gdLst/>
            <a:ahLst/>
            <a:cxnLst/>
            <a:rect l="l" t="t" r="r" b="b"/>
            <a:pathLst>
              <a:path w="3838575" h="1333500">
                <a:moveTo>
                  <a:pt x="114294" y="0"/>
                </a:moveTo>
                <a:lnTo>
                  <a:pt x="3724281" y="0"/>
                </a:lnTo>
                <a:cubicBezTo>
                  <a:pt x="3787361" y="0"/>
                  <a:pt x="3838575" y="51214"/>
                  <a:pt x="3838575" y="114294"/>
                </a:cubicBezTo>
                <a:lnTo>
                  <a:pt x="3838575" y="1219206"/>
                </a:lnTo>
                <a:cubicBezTo>
                  <a:pt x="3838575" y="1282286"/>
                  <a:pt x="3787361" y="1333500"/>
                  <a:pt x="372428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100000">
                <a:srgbClr val="8FA89B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84790" y="1409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8" name="Text 6"/>
          <p:cNvSpPr/>
          <p:nvPr/>
        </p:nvSpPr>
        <p:spPr>
          <a:xfrm>
            <a:off x="8399115" y="13716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矩阵解读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84790" y="17145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横轴: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线上侧重 → 线下侧重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84790" y="19812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纵轴: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闪购模式 → 仓储卖场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84790" y="22479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气泡大小: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市场影响力/规模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89540" y="2667000"/>
            <a:ext cx="3819525" cy="2362200"/>
          </a:xfrm>
          <a:custGeom>
            <a:avLst/>
            <a:gdLst/>
            <a:ahLst/>
            <a:cxnLst/>
            <a:rect l="l" t="t" r="r" b="b"/>
            <a:pathLst>
              <a:path w="3819525" h="2362200">
                <a:moveTo>
                  <a:pt x="38100" y="0"/>
                </a:moveTo>
                <a:lnTo>
                  <a:pt x="3705218" y="0"/>
                </a:lnTo>
                <a:cubicBezTo>
                  <a:pt x="3768306" y="0"/>
                  <a:pt x="3819525" y="51219"/>
                  <a:pt x="3819525" y="114307"/>
                </a:cubicBezTo>
                <a:lnTo>
                  <a:pt x="3819525" y="2247893"/>
                </a:lnTo>
                <a:cubicBezTo>
                  <a:pt x="3819525" y="2310981"/>
                  <a:pt x="3768306" y="2362200"/>
                  <a:pt x="3705218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89540" y="26670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5987" y="2828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-5358"/>
                </a:moveTo>
                <a:cubicBezTo>
                  <a:pt x="102368" y="-5358"/>
                  <a:pt x="107156" y="-569"/>
                  <a:pt x="107156" y="5358"/>
                </a:cubicBezTo>
                <a:lnTo>
                  <a:pt x="107156" y="11486"/>
                </a:lnTo>
                <a:cubicBezTo>
                  <a:pt x="140006" y="16174"/>
                  <a:pt x="165992" y="42159"/>
                  <a:pt x="170680" y="75009"/>
                </a:cubicBezTo>
                <a:lnTo>
                  <a:pt x="176808" y="75009"/>
                </a:lnTo>
                <a:cubicBezTo>
                  <a:pt x="182735" y="75009"/>
                  <a:pt x="187523" y="79798"/>
                  <a:pt x="187523" y="85725"/>
                </a:cubicBezTo>
                <a:cubicBezTo>
                  <a:pt x="187523" y="91652"/>
                  <a:pt x="182735" y="96441"/>
                  <a:pt x="176808" y="96441"/>
                </a:cubicBezTo>
                <a:lnTo>
                  <a:pt x="170680" y="96441"/>
                </a:lnTo>
                <a:cubicBezTo>
                  <a:pt x="165992" y="129291"/>
                  <a:pt x="140006" y="155276"/>
                  <a:pt x="107156" y="159964"/>
                </a:cubicBezTo>
                <a:lnTo>
                  <a:pt x="107156" y="166092"/>
                </a:lnTo>
                <a:cubicBezTo>
                  <a:pt x="107156" y="172019"/>
                  <a:pt x="102368" y="176808"/>
                  <a:pt x="96441" y="176808"/>
                </a:cubicBezTo>
                <a:cubicBezTo>
                  <a:pt x="90514" y="176808"/>
                  <a:pt x="85725" y="172019"/>
                  <a:pt x="85725" y="166092"/>
                </a:cubicBezTo>
                <a:lnTo>
                  <a:pt x="85725" y="159964"/>
                </a:lnTo>
                <a:cubicBezTo>
                  <a:pt x="52875" y="155276"/>
                  <a:pt x="26890" y="129291"/>
                  <a:pt x="22201" y="96441"/>
                </a:cubicBezTo>
                <a:lnTo>
                  <a:pt x="16073" y="96441"/>
                </a:lnTo>
                <a:cubicBezTo>
                  <a:pt x="10146" y="96441"/>
                  <a:pt x="5358" y="91652"/>
                  <a:pt x="5358" y="85725"/>
                </a:cubicBezTo>
                <a:cubicBezTo>
                  <a:pt x="5358" y="79798"/>
                  <a:pt x="10146" y="75009"/>
                  <a:pt x="16073" y="75009"/>
                </a:cubicBezTo>
                <a:lnTo>
                  <a:pt x="22201" y="75009"/>
                </a:lnTo>
                <a:cubicBezTo>
                  <a:pt x="26890" y="42159"/>
                  <a:pt x="52875" y="16174"/>
                  <a:pt x="85725" y="11486"/>
                </a:cubicBezTo>
                <a:lnTo>
                  <a:pt x="85725" y="5358"/>
                </a:lnTo>
                <a:cubicBezTo>
                  <a:pt x="85725" y="-569"/>
                  <a:pt x="90514" y="-5358"/>
                  <a:pt x="96441" y="-5358"/>
                </a:cubicBezTo>
                <a:close/>
                <a:moveTo>
                  <a:pt x="43934" y="96441"/>
                </a:moveTo>
                <a:cubicBezTo>
                  <a:pt x="48187" y="117437"/>
                  <a:pt x="64729" y="133979"/>
                  <a:pt x="85725" y="138232"/>
                </a:cubicBezTo>
                <a:lnTo>
                  <a:pt x="85725" y="133945"/>
                </a:lnTo>
                <a:cubicBezTo>
                  <a:pt x="85725" y="128018"/>
                  <a:pt x="90514" y="123230"/>
                  <a:pt x="96441" y="123230"/>
                </a:cubicBezTo>
                <a:cubicBezTo>
                  <a:pt x="102368" y="123230"/>
                  <a:pt x="107156" y="128018"/>
                  <a:pt x="107156" y="133945"/>
                </a:cubicBezTo>
                <a:lnTo>
                  <a:pt x="107156" y="138232"/>
                </a:lnTo>
                <a:cubicBezTo>
                  <a:pt x="128152" y="133979"/>
                  <a:pt x="144694" y="117437"/>
                  <a:pt x="148947" y="96441"/>
                </a:cubicBezTo>
                <a:lnTo>
                  <a:pt x="144661" y="96441"/>
                </a:lnTo>
                <a:cubicBezTo>
                  <a:pt x="138734" y="96441"/>
                  <a:pt x="133945" y="91652"/>
                  <a:pt x="133945" y="85725"/>
                </a:cubicBezTo>
                <a:cubicBezTo>
                  <a:pt x="133945" y="79798"/>
                  <a:pt x="138734" y="75009"/>
                  <a:pt x="144661" y="75009"/>
                </a:cubicBezTo>
                <a:lnTo>
                  <a:pt x="148947" y="75009"/>
                </a:lnTo>
                <a:cubicBezTo>
                  <a:pt x="144694" y="54013"/>
                  <a:pt x="128152" y="37471"/>
                  <a:pt x="107156" y="33218"/>
                </a:cubicBezTo>
                <a:lnTo>
                  <a:pt x="107156" y="37505"/>
                </a:lnTo>
                <a:cubicBezTo>
                  <a:pt x="107156" y="43432"/>
                  <a:pt x="102368" y="48220"/>
                  <a:pt x="96441" y="48220"/>
                </a:cubicBezTo>
                <a:cubicBezTo>
                  <a:pt x="90514" y="48220"/>
                  <a:pt x="85725" y="43432"/>
                  <a:pt x="85725" y="37505"/>
                </a:cubicBezTo>
                <a:lnTo>
                  <a:pt x="85725" y="33218"/>
                </a:lnTo>
                <a:cubicBezTo>
                  <a:pt x="64729" y="37471"/>
                  <a:pt x="48187" y="54013"/>
                  <a:pt x="43934" y="75009"/>
                </a:cubicBezTo>
                <a:lnTo>
                  <a:pt x="48220" y="75009"/>
                </a:lnTo>
                <a:cubicBezTo>
                  <a:pt x="54147" y="75009"/>
                  <a:pt x="58936" y="79798"/>
                  <a:pt x="58936" y="85725"/>
                </a:cubicBezTo>
                <a:cubicBezTo>
                  <a:pt x="58936" y="91652"/>
                  <a:pt x="54147" y="96441"/>
                  <a:pt x="48220" y="96441"/>
                </a:cubicBezTo>
                <a:lnTo>
                  <a:pt x="43934" y="96441"/>
                </a:lnTo>
                <a:close/>
                <a:moveTo>
                  <a:pt x="96441" y="69652"/>
                </a:moveTo>
                <a:cubicBezTo>
                  <a:pt x="105312" y="69652"/>
                  <a:pt x="112514" y="76854"/>
                  <a:pt x="112514" y="85725"/>
                </a:cubicBezTo>
                <a:cubicBezTo>
                  <a:pt x="112514" y="94596"/>
                  <a:pt x="105312" y="101798"/>
                  <a:pt x="96441" y="101798"/>
                </a:cubicBezTo>
                <a:cubicBezTo>
                  <a:pt x="87569" y="101798"/>
                  <a:pt x="80367" y="94596"/>
                  <a:pt x="80367" y="85725"/>
                </a:cubicBezTo>
                <a:cubicBezTo>
                  <a:pt x="80367" y="76854"/>
                  <a:pt x="87569" y="69652"/>
                  <a:pt x="96441" y="69652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5" name="Text 13"/>
          <p:cNvSpPr/>
          <p:nvPr/>
        </p:nvSpPr>
        <p:spPr>
          <a:xfrm>
            <a:off x="8341965" y="2781300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openmaxx位置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2890" y="3143250"/>
            <a:ext cx="3571875" cy="381000"/>
          </a:xfrm>
          <a:custGeom>
            <a:avLst/>
            <a:gdLst/>
            <a:ahLst/>
            <a:cxnLst/>
            <a:rect l="l" t="t" r="r" b="b"/>
            <a:pathLst>
              <a:path w="3571875" h="381000">
                <a:moveTo>
                  <a:pt x="76200" y="0"/>
                </a:moveTo>
                <a:lnTo>
                  <a:pt x="3495675" y="0"/>
                </a:lnTo>
                <a:cubicBezTo>
                  <a:pt x="3537731" y="0"/>
                  <a:pt x="3571875" y="34144"/>
                  <a:pt x="3571875" y="76200"/>
                </a:cubicBezTo>
                <a:lnTo>
                  <a:pt x="3571875" y="304800"/>
                </a:lnTo>
                <a:cubicBezTo>
                  <a:pt x="3571875" y="346856"/>
                  <a:pt x="3537731" y="381000"/>
                  <a:pt x="34956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13378" y="3276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8418165" y="3219450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位于矩阵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右下象限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2890" y="3600450"/>
            <a:ext cx="3571875" cy="381000"/>
          </a:xfrm>
          <a:custGeom>
            <a:avLst/>
            <a:gdLst/>
            <a:ahLst/>
            <a:cxnLst/>
            <a:rect l="l" t="t" r="r" b="b"/>
            <a:pathLst>
              <a:path w="3571875" h="381000">
                <a:moveTo>
                  <a:pt x="76200" y="0"/>
                </a:moveTo>
                <a:lnTo>
                  <a:pt x="3495675" y="0"/>
                </a:lnTo>
                <a:cubicBezTo>
                  <a:pt x="3537731" y="0"/>
                  <a:pt x="3571875" y="34144"/>
                  <a:pt x="3571875" y="76200"/>
                </a:cubicBezTo>
                <a:lnTo>
                  <a:pt x="3571875" y="304800"/>
                </a:lnTo>
                <a:cubicBezTo>
                  <a:pt x="3571875" y="346856"/>
                  <a:pt x="3537731" y="381000"/>
                  <a:pt x="34956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213378" y="3733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8165" y="367665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侧重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线下仓储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闪购节奏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2890" y="4057650"/>
            <a:ext cx="3571875" cy="381000"/>
          </a:xfrm>
          <a:custGeom>
            <a:avLst/>
            <a:gdLst/>
            <a:ahLst/>
            <a:cxnLst/>
            <a:rect l="l" t="t" r="r" b="b"/>
            <a:pathLst>
              <a:path w="3571875" h="381000">
                <a:moveTo>
                  <a:pt x="76200" y="0"/>
                </a:moveTo>
                <a:lnTo>
                  <a:pt x="3495675" y="0"/>
                </a:lnTo>
                <a:cubicBezTo>
                  <a:pt x="3537731" y="0"/>
                  <a:pt x="3571875" y="34144"/>
                  <a:pt x="3571875" y="76200"/>
                </a:cubicBezTo>
                <a:lnTo>
                  <a:pt x="3571875" y="304800"/>
                </a:lnTo>
                <a:cubicBezTo>
                  <a:pt x="3571875" y="346856"/>
                  <a:pt x="3537731" y="381000"/>
                  <a:pt x="34956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213378" y="4191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8165" y="413385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直接竞争对手: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荟品仓、BIGOFFS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2890" y="4514850"/>
            <a:ext cx="3571875" cy="381000"/>
          </a:xfrm>
          <a:custGeom>
            <a:avLst/>
            <a:gdLst/>
            <a:ahLst/>
            <a:cxnLst/>
            <a:rect l="l" t="t" r="r" b="b"/>
            <a:pathLst>
              <a:path w="3571875" h="381000">
                <a:moveTo>
                  <a:pt x="76200" y="0"/>
                </a:moveTo>
                <a:lnTo>
                  <a:pt x="3495675" y="0"/>
                </a:lnTo>
                <a:cubicBezTo>
                  <a:pt x="3537731" y="0"/>
                  <a:pt x="3571875" y="34144"/>
                  <a:pt x="3571875" y="76200"/>
                </a:cubicBezTo>
                <a:lnTo>
                  <a:pt x="3571875" y="304800"/>
                </a:lnTo>
                <a:cubicBezTo>
                  <a:pt x="3571875" y="346856"/>
                  <a:pt x="3537731" y="381000"/>
                  <a:pt x="34956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13378" y="4648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7150" y="35719"/>
                </a:moveTo>
                <a:cubicBezTo>
                  <a:pt x="68978" y="35719"/>
                  <a:pt x="78581" y="45322"/>
                  <a:pt x="78581" y="57150"/>
                </a:cubicBezTo>
                <a:cubicBezTo>
                  <a:pt x="78581" y="68978"/>
                  <a:pt x="68978" y="78581"/>
                  <a:pt x="57150" y="78581"/>
                </a:cubicBezTo>
                <a:cubicBezTo>
                  <a:pt x="45322" y="78581"/>
                  <a:pt x="35719" y="68978"/>
                  <a:pt x="35719" y="57150"/>
                </a:cubicBezTo>
                <a:cubicBezTo>
                  <a:pt x="35719" y="45322"/>
                  <a:pt x="45322" y="35719"/>
                  <a:pt x="57150" y="35719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27" name="Text 25"/>
          <p:cNvSpPr/>
          <p:nvPr/>
        </p:nvSpPr>
        <p:spPr>
          <a:xfrm>
            <a:off x="8418165" y="4591050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潜在威胁: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京东奥莱、唯品会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80015" y="5114925"/>
            <a:ext cx="3819525" cy="1352550"/>
          </a:xfrm>
          <a:custGeom>
            <a:avLst/>
            <a:gdLst/>
            <a:ahLst/>
            <a:cxnLst/>
            <a:rect l="l" t="t" r="r" b="b"/>
            <a:pathLst>
              <a:path w="3819525" h="1352550">
                <a:moveTo>
                  <a:pt x="114304" y="0"/>
                </a:moveTo>
                <a:lnTo>
                  <a:pt x="3705221" y="0"/>
                </a:lnTo>
                <a:cubicBezTo>
                  <a:pt x="3768349" y="0"/>
                  <a:pt x="3819525" y="51176"/>
                  <a:pt x="3819525" y="114304"/>
                </a:cubicBezTo>
                <a:lnTo>
                  <a:pt x="3819525" y="1238246"/>
                </a:lnTo>
                <a:cubicBezTo>
                  <a:pt x="3819525" y="1301374"/>
                  <a:pt x="3768349" y="1352550"/>
                  <a:pt x="3705221" y="1352550"/>
                </a:cubicBezTo>
                <a:lnTo>
                  <a:pt x="114304" y="1352550"/>
                </a:lnTo>
                <a:cubicBezTo>
                  <a:pt x="51176" y="1352550"/>
                  <a:pt x="0" y="1301374"/>
                  <a:pt x="0" y="12382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>
                  <a:alpha val="20000"/>
                </a:srgbClr>
              </a:gs>
              <a:gs pos="100000">
                <a:srgbClr val="8FA89B">
                  <a:alpha val="20000"/>
                </a:srgbClr>
              </a:gs>
            </a:gsLst>
            <a:lin ang="0" scaled="1"/>
          </a:gradFill>
          <a:ln w="25400">
            <a:solidFill>
              <a:srgbClr val="B89B72">
                <a:alpha val="40000"/>
              </a:srgbClr>
            </a:solidFill>
            <a:prstDash val="solid"/>
          </a:ln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5746" y="5276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30" name="Text 28"/>
          <p:cNvSpPr/>
          <p:nvPr/>
        </p:nvSpPr>
        <p:spPr>
          <a:xfrm>
            <a:off x="8418165" y="52387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竞争态势总结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03840" y="558165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A6B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直接竞争: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3家(荟品仓、BIGOFFS、京东奥莱)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03840" y="584835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间接竞争: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2家(唯品会、TJX)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03840" y="611505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B89B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模式参考: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3家(Rue Gilt、Veepee、尚列)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威胁等级评估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基于业务重叠度、资源能力、扩张速度的竞品威胁分析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3705225" cy="5238750"/>
          </a:xfrm>
          <a:custGeom>
            <a:avLst/>
            <a:gdLst/>
            <a:ahLst/>
            <a:cxnLst/>
            <a:rect l="l" t="t" r="r" b="b"/>
            <a:pathLst>
              <a:path w="3705225" h="5238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5124444"/>
                </a:lnTo>
                <a:cubicBezTo>
                  <a:pt x="3705225" y="5187573"/>
                  <a:pt x="3654048" y="5238750"/>
                  <a:pt x="3590919" y="5238750"/>
                </a:cubicBezTo>
                <a:lnTo>
                  <a:pt x="114306" y="5238750"/>
                </a:lnTo>
                <a:cubicBezTo>
                  <a:pt x="51177" y="5238750"/>
                  <a:pt x="0" y="5187573"/>
                  <a:pt x="0" y="512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C2626">
                  <a:alpha val="10000"/>
                </a:srgbClr>
              </a:gs>
              <a:gs pos="100000">
                <a:srgbClr val="DC2626">
                  <a:alpha val="5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5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163830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262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高威胁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171700"/>
            <a:ext cx="3400425" cy="1219200"/>
          </a:xfrm>
          <a:custGeom>
            <a:avLst/>
            <a:gdLst/>
            <a:ahLst/>
            <a:cxnLst/>
            <a:rect l="l" t="t" r="r" b="b"/>
            <a:pathLst>
              <a:path w="3400425" h="12192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1143000"/>
                </a:lnTo>
                <a:cubicBezTo>
                  <a:pt x="3400425" y="1185056"/>
                  <a:pt x="3366281" y="1219200"/>
                  <a:pt x="33242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7700" y="22860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荟品仓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700" y="2590800"/>
            <a:ext cx="3248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强线下仓储式卖场+O2O模式,针对大宗折扣需求顾客,地理扩张潜力强,给openmaxx带来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直接竞争压力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467100"/>
            <a:ext cx="3400425" cy="1219200"/>
          </a:xfrm>
          <a:custGeom>
            <a:avLst/>
            <a:gdLst/>
            <a:ahLst/>
            <a:cxnLst/>
            <a:rect l="l" t="t" r="r" b="b"/>
            <a:pathLst>
              <a:path w="3400425" h="12192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1143000"/>
                </a:lnTo>
                <a:cubicBezTo>
                  <a:pt x="3400425" y="1185056"/>
                  <a:pt x="3366281" y="1219200"/>
                  <a:pt x="33242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700" y="35814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BIGOFFS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" y="3886200"/>
            <a:ext cx="3248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大面积线下仓储式折扣卖场,低价策略与openmaxx相似,快速扩张门店模式非常符合openmaxx的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战略领域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762500"/>
            <a:ext cx="3400425" cy="1219200"/>
          </a:xfrm>
          <a:custGeom>
            <a:avLst/>
            <a:gdLst/>
            <a:ahLst/>
            <a:cxnLst/>
            <a:rect l="l" t="t" r="r" b="b"/>
            <a:pathLst>
              <a:path w="3400425" h="12192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1143000"/>
                </a:lnTo>
                <a:cubicBezTo>
                  <a:pt x="3400425" y="1185056"/>
                  <a:pt x="3366281" y="1219200"/>
                  <a:pt x="33242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700" y="48768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京东奥莱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5181600"/>
            <a:ext cx="3248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线上+线下全渠道模式,强供应链背景及京东资源将对openmaxx形成挑战,尤其在仓储式卖场和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线上流量引导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60579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304800"/>
                </a:lnTo>
                <a:cubicBezTo>
                  <a:pt x="3400425" y="346856"/>
                  <a:pt x="3366281" y="381000"/>
                  <a:pt x="33242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6134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C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威胁来源:仓储式大卖场与低价策略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1750" y="1352550"/>
            <a:ext cx="3705225" cy="5238750"/>
          </a:xfrm>
          <a:custGeom>
            <a:avLst/>
            <a:gdLst/>
            <a:ahLst/>
            <a:cxnLst/>
            <a:rect l="l" t="t" r="r" b="b"/>
            <a:pathLst>
              <a:path w="3705225" h="5238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5124444"/>
                </a:lnTo>
                <a:cubicBezTo>
                  <a:pt x="3705225" y="5187573"/>
                  <a:pt x="3654048" y="5238750"/>
                  <a:pt x="3590919" y="5238750"/>
                </a:cubicBezTo>
                <a:lnTo>
                  <a:pt x="114306" y="5238750"/>
                </a:lnTo>
                <a:cubicBezTo>
                  <a:pt x="51177" y="5238750"/>
                  <a:pt x="0" y="5187573"/>
                  <a:pt x="0" y="512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41750" y="135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4394150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4655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5009" y="103584"/>
                </a:moveTo>
                <a:lnTo>
                  <a:pt x="153591" y="103584"/>
                </a:lnTo>
                <a:cubicBezTo>
                  <a:pt x="159529" y="103584"/>
                  <a:pt x="164306" y="108362"/>
                  <a:pt x="164306" y="114300"/>
                </a:cubicBezTo>
                <a:cubicBezTo>
                  <a:pt x="164306" y="120238"/>
                  <a:pt x="159529" y="125016"/>
                  <a:pt x="153591" y="125016"/>
                </a:cubicBezTo>
                <a:lnTo>
                  <a:pt x="75009" y="125016"/>
                </a:lnTo>
                <a:cubicBezTo>
                  <a:pt x="69071" y="125016"/>
                  <a:pt x="64294" y="120238"/>
                  <a:pt x="64294" y="114300"/>
                </a:cubicBezTo>
                <a:cubicBezTo>
                  <a:pt x="64294" y="108362"/>
                  <a:pt x="69071" y="103584"/>
                  <a:pt x="75009" y="1035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41850" y="16383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中等威胁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94150" y="2171700"/>
            <a:ext cx="3400425" cy="990600"/>
          </a:xfrm>
          <a:custGeom>
            <a:avLst/>
            <a:gdLst/>
            <a:ahLst/>
            <a:cxnLst/>
            <a:rect l="l" t="t" r="r" b="b"/>
            <a:pathLst>
              <a:path w="3400425" h="990600">
                <a:moveTo>
                  <a:pt x="76197" y="0"/>
                </a:moveTo>
                <a:lnTo>
                  <a:pt x="3324228" y="0"/>
                </a:lnTo>
                <a:cubicBezTo>
                  <a:pt x="3366310" y="0"/>
                  <a:pt x="3400425" y="34115"/>
                  <a:pt x="3400425" y="76197"/>
                </a:cubicBezTo>
                <a:lnTo>
                  <a:pt x="3400425" y="914403"/>
                </a:lnTo>
                <a:cubicBezTo>
                  <a:pt x="3400425" y="956485"/>
                  <a:pt x="3366310" y="990600"/>
                  <a:pt x="33242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08450" y="22860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唯品会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08450" y="2590800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早期线上闪购起家,随着线下仓储店扩展,其线上线下双轨布局给openmaxx带来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多重压力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94150" y="3238500"/>
            <a:ext cx="3400425" cy="990600"/>
          </a:xfrm>
          <a:custGeom>
            <a:avLst/>
            <a:gdLst/>
            <a:ahLst/>
            <a:cxnLst/>
            <a:rect l="l" t="t" r="r" b="b"/>
            <a:pathLst>
              <a:path w="3400425" h="990600">
                <a:moveTo>
                  <a:pt x="76197" y="0"/>
                </a:moveTo>
                <a:lnTo>
                  <a:pt x="3324228" y="0"/>
                </a:lnTo>
                <a:cubicBezTo>
                  <a:pt x="3366310" y="0"/>
                  <a:pt x="3400425" y="34115"/>
                  <a:pt x="3400425" y="76197"/>
                </a:cubicBezTo>
                <a:lnTo>
                  <a:pt x="3400425" y="914403"/>
                </a:lnTo>
                <a:cubicBezTo>
                  <a:pt x="3400425" y="956485"/>
                  <a:pt x="3366310" y="990600"/>
                  <a:pt x="33242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08450" y="33528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08450" y="3657600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强大的品牌合作和市场覆盖能力,特别是在大牌折扣领域,令其成为openmaxx的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主要威胁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94150" y="60579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304800"/>
                </a:lnTo>
                <a:cubicBezTo>
                  <a:pt x="3400425" y="346856"/>
                  <a:pt x="3366281" y="381000"/>
                  <a:pt x="33242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32250" y="6134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应对策略:差异化仓储+闪购结合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2575" y="1352550"/>
            <a:ext cx="3705225" cy="5238750"/>
          </a:xfrm>
          <a:custGeom>
            <a:avLst/>
            <a:gdLst/>
            <a:ahLst/>
            <a:cxnLst/>
            <a:rect l="l" t="t" r="r" b="b"/>
            <a:pathLst>
              <a:path w="3705225" h="5238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5124444"/>
                </a:lnTo>
                <a:cubicBezTo>
                  <a:pt x="3705225" y="5187573"/>
                  <a:pt x="3654048" y="5238750"/>
                  <a:pt x="3590919" y="5238750"/>
                </a:cubicBezTo>
                <a:lnTo>
                  <a:pt x="114306" y="5238750"/>
                </a:lnTo>
                <a:cubicBezTo>
                  <a:pt x="51177" y="5238750"/>
                  <a:pt x="0" y="5187573"/>
                  <a:pt x="0" y="512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02575" y="135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8254975" y="1524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8407375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902675" y="1638300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低威胁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4975" y="2171700"/>
            <a:ext cx="3400425" cy="1219200"/>
          </a:xfrm>
          <a:custGeom>
            <a:avLst/>
            <a:gdLst/>
            <a:ahLst/>
            <a:cxnLst/>
            <a:rect l="l" t="t" r="r" b="b"/>
            <a:pathLst>
              <a:path w="3400425" h="12192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1143000"/>
                </a:lnTo>
                <a:cubicBezTo>
                  <a:pt x="3400425" y="1185056"/>
                  <a:pt x="3366281" y="1219200"/>
                  <a:pt x="33242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369275" y="22860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Rue Gilt Groupe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69275" y="2590800"/>
            <a:ext cx="3248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以线上限时闪购为主,在全球范围内的会员和品牌资源整合能力强,但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短期内不会直接威胁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openmaxx的线下市场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4975" y="3467100"/>
            <a:ext cx="3400425" cy="1219200"/>
          </a:xfrm>
          <a:custGeom>
            <a:avLst/>
            <a:gdLst/>
            <a:ahLst/>
            <a:cxnLst/>
            <a:rect l="l" t="t" r="r" b="b"/>
            <a:pathLst>
              <a:path w="3400425" h="12192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1143000"/>
                </a:lnTo>
                <a:cubicBezTo>
                  <a:pt x="3400425" y="1185056"/>
                  <a:pt x="3366281" y="1219200"/>
                  <a:pt x="33242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369275" y="3581400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Vente-Privee (Veepee)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69275" y="3886200"/>
            <a:ext cx="32480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欧洲闪购先驱,以线上为主,这类竞争者短期内不会直接威胁openmaxx的线下市场,但需关注其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线上引流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与品牌折扣活动的影响力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54975" y="60579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304800"/>
                </a:lnTo>
                <a:cubicBezTo>
                  <a:pt x="3400425" y="346856"/>
                  <a:pt x="3366281" y="381000"/>
                  <a:pt x="33242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293075" y="6134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关注要点:线上引流与品牌影响力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" name="Text 1"/>
          <p:cNvSpPr/>
          <p:nvPr/>
        </p:nvSpPr>
        <p:spPr>
          <a:xfrm>
            <a:off x="552450" y="3810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战略建议:四大核心举措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A89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构建差异化竞争优势,在激烈竞争中开辟独特发展路径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5657850" cy="2514600"/>
          </a:xfrm>
          <a:custGeom>
            <a:avLst/>
            <a:gdLst/>
            <a:ahLst/>
            <a:cxnLst/>
            <a:rect l="l" t="t" r="r" b="b"/>
            <a:pathLst>
              <a:path w="5657850" h="2514600">
                <a:moveTo>
                  <a:pt x="114289" y="0"/>
                </a:moveTo>
                <a:lnTo>
                  <a:pt x="5543561" y="0"/>
                </a:lnTo>
                <a:cubicBezTo>
                  <a:pt x="5606639" y="0"/>
                  <a:pt x="5657850" y="51211"/>
                  <a:pt x="5657850" y="114289"/>
                </a:cubicBezTo>
                <a:lnTo>
                  <a:pt x="5657850" y="2400311"/>
                </a:lnTo>
                <a:cubicBezTo>
                  <a:pt x="5657850" y="2463431"/>
                  <a:pt x="5606681" y="2514600"/>
                  <a:pt x="5543561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100000">
                <a:srgbClr val="8FA89B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7" name="Text 5"/>
          <p:cNvSpPr/>
          <p:nvPr/>
        </p:nvSpPr>
        <p:spPr>
          <a:xfrm>
            <a:off x="640928" y="14859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4900" y="14859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巩固线下优势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943100"/>
            <a:ext cx="5353050" cy="914400"/>
          </a:xfrm>
          <a:custGeom>
            <a:avLst/>
            <a:gdLst/>
            <a:ahLst/>
            <a:cxnLst/>
            <a:rect l="l" t="t" r="r" b="b"/>
            <a:pathLst>
              <a:path w="5353050" h="914400">
                <a:moveTo>
                  <a:pt x="76197" y="0"/>
                </a:moveTo>
                <a:lnTo>
                  <a:pt x="5276853" y="0"/>
                </a:lnTo>
                <a:cubicBezTo>
                  <a:pt x="5318935" y="0"/>
                  <a:pt x="5353050" y="34115"/>
                  <a:pt x="5353050" y="76197"/>
                </a:cubicBezTo>
                <a:lnTo>
                  <a:pt x="5353050" y="838203"/>
                </a:lnTo>
                <a:cubicBezTo>
                  <a:pt x="5353050" y="880285"/>
                  <a:pt x="5318935" y="914400"/>
                  <a:pt x="52768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2697" y="2066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200" y="60644"/>
                </a:moveTo>
                <a:lnTo>
                  <a:pt x="26220" y="22570"/>
                </a:lnTo>
                <a:cubicBezTo>
                  <a:pt x="29870" y="15303"/>
                  <a:pt x="37270" y="10716"/>
                  <a:pt x="45407" y="10716"/>
                </a:cubicBezTo>
                <a:lnTo>
                  <a:pt x="147507" y="10716"/>
                </a:lnTo>
                <a:cubicBezTo>
                  <a:pt x="155611" y="10716"/>
                  <a:pt x="163045" y="15303"/>
                  <a:pt x="166661" y="22570"/>
                </a:cubicBezTo>
                <a:lnTo>
                  <a:pt x="185682" y="60644"/>
                </a:lnTo>
                <a:cubicBezTo>
                  <a:pt x="186887" y="63055"/>
                  <a:pt x="187523" y="65700"/>
                  <a:pt x="187523" y="68413"/>
                </a:cubicBezTo>
                <a:cubicBezTo>
                  <a:pt x="187523" y="77554"/>
                  <a:pt x="180424" y="85055"/>
                  <a:pt x="171450" y="85692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cubicBezTo>
                  <a:pt x="154807" y="160734"/>
                  <a:pt x="150019" y="155946"/>
                  <a:pt x="150019" y="150019"/>
                </a:cubicBezTo>
                <a:lnTo>
                  <a:pt x="150019" y="85725"/>
                </a:lnTo>
                <a:lnTo>
                  <a:pt x="117872" y="85725"/>
                </a:lnTo>
                <a:lnTo>
                  <a:pt x="117872" y="144661"/>
                </a:lnTo>
                <a:cubicBezTo>
                  <a:pt x="117872" y="153535"/>
                  <a:pt x="110672" y="160734"/>
                  <a:pt x="101798" y="160734"/>
                </a:cubicBezTo>
                <a:lnTo>
                  <a:pt x="37505" y="160734"/>
                </a:lnTo>
                <a:cubicBezTo>
                  <a:pt x="28631" y="160734"/>
                  <a:pt x="21431" y="153535"/>
                  <a:pt x="21431" y="144661"/>
                </a:cubicBezTo>
                <a:lnTo>
                  <a:pt x="21431" y="85692"/>
                </a:lnTo>
                <a:cubicBezTo>
                  <a:pt x="12457" y="85055"/>
                  <a:pt x="5358" y="77554"/>
                  <a:pt x="5358" y="68413"/>
                </a:cubicBezTo>
                <a:cubicBezTo>
                  <a:pt x="5358" y="65734"/>
                  <a:pt x="5994" y="63055"/>
                  <a:pt x="7200" y="60644"/>
                </a:cubicBezTo>
                <a:close/>
                <a:moveTo>
                  <a:pt x="42863" y="85725"/>
                </a:moveTo>
                <a:lnTo>
                  <a:pt x="42863" y="123230"/>
                </a:lnTo>
                <a:cubicBezTo>
                  <a:pt x="42863" y="126176"/>
                  <a:pt x="45274" y="128588"/>
                  <a:pt x="48220" y="128588"/>
                </a:cubicBezTo>
                <a:lnTo>
                  <a:pt x="91083" y="128588"/>
                </a:lnTo>
                <a:cubicBezTo>
                  <a:pt x="94030" y="128588"/>
                  <a:pt x="96441" y="126176"/>
                  <a:pt x="96441" y="123230"/>
                </a:cubicBezTo>
                <a:lnTo>
                  <a:pt x="96441" y="85725"/>
                </a:lnTo>
                <a:lnTo>
                  <a:pt x="42863" y="85725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1" name="Text 9"/>
          <p:cNvSpPr/>
          <p:nvPr/>
        </p:nvSpPr>
        <p:spPr>
          <a:xfrm>
            <a:off x="828675" y="20193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强化仓储式卖场体验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3241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提升顾客的"寻宝"感与购买体验,通过空间设计、商品陈列、动线规划打造沉浸式购物环境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9337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3413" y="3057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lnTo>
                  <a:pt x="75009" y="21431"/>
                </a:lnTo>
                <a:cubicBezTo>
                  <a:pt x="75009" y="24378"/>
                  <a:pt x="77420" y="26789"/>
                  <a:pt x="80367" y="26789"/>
                </a:cubicBezTo>
                <a:lnTo>
                  <a:pt x="91083" y="26789"/>
                </a:lnTo>
                <a:cubicBezTo>
                  <a:pt x="94030" y="26789"/>
                  <a:pt x="96441" y="24378"/>
                  <a:pt x="96441" y="21431"/>
                </a:cubicBezTo>
                <a:lnTo>
                  <a:pt x="96441" y="0"/>
                </a:lnTo>
                <a:lnTo>
                  <a:pt x="107156" y="0"/>
                </a:lnTo>
                <a:cubicBezTo>
                  <a:pt x="118977" y="0"/>
                  <a:pt x="128588" y="9611"/>
                  <a:pt x="128588" y="21431"/>
                </a:cubicBezTo>
                <a:lnTo>
                  <a:pt x="128588" y="64294"/>
                </a:lnTo>
                <a:cubicBezTo>
                  <a:pt x="128588" y="66135"/>
                  <a:pt x="128353" y="67944"/>
                  <a:pt x="127918" y="69652"/>
                </a:cubicBezTo>
                <a:lnTo>
                  <a:pt x="43532" y="69652"/>
                </a:lnTo>
                <a:cubicBezTo>
                  <a:pt x="43097" y="67944"/>
                  <a:pt x="42863" y="66135"/>
                  <a:pt x="42863" y="64294"/>
                </a:cubicBezTo>
                <a:lnTo>
                  <a:pt x="42863" y="21431"/>
                </a:lnTo>
                <a:cubicBezTo>
                  <a:pt x="42863" y="9611"/>
                  <a:pt x="52473" y="0"/>
                  <a:pt x="64294" y="0"/>
                </a:cubicBezTo>
                <a:lnTo>
                  <a:pt x="75009" y="0"/>
                </a:lnTo>
                <a:close/>
                <a:moveTo>
                  <a:pt x="107156" y="171450"/>
                </a:moveTo>
                <a:cubicBezTo>
                  <a:pt x="103406" y="171450"/>
                  <a:pt x="99856" y="170479"/>
                  <a:pt x="96775" y="168771"/>
                </a:cubicBezTo>
                <a:cubicBezTo>
                  <a:pt x="99957" y="163246"/>
                  <a:pt x="101798" y="156850"/>
                  <a:pt x="101798" y="150019"/>
                </a:cubicBezTo>
                <a:lnTo>
                  <a:pt x="101798" y="107156"/>
                </a:lnTo>
                <a:cubicBezTo>
                  <a:pt x="101798" y="100325"/>
                  <a:pt x="99957" y="93929"/>
                  <a:pt x="96775" y="88404"/>
                </a:cubicBezTo>
                <a:cubicBezTo>
                  <a:pt x="99856" y="86696"/>
                  <a:pt x="103372" y="85725"/>
                  <a:pt x="107156" y="85725"/>
                </a:cubicBezTo>
                <a:lnTo>
                  <a:pt x="117872" y="85725"/>
                </a:lnTo>
                <a:lnTo>
                  <a:pt x="117872" y="107156"/>
                </a:lnTo>
                <a:cubicBezTo>
                  <a:pt x="117872" y="110103"/>
                  <a:pt x="120283" y="112514"/>
                  <a:pt x="123230" y="112514"/>
                </a:cubicBezTo>
                <a:lnTo>
                  <a:pt x="133945" y="112514"/>
                </a:lnTo>
                <a:cubicBezTo>
                  <a:pt x="136892" y="112514"/>
                  <a:pt x="139303" y="110103"/>
                  <a:pt x="139303" y="107156"/>
                </a:cubicBezTo>
                <a:lnTo>
                  <a:pt x="139303" y="85725"/>
                </a:lnTo>
                <a:lnTo>
                  <a:pt x="150019" y="85725"/>
                </a:lnTo>
                <a:cubicBezTo>
                  <a:pt x="161839" y="85725"/>
                  <a:pt x="171450" y="95336"/>
                  <a:pt x="171450" y="107156"/>
                </a:cubicBezTo>
                <a:lnTo>
                  <a:pt x="171450" y="150019"/>
                </a:lnTo>
                <a:cubicBezTo>
                  <a:pt x="171450" y="161839"/>
                  <a:pt x="161839" y="171450"/>
                  <a:pt x="150019" y="171450"/>
                </a:cubicBezTo>
                <a:lnTo>
                  <a:pt x="107156" y="171450"/>
                </a:lnTo>
                <a:close/>
                <a:moveTo>
                  <a:pt x="0" y="107156"/>
                </a:moveTo>
                <a:cubicBezTo>
                  <a:pt x="0" y="95336"/>
                  <a:pt x="9611" y="85725"/>
                  <a:pt x="21431" y="85725"/>
                </a:cubicBezTo>
                <a:lnTo>
                  <a:pt x="32147" y="85725"/>
                </a:lnTo>
                <a:lnTo>
                  <a:pt x="32147" y="107156"/>
                </a:lnTo>
                <a:cubicBezTo>
                  <a:pt x="32147" y="110103"/>
                  <a:pt x="34558" y="112514"/>
                  <a:pt x="37505" y="112514"/>
                </a:cubicBezTo>
                <a:lnTo>
                  <a:pt x="48220" y="112514"/>
                </a:lnTo>
                <a:cubicBezTo>
                  <a:pt x="51167" y="112514"/>
                  <a:pt x="53578" y="110103"/>
                  <a:pt x="53578" y="107156"/>
                </a:cubicBezTo>
                <a:lnTo>
                  <a:pt x="53578" y="85725"/>
                </a:lnTo>
                <a:lnTo>
                  <a:pt x="64294" y="85725"/>
                </a:lnTo>
                <a:cubicBezTo>
                  <a:pt x="76114" y="85725"/>
                  <a:pt x="85725" y="95336"/>
                  <a:pt x="85725" y="107156"/>
                </a:cubicBezTo>
                <a:lnTo>
                  <a:pt x="85725" y="150019"/>
                </a:lnTo>
                <a:cubicBezTo>
                  <a:pt x="85725" y="161839"/>
                  <a:pt x="76114" y="171450"/>
                  <a:pt x="64294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107156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5" name="Text 13"/>
          <p:cNvSpPr/>
          <p:nvPr/>
        </p:nvSpPr>
        <p:spPr>
          <a:xfrm>
            <a:off x="828675" y="30099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数据优化库存管理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3147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通过数据分析优化库存管理,减少成本,提高周转效率,确保商品新鲜度与多样性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53150" y="1257300"/>
            <a:ext cx="5657850" cy="2514600"/>
          </a:xfrm>
          <a:custGeom>
            <a:avLst/>
            <a:gdLst/>
            <a:ahLst/>
            <a:cxnLst/>
            <a:rect l="l" t="t" r="r" b="b"/>
            <a:pathLst>
              <a:path w="5657850" h="2514600">
                <a:moveTo>
                  <a:pt x="114289" y="0"/>
                </a:moveTo>
                <a:lnTo>
                  <a:pt x="5543561" y="0"/>
                </a:lnTo>
                <a:cubicBezTo>
                  <a:pt x="5606639" y="0"/>
                  <a:pt x="5657850" y="51211"/>
                  <a:pt x="5657850" y="114289"/>
                </a:cubicBezTo>
                <a:lnTo>
                  <a:pt x="5657850" y="2400311"/>
                </a:lnTo>
                <a:cubicBezTo>
                  <a:pt x="5657850" y="2463431"/>
                  <a:pt x="5606681" y="2514600"/>
                  <a:pt x="5543561" y="2514600"/>
                </a:cubicBezTo>
                <a:lnTo>
                  <a:pt x="114289" y="2514600"/>
                </a:lnTo>
                <a:cubicBezTo>
                  <a:pt x="51211" y="2514600"/>
                  <a:pt x="0" y="2463389"/>
                  <a:pt x="0" y="24003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8FA89B"/>
              </a:gs>
              <a:gs pos="100000">
                <a:srgbClr val="3A6B5F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555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9" name="Text 17"/>
          <p:cNvSpPr/>
          <p:nvPr/>
        </p:nvSpPr>
        <p:spPr>
          <a:xfrm>
            <a:off x="6398419" y="1485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77050" y="14859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闪购与仓储结合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5550" y="1943100"/>
            <a:ext cx="5353050" cy="914400"/>
          </a:xfrm>
          <a:custGeom>
            <a:avLst/>
            <a:gdLst/>
            <a:ahLst/>
            <a:cxnLst/>
            <a:rect l="l" t="t" r="r" b="b"/>
            <a:pathLst>
              <a:path w="5353050" h="914400">
                <a:moveTo>
                  <a:pt x="76197" y="0"/>
                </a:moveTo>
                <a:lnTo>
                  <a:pt x="5276853" y="0"/>
                </a:lnTo>
                <a:cubicBezTo>
                  <a:pt x="5318935" y="0"/>
                  <a:pt x="5353050" y="34115"/>
                  <a:pt x="5353050" y="76197"/>
                </a:cubicBezTo>
                <a:lnTo>
                  <a:pt x="5353050" y="838203"/>
                </a:lnTo>
                <a:cubicBezTo>
                  <a:pt x="5353050" y="880285"/>
                  <a:pt x="5318935" y="914400"/>
                  <a:pt x="52768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16278" y="2066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3" name="Text 21"/>
          <p:cNvSpPr/>
          <p:nvPr/>
        </p:nvSpPr>
        <p:spPr>
          <a:xfrm>
            <a:off x="6600825" y="20193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限时闪购活动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1750" y="2324100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通过线下门店引入限时闪购活动,结合季节性商品与品牌合作,制造稀缺感与紧迫感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5550" y="29337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84131" y="3057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27" name="Text 25"/>
          <p:cNvSpPr/>
          <p:nvPr/>
        </p:nvSpPr>
        <p:spPr>
          <a:xfrm>
            <a:off x="6600825" y="30099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增强客户黏性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1750" y="33147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吸引更多流量到店,通过会员体系与专属活动增强客户黏性,提高复购率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1000" y="3886200"/>
            <a:ext cx="5657850" cy="2286000"/>
          </a:xfrm>
          <a:custGeom>
            <a:avLst/>
            <a:gdLst/>
            <a:ahLst/>
            <a:cxnLst/>
            <a:rect l="l" t="t" r="r" b="b"/>
            <a:pathLst>
              <a:path w="5657850" h="2286000">
                <a:moveTo>
                  <a:pt x="114300" y="0"/>
                </a:moveTo>
                <a:lnTo>
                  <a:pt x="5543550" y="0"/>
                </a:lnTo>
                <a:cubicBezTo>
                  <a:pt x="5606634" y="0"/>
                  <a:pt x="5657850" y="51216"/>
                  <a:pt x="5657850" y="114300"/>
                </a:cubicBezTo>
                <a:lnTo>
                  <a:pt x="5657850" y="2171700"/>
                </a:lnTo>
                <a:cubicBezTo>
                  <a:pt x="5657850" y="2234784"/>
                  <a:pt x="5606634" y="2286000"/>
                  <a:pt x="554355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B89B72"/>
              </a:gs>
              <a:gs pos="100000">
                <a:srgbClr val="8FA89B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3400" y="403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418" y="4114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4900" y="41148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加速区域扩张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3400" y="45720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4844" y="4695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5" name="Text 33"/>
          <p:cNvSpPr/>
          <p:nvPr/>
        </p:nvSpPr>
        <p:spPr>
          <a:xfrm>
            <a:off x="828675" y="46482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核心城市布局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9600" y="49530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借助线上线下的结合,加速在核心城市的门店布局,抢占优质商业位置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3400" y="53340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3413" y="5457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39" name="Text 37"/>
          <p:cNvSpPr/>
          <p:nvPr/>
        </p:nvSpPr>
        <p:spPr>
          <a:xfrm>
            <a:off x="828675" y="54102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提升品牌知名度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9600" y="57150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提升品牌知名度并加快市场占领,在竞争对手扩张前建立先发优势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53150" y="3886200"/>
            <a:ext cx="5657850" cy="2286000"/>
          </a:xfrm>
          <a:custGeom>
            <a:avLst/>
            <a:gdLst/>
            <a:ahLst/>
            <a:cxnLst/>
            <a:rect l="l" t="t" r="r" b="b"/>
            <a:pathLst>
              <a:path w="5657850" h="2286000">
                <a:moveTo>
                  <a:pt x="114300" y="0"/>
                </a:moveTo>
                <a:lnTo>
                  <a:pt x="5543550" y="0"/>
                </a:lnTo>
                <a:cubicBezTo>
                  <a:pt x="5606634" y="0"/>
                  <a:pt x="5657850" y="51216"/>
                  <a:pt x="5657850" y="114300"/>
                </a:cubicBezTo>
                <a:lnTo>
                  <a:pt x="5657850" y="2171700"/>
                </a:lnTo>
                <a:cubicBezTo>
                  <a:pt x="5657850" y="2234784"/>
                  <a:pt x="5606634" y="2286000"/>
                  <a:pt x="5543550" y="2286000"/>
                </a:cubicBezTo>
                <a:lnTo>
                  <a:pt x="114300" y="2286000"/>
                </a:lnTo>
                <a:cubicBezTo>
                  <a:pt x="51216" y="2286000"/>
                  <a:pt x="0" y="2234784"/>
                  <a:pt x="0" y="2171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/>
              </a:gs>
              <a:gs pos="50000">
                <a:srgbClr val="8FA89B"/>
              </a:gs>
              <a:gs pos="100000">
                <a:srgbClr val="B89B72"/>
              </a:gs>
            </a:gsLst>
            <a:lin ang="2700000" scaled="1"/>
          </a:gra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5550" y="403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98568" y="4114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A6B5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77050" y="411480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差异化定价与体验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5550" y="45720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94847" y="4695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600825" y="46482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独特会员体系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1750" y="49530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通过独特的会员体系与精细化的定价策略,提高客户的购买欲望,强化竞争力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5550" y="53340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7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394847" y="5457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600825" y="54102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打造品牌特色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750" y="57150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在服务、体验、商品组合等方面打造独特品牌特色,形成差异化竞争优势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62484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419098"/>
                </a:lnTo>
                <a:cubicBezTo>
                  <a:pt x="11430000" y="482183"/>
                  <a:pt x="11378783" y="533400"/>
                  <a:pt x="113156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10000"/>
                </a:srgbClr>
              </a:gs>
              <a:gs pos="50000">
                <a:srgbClr val="8FA89B">
                  <a:alpha val="10000"/>
                </a:srgbClr>
              </a:gs>
              <a:gs pos="100000">
                <a:srgbClr val="B89B72">
                  <a:alpha val="10000"/>
                </a:srgbClr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677492" y="6400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A6B5F"/>
          </a:solidFill>
          <a:ln/>
        </p:spPr>
      </p:sp>
      <p:sp>
        <p:nvSpPr>
          <p:cNvPr id="55" name="Text 53"/>
          <p:cNvSpPr/>
          <p:nvPr/>
        </p:nvSpPr>
        <p:spPr>
          <a:xfrm>
            <a:off x="3010867" y="6381750"/>
            <a:ext cx="2924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战略目标: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在竞争中开辟独特发展路径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073750" y="63627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FA89B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0450" y="6400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58" name="Text 56"/>
          <p:cNvSpPr/>
          <p:nvPr/>
        </p:nvSpPr>
        <p:spPr>
          <a:xfrm>
            <a:off x="6673825" y="638175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C3E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线下体验+闪购节奏+寻宝感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ntimg.cn/54ee8e08d2033022735661098f9c87295bc25819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8824" b="2882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A6B5F">
                  <a:alpha val="90000"/>
                </a:srgbClr>
              </a:gs>
              <a:gs pos="50000">
                <a:srgbClr val="8FA89B">
                  <a:alpha val="80000"/>
                </a:srgbClr>
              </a:gs>
              <a:gs pos="100000">
                <a:srgbClr val="B89B72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839965" y="676275"/>
            <a:ext cx="2514600" cy="514350"/>
          </a:xfrm>
          <a:custGeom>
            <a:avLst/>
            <a:gdLst/>
            <a:ahLst/>
            <a:cxnLst/>
            <a:rect l="l" t="t" r="r" b="b"/>
            <a:pathLst>
              <a:path w="2514600" h="514350">
                <a:moveTo>
                  <a:pt x="257175" y="0"/>
                </a:moveTo>
                <a:lnTo>
                  <a:pt x="2257425" y="0"/>
                </a:lnTo>
                <a:cubicBezTo>
                  <a:pt x="2399364" y="0"/>
                  <a:pt x="2514600" y="115236"/>
                  <a:pt x="2514600" y="257175"/>
                </a:cubicBezTo>
                <a:lnTo>
                  <a:pt x="2514600" y="257175"/>
                </a:lnTo>
                <a:cubicBezTo>
                  <a:pt x="2514600" y="399114"/>
                  <a:pt x="2399364" y="514350"/>
                  <a:pt x="225742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B89B72">
              <a:alpha val="30196"/>
            </a:srgbClr>
          </a:solidFill>
          <a:ln w="25400">
            <a:solidFill>
              <a:srgbClr val="B89B72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06665" y="80010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spc="150" kern="0" dirty="0">
                <a:solidFill>
                  <a:srgbClr val="F8F9F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openmaxx竞品研究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99854" y="1657350"/>
            <a:ext cx="61912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以水墨之韵,绘零售新篇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88271" y="2600325"/>
            <a:ext cx="581977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7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openmaxx在品牌折扣特卖赛道上,如青绿山水般灵动布局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7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以线下体验为根基,以闪购节奏为韵律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7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在竞争中开辟独特的发展路径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05325" y="4333875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F8F9F7">
              <a:alpha val="20000"/>
            </a:srgbClr>
          </a:solidFill>
          <a:ln w="25400">
            <a:solidFill>
              <a:srgbClr val="B89B7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36306" y="4562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134" y="40351"/>
                </a:moveTo>
                <a:cubicBezTo>
                  <a:pt x="20985" y="27012"/>
                  <a:pt x="33207" y="17859"/>
                  <a:pt x="47104" y="17859"/>
                </a:cubicBezTo>
                <a:lnTo>
                  <a:pt x="239092" y="17859"/>
                </a:lnTo>
                <a:cubicBezTo>
                  <a:pt x="252989" y="17859"/>
                  <a:pt x="265212" y="27012"/>
                  <a:pt x="269118" y="40351"/>
                </a:cubicBezTo>
                <a:lnTo>
                  <a:pt x="282178" y="85111"/>
                </a:lnTo>
                <a:cubicBezTo>
                  <a:pt x="289322" y="109500"/>
                  <a:pt x="270960" y="133945"/>
                  <a:pt x="245566" y="133945"/>
                </a:cubicBezTo>
                <a:cubicBezTo>
                  <a:pt x="230888" y="133945"/>
                  <a:pt x="217996" y="125630"/>
                  <a:pt x="211634" y="113240"/>
                </a:cubicBezTo>
                <a:cubicBezTo>
                  <a:pt x="205160" y="125462"/>
                  <a:pt x="192323" y="133945"/>
                  <a:pt x="177366" y="133945"/>
                </a:cubicBezTo>
                <a:cubicBezTo>
                  <a:pt x="162520" y="133945"/>
                  <a:pt x="149628" y="125574"/>
                  <a:pt x="143154" y="113295"/>
                </a:cubicBezTo>
                <a:cubicBezTo>
                  <a:pt x="136680" y="125574"/>
                  <a:pt x="123788" y="133945"/>
                  <a:pt x="108942" y="133945"/>
                </a:cubicBezTo>
                <a:cubicBezTo>
                  <a:pt x="93985" y="133945"/>
                  <a:pt x="81149" y="125518"/>
                  <a:pt x="74675" y="113240"/>
                </a:cubicBezTo>
                <a:cubicBezTo>
                  <a:pt x="68312" y="125574"/>
                  <a:pt x="55420" y="133945"/>
                  <a:pt x="40742" y="133945"/>
                </a:cubicBezTo>
                <a:cubicBezTo>
                  <a:pt x="15292" y="133945"/>
                  <a:pt x="-3014" y="109556"/>
                  <a:pt x="4130" y="85111"/>
                </a:cubicBezTo>
                <a:lnTo>
                  <a:pt x="17134" y="40351"/>
                </a:lnTo>
                <a:close/>
                <a:moveTo>
                  <a:pt x="53801" y="196453"/>
                </a:moveTo>
                <a:lnTo>
                  <a:pt x="232395" y="196453"/>
                </a:lnTo>
                <a:lnTo>
                  <a:pt x="232395" y="159395"/>
                </a:lnTo>
                <a:cubicBezTo>
                  <a:pt x="236637" y="160288"/>
                  <a:pt x="241046" y="160734"/>
                  <a:pt x="245511" y="160734"/>
                </a:cubicBezTo>
                <a:cubicBezTo>
                  <a:pt x="253492" y="160734"/>
                  <a:pt x="261138" y="159283"/>
                  <a:pt x="268114" y="156716"/>
                </a:cubicBezTo>
                <a:lnTo>
                  <a:pt x="268114" y="241102"/>
                </a:lnTo>
                <a:cubicBezTo>
                  <a:pt x="268114" y="255891"/>
                  <a:pt x="256115" y="267891"/>
                  <a:pt x="241325" y="267891"/>
                </a:cubicBezTo>
                <a:lnTo>
                  <a:pt x="44872" y="267891"/>
                </a:lnTo>
                <a:cubicBezTo>
                  <a:pt x="30082" y="267891"/>
                  <a:pt x="18083" y="255891"/>
                  <a:pt x="18083" y="241102"/>
                </a:cubicBezTo>
                <a:lnTo>
                  <a:pt x="18083" y="156716"/>
                </a:lnTo>
                <a:cubicBezTo>
                  <a:pt x="25059" y="159283"/>
                  <a:pt x="32649" y="160734"/>
                  <a:pt x="40686" y="160734"/>
                </a:cubicBezTo>
                <a:cubicBezTo>
                  <a:pt x="45207" y="160734"/>
                  <a:pt x="49560" y="160288"/>
                  <a:pt x="53801" y="159395"/>
                </a:cubicBezTo>
                <a:lnTo>
                  <a:pt x="53801" y="196453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0" name="Text 7"/>
          <p:cNvSpPr/>
          <p:nvPr/>
        </p:nvSpPr>
        <p:spPr>
          <a:xfrm>
            <a:off x="4448175" y="52006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线下为基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24525" y="4333875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F8F9F7">
              <a:alpha val="20000"/>
            </a:srgbClr>
          </a:solidFill>
          <a:ln w="25400">
            <a:solidFill>
              <a:srgbClr val="B89B7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73366" y="45624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3" name="Text 10"/>
          <p:cNvSpPr/>
          <p:nvPr/>
        </p:nvSpPr>
        <p:spPr>
          <a:xfrm>
            <a:off x="5667375" y="52006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闪购为韵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43725" y="4333875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371475" y="0"/>
                </a:moveTo>
                <a:lnTo>
                  <a:pt x="371475" y="0"/>
                </a:lnTo>
                <a:cubicBezTo>
                  <a:pt x="576498" y="0"/>
                  <a:pt x="742950" y="166452"/>
                  <a:pt x="742950" y="371475"/>
                </a:cubicBezTo>
                <a:lnTo>
                  <a:pt x="742950" y="371475"/>
                </a:lnTo>
                <a:cubicBezTo>
                  <a:pt x="742950" y="576498"/>
                  <a:pt x="576498" y="742950"/>
                  <a:pt x="371475" y="742950"/>
                </a:cubicBezTo>
                <a:lnTo>
                  <a:pt x="371475" y="742950"/>
                </a:lnTo>
                <a:cubicBezTo>
                  <a:pt x="166452" y="742950"/>
                  <a:pt x="0" y="576498"/>
                  <a:pt x="0" y="371475"/>
                </a:cubicBezTo>
                <a:lnTo>
                  <a:pt x="0" y="371475"/>
                </a:lnTo>
                <a:cubicBezTo>
                  <a:pt x="0" y="166452"/>
                  <a:pt x="166452" y="0"/>
                  <a:pt x="371475" y="0"/>
                </a:cubicBezTo>
                <a:close/>
              </a:path>
            </a:pathLst>
          </a:custGeom>
          <a:solidFill>
            <a:srgbClr val="F8F9F7">
              <a:alpha val="20000"/>
            </a:srgbClr>
          </a:solidFill>
          <a:ln w="25400">
            <a:solidFill>
              <a:srgbClr val="B89B7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74706" y="4562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5131" y="18864"/>
                </a:moveTo>
                <a:cubicBezTo>
                  <a:pt x="67642" y="15460"/>
                  <a:pt x="71661" y="13395"/>
                  <a:pt x="75902" y="13395"/>
                </a:cubicBezTo>
                <a:lnTo>
                  <a:pt x="209848" y="13395"/>
                </a:lnTo>
                <a:cubicBezTo>
                  <a:pt x="214089" y="13395"/>
                  <a:pt x="218108" y="15404"/>
                  <a:pt x="220619" y="18864"/>
                </a:cubicBezTo>
                <a:lnTo>
                  <a:pt x="283127" y="103696"/>
                </a:lnTo>
                <a:cubicBezTo>
                  <a:pt x="286922" y="108831"/>
                  <a:pt x="286531" y="115919"/>
                  <a:pt x="282290" y="120662"/>
                </a:cubicBezTo>
                <a:lnTo>
                  <a:pt x="152809" y="263537"/>
                </a:lnTo>
                <a:cubicBezTo>
                  <a:pt x="150298" y="266328"/>
                  <a:pt x="146670" y="267946"/>
                  <a:pt x="142875" y="267946"/>
                </a:cubicBezTo>
                <a:cubicBezTo>
                  <a:pt x="139080" y="267946"/>
                  <a:pt x="135508" y="266328"/>
                  <a:pt x="132941" y="263537"/>
                </a:cubicBezTo>
                <a:lnTo>
                  <a:pt x="3460" y="120662"/>
                </a:lnTo>
                <a:cubicBezTo>
                  <a:pt x="-837" y="115919"/>
                  <a:pt x="-1172" y="108831"/>
                  <a:pt x="2623" y="103696"/>
                </a:cubicBezTo>
                <a:lnTo>
                  <a:pt x="65131" y="18864"/>
                </a:lnTo>
                <a:close/>
                <a:moveTo>
                  <a:pt x="86618" y="41077"/>
                </a:moveTo>
                <a:cubicBezTo>
                  <a:pt x="84776" y="42472"/>
                  <a:pt x="84274" y="44983"/>
                  <a:pt x="85446" y="46937"/>
                </a:cubicBezTo>
                <a:lnTo>
                  <a:pt x="117481" y="100347"/>
                </a:lnTo>
                <a:lnTo>
                  <a:pt x="35328" y="107156"/>
                </a:lnTo>
                <a:cubicBezTo>
                  <a:pt x="33040" y="107324"/>
                  <a:pt x="31254" y="109277"/>
                  <a:pt x="31254" y="111621"/>
                </a:cubicBezTo>
                <a:cubicBezTo>
                  <a:pt x="31254" y="113965"/>
                  <a:pt x="33040" y="115863"/>
                  <a:pt x="35328" y="116086"/>
                </a:cubicBezTo>
                <a:lnTo>
                  <a:pt x="142484" y="125016"/>
                </a:lnTo>
                <a:cubicBezTo>
                  <a:pt x="142708" y="125016"/>
                  <a:pt x="142987" y="125016"/>
                  <a:pt x="143210" y="125016"/>
                </a:cubicBezTo>
                <a:lnTo>
                  <a:pt x="250366" y="116086"/>
                </a:lnTo>
                <a:cubicBezTo>
                  <a:pt x="252654" y="115919"/>
                  <a:pt x="254440" y="113965"/>
                  <a:pt x="254440" y="111621"/>
                </a:cubicBezTo>
                <a:cubicBezTo>
                  <a:pt x="254440" y="109277"/>
                  <a:pt x="252654" y="107379"/>
                  <a:pt x="250366" y="107156"/>
                </a:cubicBezTo>
                <a:lnTo>
                  <a:pt x="168213" y="100292"/>
                </a:lnTo>
                <a:lnTo>
                  <a:pt x="200248" y="46937"/>
                </a:lnTo>
                <a:cubicBezTo>
                  <a:pt x="201420" y="44983"/>
                  <a:pt x="200918" y="42416"/>
                  <a:pt x="199076" y="41077"/>
                </a:cubicBezTo>
                <a:cubicBezTo>
                  <a:pt x="197234" y="39737"/>
                  <a:pt x="194667" y="39960"/>
                  <a:pt x="193104" y="41635"/>
                </a:cubicBezTo>
                <a:lnTo>
                  <a:pt x="142875" y="96106"/>
                </a:lnTo>
                <a:lnTo>
                  <a:pt x="92590" y="41635"/>
                </a:lnTo>
                <a:cubicBezTo>
                  <a:pt x="91027" y="39960"/>
                  <a:pt x="88460" y="39737"/>
                  <a:pt x="86618" y="41077"/>
                </a:cubicBez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6" name="Text 13"/>
          <p:cNvSpPr/>
          <p:nvPr/>
        </p:nvSpPr>
        <p:spPr>
          <a:xfrm>
            <a:off x="6886575" y="52006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9F7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寻宝为趣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799136" y="6048375"/>
            <a:ext cx="1524000" cy="19050"/>
          </a:xfrm>
          <a:custGeom>
            <a:avLst/>
            <a:gdLst/>
            <a:ahLst/>
            <a:cxnLst/>
            <a:rect l="l" t="t" r="r" b="b"/>
            <a:pathLst>
              <a:path w="1524000" h="19050">
                <a:moveTo>
                  <a:pt x="0" y="0"/>
                </a:moveTo>
                <a:lnTo>
                  <a:pt x="1524000" y="0"/>
                </a:lnTo>
                <a:lnTo>
                  <a:pt x="1524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B72"/>
          </a:solidFill>
          <a:ln/>
        </p:spPr>
      </p:sp>
      <p:sp>
        <p:nvSpPr>
          <p:cNvPr id="18" name="Text 15"/>
          <p:cNvSpPr/>
          <p:nvPr/>
        </p:nvSpPr>
        <p:spPr>
          <a:xfrm>
            <a:off x="5580311" y="59245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9F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2026年2月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68864" y="6048375"/>
            <a:ext cx="1524000" cy="19050"/>
          </a:xfrm>
          <a:custGeom>
            <a:avLst/>
            <a:gdLst/>
            <a:ahLst/>
            <a:cxnLst/>
            <a:rect l="l" t="t" r="r" b="b"/>
            <a:pathLst>
              <a:path w="1524000" h="19050">
                <a:moveTo>
                  <a:pt x="0" y="0"/>
                </a:moveTo>
                <a:lnTo>
                  <a:pt x="1524000" y="0"/>
                </a:lnTo>
                <a:lnTo>
                  <a:pt x="1524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89B72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openmaxx竞品研究</dc:title>
  <dc:subject>openmaxx竞品研究</dc:subject>
  <dc:creator>Kimi</dc:creator>
  <cp:lastModifiedBy>Kimi</cp:lastModifiedBy>
  <cp:revision>1</cp:revision>
  <dcterms:created xsi:type="dcterms:W3CDTF">2026-02-03T08:19:20Z</dcterms:created>
  <dcterms:modified xsi:type="dcterms:W3CDTF">2026-02-03T08:19:20Z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{"Label":"openmaxx竞品研究","ContentProducer":"001191110108MACG2KBH8F10000","ProduceID":"19c228e1-ddb2-8239-8000-0000b688a989","ReservedCode1":"","ContentPropagator":"001191110108MACG2KBH8F20000","PropagateID":"19c228e1-ddb2-8239-8000-0000b688a989","ReservedCode2":""}</vt:lpwstr>
  </property>
</Properties>
</file>